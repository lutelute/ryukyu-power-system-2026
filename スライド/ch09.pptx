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Day 3 の初回。第7・8回で「回転体があるから系統は安定する」と学んだ直後に、回転体を持たない電源の話をする。</a:t>
            </a:r>
          </a:p>
          <a:p/>
          <a:p>
            <a:r>
              <a:t>_class: title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「性能」ではなく「制御の設計」で性格が決まる、というのが今日の主題。</a:t>
            </a:r>
          </a:p>
          <a:p/>
          <a:p>
            <a:r>
              <a:t>_class: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右下の +0.7 Hz が結論。ただし「真の慣性ではない」ことを最後に必ず言う。</a:t>
            </a:r>
          </a:p>
          <a:p/>
          <a:p>
            <a:r>
              <a:t>_class: graphical-abstract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同じインバータ電源が、設定次第で事故の引き金にも救い手にもなる。今日はその設計を学ぶ。</a:t>
            </a:r>
          </a:p>
          <a:p/>
          <a:p>
            <a:r>
              <a:t>_class: sections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崩れる点：合唱は「合わせる」だけだが、インバータは電流の大きさと位相を数万分の 1 秒ごとに決めている。その速さが強みでもある。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agenda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divider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実機のスイッチング周波数は数 kHz〜数十 kHz。この図は見やすさのため 1,260 Hz にしている。</a:t>
            </a:r>
          </a:p>
          <a:p/>
          <a:p>
            <a:r>
              <a:t>_class: figure-story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③の数字で「なぜ太陽光の PCS は昇圧トランスを持つか」を説明できる。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前の 1 枚に ② を足しただけ。薄い段はまだ出していない段。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前の 1 枚に ③ を足しただけ。薄い段はまだ出していない段。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過変調は非常時に電圧を絞り出す手段。常用すると 5 次・7 次の高調波が増える。</a:t>
            </a:r>
          </a:p>
          <a:p/>
          <a:p>
            <a:r>
              <a:t>_class: figure-story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連系規程の THD 5% はフィルタ後の系統側の値。この図はフィルタ前なので桁が違う。　図の要点：m_f = 21：21 次付近に大きな山／m_f = 99：99 次付近へ移動／低次（5・7 次）はほとんど出ない／フィルタ前の THD は 100% 前後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共振点を放置すると発振する。受動制動（抵抗）か能動制動（制御）で抑える。</a:t>
            </a:r>
          </a:p>
          <a:p/>
          <a:p>
            <a:r>
              <a:t>_class: figure-story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divider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回転位相は PLL（位相同期回路）が系統電圧から作る。PLL が乱れると制御全体が乱れる。　図の要点：三相は時間とともに変わる／系統の位相に同期して回る座標へ／d 軸（有効分）と q 軸（無効分）が 一定値／直流なので PI 制御で偏差ゼロにできる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GFM の実装は仮想同期発電機（VSG）やドループ制御。同期機の振る舞いを制御で模擬する。　図の要点：GFL は電流源：系統に合わせる／GFM は電圧源：自分で作る／GFL は系統が弱いと不安定になる／GFM はブラックスタートができる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能動的方式は多数台が並ぶと互いに干渉する。大量導入時代の課題の 1 つ。　図の要点：作業員が感電する／電圧・周波数が外れて機器が壊れる／再閉路で位相がずれたまま突き合わせる／だから検出して 止める のが義務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divider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力率 0.95 運転は見かけの電流が 5% 増えるので損失も少し増える。ただではない。　図の要点：電圧が高いときだけ Q を吸う／不感帯を設けて無駄に動かさない／連系可能量 2.5 → 5.5 MW／設備を増やさずに 2.2 倍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真の慣性は「測らずに物理的に出る」。合成慣性は「測ってから出す」。この差が遅れになる。</a:t>
            </a:r>
          </a:p>
          <a:p/>
          <a:p>
            <a:r>
              <a:t>_class: equation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出力は数秒でゼロに戻る。蓄電池の容量（kWh）ではなく出力（kW）が効く用途。　図の要点：合成慣性なし：nadir 56.52 Hz／H_v = 1.5 s：56.98 Hz／H_v = 3.0 s：57.23 Hz（+0.7 Hz）／最大 143 MW を数秒だけ出す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df/dt は微分なのでノイズに弱い。フィルタをかけると遅れ、かけないと誤動作する。ここが実装の難所。</a:t>
            </a:r>
          </a:p>
          <a:p/>
          <a:p>
            <a:r>
              <a:t>_class: figure-story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つ目が今日の落としどころ。制御でできることは多いが、物理的な慣性の代わりにはならない。</a:t>
            </a:r>
          </a:p>
          <a:p/>
          <a:p>
            <a:r>
              <a:t>_class: kpi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学生に 2 と 3 を計算させる。0.612 m Vdc = 0.612 × 0.9 × 600 = 330 V と一気に出す形も示す。</a:t>
            </a:r>
          </a:p>
          <a:p/>
          <a:p>
            <a:r>
              <a:t>_class: steps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figure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blocks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takeaway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end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>
                <a:ea typeface="Hiragino Sans"/>
                <a:cs typeface="Hiragino Sans"/>
              </a:rPr>
              <a:t>Click to edit Master subtitle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ea typeface="Hiragino Sans"/>
                <a:cs typeface="Hiragino Sans"/>
              </a:defRPr>
            </a:lvl1pPr>
          </a:lstStyle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>
                <a:ea typeface="Hiragino Sans"/>
                <a:cs typeface="Hiragino Sans"/>
              </a:defRPr>
            </a:lvl1pPr>
            <a:lvl2pPr>
              <a:defRPr sz="2400">
                <a:ea typeface="Hiragino Sans"/>
                <a:cs typeface="Hiragino Sans"/>
              </a:defRPr>
            </a:lvl2pPr>
            <a:lvl3pPr>
              <a:defRPr sz="2000">
                <a:ea typeface="Hiragino Sans"/>
                <a:cs typeface="Hiragino Sans"/>
              </a:defRPr>
            </a:lvl3pPr>
            <a:lvl4pPr>
              <a:defRPr sz="1800">
                <a:ea typeface="Hiragino Sans"/>
                <a:cs typeface="Hiragino Sans"/>
              </a:defRPr>
            </a:lvl4pPr>
            <a:lvl5pPr>
              <a:defRPr sz="1800">
                <a:ea typeface="Hiragino Sans"/>
                <a:cs typeface="Hiragino Sans"/>
              </a:defRPr>
            </a:lvl5pPr>
            <a:lvl6pPr>
              <a:defRPr sz="1800">
                <a:ea typeface="Hiragino Sans"/>
                <a:cs typeface="Hiragino Sans"/>
              </a:defRPr>
            </a:lvl6pPr>
            <a:lvl7pPr>
              <a:defRPr sz="1800">
                <a:ea typeface="Hiragino Sans"/>
                <a:cs typeface="Hiragino Sans"/>
              </a:defRPr>
            </a:lvl7pPr>
            <a:lvl8pPr>
              <a:defRPr sz="1800">
                <a:ea typeface="Hiragino Sans"/>
                <a:cs typeface="Hiragino Sans"/>
              </a:defRPr>
            </a:lvl8pPr>
            <a:lvl9pPr>
              <a:defRPr sz="18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>
                <a:ea typeface="Hiragino Sans"/>
                <a:cs typeface="Hiragino Sans"/>
              </a:defRPr>
            </a:lvl1pPr>
            <a:lvl2pPr>
              <a:defRPr sz="2400">
                <a:ea typeface="Hiragino Sans"/>
                <a:cs typeface="Hiragino Sans"/>
              </a:defRPr>
            </a:lvl2pPr>
            <a:lvl3pPr>
              <a:defRPr sz="2000">
                <a:ea typeface="Hiragino Sans"/>
                <a:cs typeface="Hiragino Sans"/>
              </a:defRPr>
            </a:lvl3pPr>
            <a:lvl4pPr>
              <a:defRPr sz="1800">
                <a:ea typeface="Hiragino Sans"/>
                <a:cs typeface="Hiragino Sans"/>
              </a:defRPr>
            </a:lvl4pPr>
            <a:lvl5pPr>
              <a:defRPr sz="1800">
                <a:ea typeface="Hiragino Sans"/>
                <a:cs typeface="Hiragino Sans"/>
              </a:defRPr>
            </a:lvl5pPr>
            <a:lvl6pPr>
              <a:defRPr sz="1800">
                <a:ea typeface="Hiragino Sans"/>
                <a:cs typeface="Hiragino Sans"/>
              </a:defRPr>
            </a:lvl6pPr>
            <a:lvl7pPr>
              <a:defRPr sz="1800">
                <a:ea typeface="Hiragino Sans"/>
                <a:cs typeface="Hiragino Sans"/>
              </a:defRPr>
            </a:lvl7pPr>
            <a:lvl8pPr>
              <a:defRPr sz="1800">
                <a:ea typeface="Hiragino Sans"/>
                <a:cs typeface="Hiragino Sans"/>
              </a:defRPr>
            </a:lvl8pPr>
            <a:lvl9pPr>
              <a:defRPr sz="18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ea typeface="Hiragino Sans"/>
                <a:cs typeface="Hiragino Sans"/>
              </a:defRPr>
            </a:lvl1pPr>
          </a:lstStyle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ea typeface="Hiragino Sans"/>
                <a:cs typeface="Hiragino Sans"/>
              </a:defRPr>
            </a:lvl1pPr>
            <a:lvl2pPr marL="457200" indent="0">
              <a:buNone/>
              <a:defRPr sz="2000" b="1">
                <a:ea typeface="Hiragino Sans"/>
                <a:cs typeface="Hiragino Sans"/>
              </a:defRPr>
            </a:lvl2pPr>
            <a:lvl3pPr marL="914400" indent="0">
              <a:buNone/>
              <a:defRPr sz="1800" b="1">
                <a:ea typeface="Hiragino Sans"/>
                <a:cs typeface="Hiragino Sans"/>
              </a:defRPr>
            </a:lvl3pPr>
            <a:lvl4pPr marL="1371600" indent="0">
              <a:buNone/>
              <a:defRPr sz="1600" b="1">
                <a:ea typeface="Hiragino Sans"/>
                <a:cs typeface="Hiragino Sans"/>
              </a:defRPr>
            </a:lvl4pPr>
            <a:lvl5pPr marL="1828800" indent="0">
              <a:buNone/>
              <a:defRPr sz="1600" b="1">
                <a:ea typeface="Hiragino Sans"/>
                <a:cs typeface="Hiragino Sans"/>
              </a:defRPr>
            </a:lvl5pPr>
            <a:lvl6pPr marL="2286000" indent="0">
              <a:buNone/>
              <a:defRPr sz="1600" b="1">
                <a:ea typeface="Hiragino Sans"/>
                <a:cs typeface="Hiragino Sans"/>
              </a:defRPr>
            </a:lvl6pPr>
            <a:lvl7pPr marL="2743200" indent="0">
              <a:buNone/>
              <a:defRPr sz="1600" b="1">
                <a:ea typeface="Hiragino Sans"/>
                <a:cs typeface="Hiragino Sans"/>
              </a:defRPr>
            </a:lvl7pPr>
            <a:lvl8pPr marL="3200400" indent="0">
              <a:buNone/>
              <a:defRPr sz="1600" b="1">
                <a:ea typeface="Hiragino Sans"/>
                <a:cs typeface="Hiragino Sans"/>
              </a:defRPr>
            </a:lvl8pPr>
            <a:lvl9pPr marL="3657600" indent="0">
              <a:buNone/>
              <a:defRPr sz="1600" b="1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ea typeface="Hiragino Sans"/>
                <a:cs typeface="Hiragino Sans"/>
              </a:defRPr>
            </a:lvl1pPr>
            <a:lvl2pPr>
              <a:defRPr sz="2000">
                <a:ea typeface="Hiragino Sans"/>
                <a:cs typeface="Hiragino Sans"/>
              </a:defRPr>
            </a:lvl2pPr>
            <a:lvl3pPr>
              <a:defRPr sz="1800">
                <a:ea typeface="Hiragino Sans"/>
                <a:cs typeface="Hiragino Sans"/>
              </a:defRPr>
            </a:lvl3pPr>
            <a:lvl4pPr>
              <a:defRPr sz="1600">
                <a:ea typeface="Hiragino Sans"/>
                <a:cs typeface="Hiragino Sans"/>
              </a:defRPr>
            </a:lvl4pPr>
            <a:lvl5pPr>
              <a:defRPr sz="1600">
                <a:ea typeface="Hiragino Sans"/>
                <a:cs typeface="Hiragino Sans"/>
              </a:defRPr>
            </a:lvl5pPr>
            <a:lvl6pPr>
              <a:defRPr sz="1600">
                <a:ea typeface="Hiragino Sans"/>
                <a:cs typeface="Hiragino Sans"/>
              </a:defRPr>
            </a:lvl6pPr>
            <a:lvl7pPr>
              <a:defRPr sz="1600">
                <a:ea typeface="Hiragino Sans"/>
                <a:cs typeface="Hiragino Sans"/>
              </a:defRPr>
            </a:lvl7pPr>
            <a:lvl8pPr>
              <a:defRPr sz="1600">
                <a:ea typeface="Hiragino Sans"/>
                <a:cs typeface="Hiragino Sans"/>
              </a:defRPr>
            </a:lvl8pPr>
            <a:lvl9pPr>
              <a:defRPr sz="16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ea typeface="Hiragino Sans"/>
                <a:cs typeface="Hiragino Sans"/>
              </a:defRPr>
            </a:lvl1pPr>
            <a:lvl2pPr marL="457200" indent="0">
              <a:buNone/>
              <a:defRPr sz="2000" b="1">
                <a:ea typeface="Hiragino Sans"/>
                <a:cs typeface="Hiragino Sans"/>
              </a:defRPr>
            </a:lvl2pPr>
            <a:lvl3pPr marL="914400" indent="0">
              <a:buNone/>
              <a:defRPr sz="1800" b="1">
                <a:ea typeface="Hiragino Sans"/>
                <a:cs typeface="Hiragino Sans"/>
              </a:defRPr>
            </a:lvl3pPr>
            <a:lvl4pPr marL="1371600" indent="0">
              <a:buNone/>
              <a:defRPr sz="1600" b="1">
                <a:ea typeface="Hiragino Sans"/>
                <a:cs typeface="Hiragino Sans"/>
              </a:defRPr>
            </a:lvl4pPr>
            <a:lvl5pPr marL="1828800" indent="0">
              <a:buNone/>
              <a:defRPr sz="1600" b="1">
                <a:ea typeface="Hiragino Sans"/>
                <a:cs typeface="Hiragino Sans"/>
              </a:defRPr>
            </a:lvl5pPr>
            <a:lvl6pPr marL="2286000" indent="0">
              <a:buNone/>
              <a:defRPr sz="1600" b="1">
                <a:ea typeface="Hiragino Sans"/>
                <a:cs typeface="Hiragino Sans"/>
              </a:defRPr>
            </a:lvl6pPr>
            <a:lvl7pPr marL="2743200" indent="0">
              <a:buNone/>
              <a:defRPr sz="1600" b="1">
                <a:ea typeface="Hiragino Sans"/>
                <a:cs typeface="Hiragino Sans"/>
              </a:defRPr>
            </a:lvl7pPr>
            <a:lvl8pPr marL="3200400" indent="0">
              <a:buNone/>
              <a:defRPr sz="1600" b="1">
                <a:ea typeface="Hiragino Sans"/>
                <a:cs typeface="Hiragino Sans"/>
              </a:defRPr>
            </a:lvl8pPr>
            <a:lvl9pPr marL="3657600" indent="0">
              <a:buNone/>
              <a:defRPr sz="1600" b="1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ea typeface="Hiragino Sans"/>
                <a:cs typeface="Hiragino Sans"/>
              </a:defRPr>
            </a:lvl1pPr>
            <a:lvl2pPr>
              <a:defRPr sz="2000">
                <a:ea typeface="Hiragino Sans"/>
                <a:cs typeface="Hiragino Sans"/>
              </a:defRPr>
            </a:lvl2pPr>
            <a:lvl3pPr>
              <a:defRPr sz="1800">
                <a:ea typeface="Hiragino Sans"/>
                <a:cs typeface="Hiragino Sans"/>
              </a:defRPr>
            </a:lvl3pPr>
            <a:lvl4pPr>
              <a:defRPr sz="1600">
                <a:ea typeface="Hiragino Sans"/>
                <a:cs typeface="Hiragino Sans"/>
              </a:defRPr>
            </a:lvl4pPr>
            <a:lvl5pPr>
              <a:defRPr sz="1600">
                <a:ea typeface="Hiragino Sans"/>
                <a:cs typeface="Hiragino Sans"/>
              </a:defRPr>
            </a:lvl5pPr>
            <a:lvl6pPr>
              <a:defRPr sz="1600">
                <a:ea typeface="Hiragino Sans"/>
                <a:cs typeface="Hiragino Sans"/>
              </a:defRPr>
            </a:lvl6pPr>
            <a:lvl7pPr>
              <a:defRPr sz="1600">
                <a:ea typeface="Hiragino Sans"/>
                <a:cs typeface="Hiragino Sans"/>
              </a:defRPr>
            </a:lvl7pPr>
            <a:lvl8pPr>
              <a:defRPr sz="1600">
                <a:ea typeface="Hiragino Sans"/>
                <a:cs typeface="Hiragino Sans"/>
              </a:defRPr>
            </a:lvl8pPr>
            <a:lvl9pPr>
              <a:defRPr sz="16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>
                <a:ea typeface="Hiragino Sans"/>
                <a:cs typeface="Hiragino Sans"/>
              </a:defRPr>
            </a:lvl1pPr>
          </a:lstStyle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ea typeface="Hiragino Sans"/>
                <a:cs typeface="Hiragino Sans"/>
              </a:defRPr>
            </a:lvl1pPr>
            <a:lvl2pPr>
              <a:defRPr sz="2800">
                <a:ea typeface="Hiragino Sans"/>
                <a:cs typeface="Hiragino Sans"/>
              </a:defRPr>
            </a:lvl2pPr>
            <a:lvl3pPr>
              <a:defRPr sz="2400">
                <a:ea typeface="Hiragino Sans"/>
                <a:cs typeface="Hiragino Sans"/>
              </a:defRPr>
            </a:lvl3pPr>
            <a:lvl4pPr>
              <a:defRPr sz="2000">
                <a:ea typeface="Hiragino Sans"/>
                <a:cs typeface="Hiragino Sans"/>
              </a:defRPr>
            </a:lvl4pPr>
            <a:lvl5pPr>
              <a:defRPr sz="2000">
                <a:ea typeface="Hiragino Sans"/>
                <a:cs typeface="Hiragino Sans"/>
              </a:defRPr>
            </a:lvl5pPr>
            <a:lvl6pPr>
              <a:defRPr sz="2000">
                <a:ea typeface="Hiragino Sans"/>
                <a:cs typeface="Hiragino Sans"/>
              </a:defRPr>
            </a:lvl6pPr>
            <a:lvl7pPr>
              <a:defRPr sz="2000">
                <a:ea typeface="Hiragino Sans"/>
                <a:cs typeface="Hiragino Sans"/>
              </a:defRPr>
            </a:lvl7pPr>
            <a:lvl8pPr>
              <a:defRPr sz="2000">
                <a:ea typeface="Hiragino Sans"/>
                <a:cs typeface="Hiragino Sans"/>
              </a:defRPr>
            </a:lvl8pPr>
            <a:lvl9pPr>
              <a:defRPr sz="20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ea typeface="Hiragino Sans"/>
                <a:cs typeface="Hiragino Sans"/>
              </a:defRPr>
            </a:lvl1pPr>
            <a:lvl2pPr marL="457200" indent="0">
              <a:buNone/>
              <a:defRPr sz="1200">
                <a:ea typeface="Hiragino Sans"/>
                <a:cs typeface="Hiragino Sans"/>
              </a:defRPr>
            </a:lvl2pPr>
            <a:lvl3pPr marL="914400" indent="0">
              <a:buNone/>
              <a:defRPr sz="1000">
                <a:ea typeface="Hiragino Sans"/>
                <a:cs typeface="Hiragino Sans"/>
              </a:defRPr>
            </a:lvl3pPr>
            <a:lvl4pPr marL="1371600" indent="0">
              <a:buNone/>
              <a:defRPr sz="900">
                <a:ea typeface="Hiragino Sans"/>
                <a:cs typeface="Hiragino Sans"/>
              </a:defRPr>
            </a:lvl4pPr>
            <a:lvl5pPr marL="1828800" indent="0">
              <a:buNone/>
              <a:defRPr sz="900">
                <a:ea typeface="Hiragino Sans"/>
                <a:cs typeface="Hiragino Sans"/>
              </a:defRPr>
            </a:lvl5pPr>
            <a:lvl6pPr marL="2286000" indent="0">
              <a:buNone/>
              <a:defRPr sz="900">
                <a:ea typeface="Hiragino Sans"/>
                <a:cs typeface="Hiragino Sans"/>
              </a:defRPr>
            </a:lvl6pPr>
            <a:lvl7pPr marL="2743200" indent="0">
              <a:buNone/>
              <a:defRPr sz="900">
                <a:ea typeface="Hiragino Sans"/>
                <a:cs typeface="Hiragino Sans"/>
              </a:defRPr>
            </a:lvl7pPr>
            <a:lvl8pPr marL="3200400" indent="0">
              <a:buNone/>
              <a:defRPr sz="900">
                <a:ea typeface="Hiragino Sans"/>
                <a:cs typeface="Hiragino Sans"/>
              </a:defRPr>
            </a:lvl8pPr>
            <a:lvl9pPr marL="3657600" indent="0">
              <a:buNone/>
              <a:defRPr sz="9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ea typeface="Hiragino Sans"/>
                <a:cs typeface="Hiragino Sans"/>
              </a:defRPr>
            </a:lvl1pPr>
          </a:lstStyle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ea typeface="Hiragino Sans"/>
                <a:cs typeface="Hiragino Sans"/>
              </a:defRPr>
            </a:lvl1pPr>
            <a:lvl2pPr marL="457200" indent="0">
              <a:buNone/>
              <a:defRPr sz="2800">
                <a:ea typeface="Hiragino Sans"/>
                <a:cs typeface="Hiragino Sans"/>
              </a:defRPr>
            </a:lvl2pPr>
            <a:lvl3pPr marL="914400" indent="0">
              <a:buNone/>
              <a:defRPr sz="2400">
                <a:ea typeface="Hiragino Sans"/>
                <a:cs typeface="Hiragino Sans"/>
              </a:defRPr>
            </a:lvl3pPr>
            <a:lvl4pPr marL="1371600" indent="0">
              <a:buNone/>
              <a:defRPr sz="2000">
                <a:ea typeface="Hiragino Sans"/>
                <a:cs typeface="Hiragino Sans"/>
              </a:defRPr>
            </a:lvl4pPr>
            <a:lvl5pPr marL="1828800" indent="0">
              <a:buNone/>
              <a:defRPr sz="2000">
                <a:ea typeface="Hiragino Sans"/>
                <a:cs typeface="Hiragino Sans"/>
              </a:defRPr>
            </a:lvl5pPr>
            <a:lvl6pPr marL="2286000" indent="0">
              <a:buNone/>
              <a:defRPr sz="2000">
                <a:ea typeface="Hiragino Sans"/>
                <a:cs typeface="Hiragino Sans"/>
              </a:defRPr>
            </a:lvl6pPr>
            <a:lvl7pPr marL="2743200" indent="0">
              <a:buNone/>
              <a:defRPr sz="2000">
                <a:ea typeface="Hiragino Sans"/>
                <a:cs typeface="Hiragino Sans"/>
              </a:defRPr>
            </a:lvl7pPr>
            <a:lvl8pPr marL="3200400" indent="0">
              <a:buNone/>
              <a:defRPr sz="2000">
                <a:ea typeface="Hiragino Sans"/>
                <a:cs typeface="Hiragino Sans"/>
              </a:defRPr>
            </a:lvl8pPr>
            <a:lvl9pPr marL="3657600" indent="0">
              <a:buNone/>
              <a:defRPr sz="2000">
                <a:ea typeface="Hiragino Sans"/>
                <a:cs typeface="Hiragino Sans"/>
              </a:defRPr>
            </a:lvl9pPr>
          </a:lstStyle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ea typeface="Hiragino Sans"/>
                <a:cs typeface="Hiragino Sans"/>
              </a:defRPr>
            </a:lvl1pPr>
            <a:lvl2pPr marL="457200" indent="0">
              <a:buNone/>
              <a:defRPr sz="1200">
                <a:ea typeface="Hiragino Sans"/>
                <a:cs typeface="Hiragino Sans"/>
              </a:defRPr>
            </a:lvl2pPr>
            <a:lvl3pPr marL="914400" indent="0">
              <a:buNone/>
              <a:defRPr sz="1000">
                <a:ea typeface="Hiragino Sans"/>
                <a:cs typeface="Hiragino Sans"/>
              </a:defRPr>
            </a:lvl3pPr>
            <a:lvl4pPr marL="1371600" indent="0">
              <a:buNone/>
              <a:defRPr sz="900">
                <a:ea typeface="Hiragino Sans"/>
                <a:cs typeface="Hiragino Sans"/>
              </a:defRPr>
            </a:lvl4pPr>
            <a:lvl5pPr marL="1828800" indent="0">
              <a:buNone/>
              <a:defRPr sz="900">
                <a:ea typeface="Hiragino Sans"/>
                <a:cs typeface="Hiragino Sans"/>
              </a:defRPr>
            </a:lvl5pPr>
            <a:lvl6pPr marL="2286000" indent="0">
              <a:buNone/>
              <a:defRPr sz="900">
                <a:ea typeface="Hiragino Sans"/>
                <a:cs typeface="Hiragino Sans"/>
              </a:defRPr>
            </a:lvl6pPr>
            <a:lvl7pPr marL="2743200" indent="0">
              <a:buNone/>
              <a:defRPr sz="900">
                <a:ea typeface="Hiragino Sans"/>
                <a:cs typeface="Hiragino Sans"/>
              </a:defRPr>
            </a:lvl7pPr>
            <a:lvl8pPr marL="3200400" indent="0">
              <a:buNone/>
              <a:defRPr sz="900">
                <a:ea typeface="Hiragino Sans"/>
                <a:cs typeface="Hiragino Sans"/>
              </a:defRPr>
            </a:lvl8pPr>
            <a:lvl9pPr marL="3657600" indent="0">
              <a:buNone/>
              <a:defRPr sz="9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Hiragino Sans"/>
          <a:cs typeface="Hiragino San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Hiragino Sans"/>
          <a:cs typeface="Hiragino San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Hiragino Sans"/>
          <a:cs typeface="Hiragino San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Hiragino Sans"/>
          <a:cs typeface="Hiragino San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9pPr>
    </p:bodyStyle>
    <p:otherStyle>
      <a:defPPr>
        <a:defRPr lang="en-US">
          <a:ea typeface="Hiragino Sans"/>
          <a:cs typeface="Hiragino Sans"/>
        </a:defRPr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slide" Target="slide7.xml"/><Relationship Id="rId4" Type="http://schemas.openxmlformats.org/officeDocument/2006/relationships/slide" Target="slide15.xml"/><Relationship Id="rId5" Type="http://schemas.openxmlformats.org/officeDocument/2006/relationships/slide" Target="slide1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C33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31720"/>
            <a:ext cx="10362895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回らない電源が、系統を支えられるか</a:t>
            </a:r>
          </a:p>
        </p:txBody>
      </p:sp>
      <p:sp>
        <p:nvSpPr>
          <p:cNvPr id="3" name="Rectangle 2"/>
          <p:cNvSpPr/>
          <p:nvPr/>
        </p:nvSpPr>
        <p:spPr>
          <a:xfrm>
            <a:off x="5592927" y="2889504"/>
            <a:ext cx="1005840" cy="2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054096"/>
            <a:ext cx="10728655" cy="18173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6000"/>
              </a:lnSpc>
              <a:defRPr sz="54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第9回 インバータと系統連系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100066"/>
            <a:ext cx="9997135" cy="8686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800">
                <a:solidFill>
                  <a:srgbClr val="EBE0DF"/>
                </a:solidFill>
                <a:latin typeface="Avenir Next"/>
                <a:ea typeface="Hiragino Sans"/>
                <a:cs typeface="Hiragino Sans"/>
              </a:rPr>
              <a:t>重信颯人（福井大学）／ Day 3・コマ 9 ／ 教科書 第8章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38647" y="2330958"/>
            <a:ext cx="914400" cy="3175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586990"/>
            <a:ext cx="9997135" cy="17754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rPr>
              <a:t>インバータはスイッチで正弦波を作る電源。回転体がないので慣性はゼロだが、制御の設計次第で電圧と周波数を支える側に回れる。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 / 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この回の全体像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88720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一枚で｜問い → 課題 → 道具 → 到達点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29232"/>
            <a:ext cx="11057839" cy="1128458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4728" y="1907032"/>
            <a:ext cx="10702239" cy="31089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200" b="1">
                <a:solidFill>
                  <a:srgbClr val="964136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問い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4728" y="2268728"/>
            <a:ext cx="10702239" cy="4111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太陽光や風力は回転体を持たない。</a:t>
            </a:r>
            <a:r>
              <a:rPr sz="15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慣性ゼロ</a:t>
            </a: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の電源が増えても系統は保てるのか。何が肩代わりするのか。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022282"/>
            <a:ext cx="3082442" cy="2613724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4728" y="3200082"/>
            <a:ext cx="2726842" cy="31089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200" b="1">
                <a:solidFill>
                  <a:srgbClr val="964136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課題</a:t>
            </a:r>
          </a:p>
        </p:txBody>
      </p:sp>
      <p:pic>
        <p:nvPicPr>
          <p:cNvPr id="9" name="Picture 8" descr="ch09_pw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648" y="3561778"/>
            <a:ext cx="2095002" cy="112490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4728" y="4762881"/>
            <a:ext cx="2726842" cy="695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スイッチの ON/OFF で正弦波を「作る」。</a:t>
            </a:r>
          </a:p>
        </p:txBody>
      </p:sp>
      <p:sp>
        <p:nvSpPr>
          <p:cNvPr id="11" name="Chevron 10"/>
          <p:cNvSpPr/>
          <p:nvPr/>
        </p:nvSpPr>
        <p:spPr>
          <a:xfrm>
            <a:off x="3850538" y="4125944"/>
            <a:ext cx="502920" cy="406400"/>
          </a:xfrm>
          <a:prstGeom prst="chevron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54626" y="3022282"/>
            <a:ext cx="3082442" cy="2613724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19050">
            <a:solidFill>
              <a:srgbClr val="B85042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32426" y="3200082"/>
            <a:ext cx="2726842" cy="31089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200" b="1">
                <a:solidFill>
                  <a:srgbClr val="964136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道具</a:t>
            </a:r>
          </a:p>
        </p:txBody>
      </p:sp>
      <p:pic>
        <p:nvPicPr>
          <p:cNvPr id="14" name="Picture 13" descr="ch09_synthetic_inert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681" y="3561778"/>
            <a:ext cx="2538332" cy="97726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732426" y="4615244"/>
            <a:ext cx="2726842" cy="4114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125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PWM ▶ dq 制御 ▶ 合成慣性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2426" y="5072444"/>
            <a:ext cx="2726842" cy="3857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制御で慣性を </a:t>
            </a:r>
            <a:r>
              <a:rPr sz="1500">
                <a:solidFill>
                  <a:srgbClr val="33221E"/>
                </a:solidFill>
                <a:highlight>
                  <a:srgbClr val="EBCECA"/>
                </a:highlight>
                <a:latin typeface="Avenir Next"/>
                <a:ea typeface="Hiragino Sans"/>
                <a:cs typeface="Hiragino Sans"/>
              </a:rPr>
              <a:t>模擬</a:t>
            </a: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 する。</a:t>
            </a:r>
          </a:p>
        </p:txBody>
      </p:sp>
      <p:sp>
        <p:nvSpPr>
          <p:cNvPr id="17" name="Chevron 16"/>
          <p:cNvSpPr/>
          <p:nvPr/>
        </p:nvSpPr>
        <p:spPr>
          <a:xfrm>
            <a:off x="7838236" y="4125944"/>
            <a:ext cx="502920" cy="406400"/>
          </a:xfrm>
          <a:prstGeom prst="chevron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542324" y="3022282"/>
            <a:ext cx="3082442" cy="2613724"/>
          </a:xfrm>
          <a:prstGeom prst="roundRect">
            <a:avLst>
              <a:gd name="adj" fmla="val 3500"/>
            </a:avLst>
          </a:prstGeom>
          <a:solidFill>
            <a:srgbClr val="7C3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20124" y="3200082"/>
            <a:ext cx="2726842" cy="31089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到達点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20124" y="3561778"/>
            <a:ext cx="2726842" cy="80327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defRPr sz="5059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+0.7 Hz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20124" y="4365052"/>
            <a:ext cx="2726842" cy="109315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EBE0DF"/>
                </a:solidFill>
                <a:latin typeface="Avenir Next"/>
                <a:ea typeface="Hiragino Sans"/>
                <a:cs typeface="Hiragino Sans"/>
              </a:rPr>
              <a:t>合成慣性で最低点が 56.52 → 57.23 Hz に改善する。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745734"/>
            <a:ext cx="11057839" cy="42646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数値はすべて本資料の Python コード（コード/fig_ch09.py）で計算。Vdc = 600 V、沖縄 1,500 MW・H = 2.0 s・250 MW 脱落。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3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現場で起きたこと — 弱さと強さ、どちらも実系統で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2578735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2016年9月 南オーストラリア州 全域停電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70835"/>
            <a:ext cx="10801807" cy="695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暴風で送電塔が倒れ、電圧低下が短時間に何度も起きた。風力発電の保護設定（電圧低下に耐える回数の上限）で出力が </a:t>
            </a:r>
            <a:r>
              <a:rPr sz="1500">
                <a:solidFill>
                  <a:srgbClr val="33221E"/>
                </a:solidFill>
                <a:highlight>
                  <a:srgbClr val="EBCECA"/>
                </a:highlight>
                <a:latin typeface="Avenir Next"/>
                <a:ea typeface="Hiragino Sans"/>
                <a:cs typeface="Hiragino Sans"/>
              </a:rPr>
              <a:t>急減</a:t>
            </a: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 し、州外との連系線が過負荷で遮断。州全体がブラックアウトした。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3718052"/>
            <a:ext cx="11057839" cy="9525"/>
          </a:xfrm>
          <a:prstGeom prst="rect">
            <a:avLst/>
          </a:prstGeom>
          <a:solidFill>
            <a:srgbClr val="E5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895344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2017年 同じ州に置かれた大型蓄電池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87444"/>
            <a:ext cx="10801807" cy="695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約 100 MW の蓄電池が周波数調整の市場に参加し、周波数の落ち込みに 0.1 秒台で応答した。慣性を持たない電源でも、制御が速ければ周波数を支えられることを実系統で示した。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4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たとえ話 — 合唱の「合わせ手」と「指揮者」</a:t>
            </a:r>
          </a:p>
        </p:txBody>
      </p:sp>
      <p:pic>
        <p:nvPicPr>
          <p:cNvPr id="3" name="Picture 2" descr="ch09_ana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16" y="713232"/>
            <a:ext cx="11176863" cy="5322316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090412"/>
            <a:ext cx="11734495" cy="520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この 5 行は今日の全体を先取りしている。GFL・単独運転検出・GFM・ドループ・合成慣性が、あとで順番に出てくる。　出典｜コード/fig_ch09.py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5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この回の地図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627632"/>
            <a:ext cx="822960" cy="10515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defRPr sz="2600" b="1">
                <a:solidFill>
                  <a:srgbClr val="B85042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01</a:t>
            </a:r>
          </a:p>
        </p:txBody>
      </p:sp>
      <p:sp>
        <p:nvSpPr>
          <p:cNvPr id="4" name="agenda:item:0"/>
          <p:cNvSpPr txBox="1"/>
          <p:nvPr/>
        </p:nvSpPr>
        <p:spPr>
          <a:xfrm>
            <a:off x="1572768" y="1627632"/>
            <a:ext cx="10051999" cy="1051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defRPr sz="2400">
                <a:solidFill>
                  <a:srgbClr val="33221E"/>
                </a:solidFill>
                <a:latin typeface="Avenir Next"/>
                <a:ea typeface="Hiragino Sans"/>
                <a:cs typeface="Hiragino Sans"/>
              </a:defRPr>
            </a:pPr>
            <a:r>
              <a:rPr u="none">
                <a:ea typeface="Hiragino Sans"/>
                <a:cs typeface="Hiragino Sans"/>
                <a:hlinkClick r:id="rId3" action="ppaction://hlinksldjump"/>
              </a:rPr>
              <a:t>PWM — スイッチのオン・オフで正弦波を作る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666492"/>
            <a:ext cx="11057839" cy="9525"/>
          </a:xfrm>
          <a:prstGeom prst="rect">
            <a:avLst/>
          </a:prstGeom>
          <a:solidFill>
            <a:srgbClr val="DFD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2679192"/>
            <a:ext cx="822960" cy="10515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defRPr sz="2600" b="1">
                <a:solidFill>
                  <a:srgbClr val="B85042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02</a:t>
            </a:r>
          </a:p>
        </p:txBody>
      </p:sp>
      <p:sp>
        <p:nvSpPr>
          <p:cNvPr id="7" name="agenda:item:1"/>
          <p:cNvSpPr txBox="1"/>
          <p:nvPr/>
        </p:nvSpPr>
        <p:spPr>
          <a:xfrm>
            <a:off x="1572768" y="2679192"/>
            <a:ext cx="10051999" cy="1051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defRPr sz="2400">
                <a:solidFill>
                  <a:srgbClr val="33221E"/>
                </a:solidFill>
                <a:latin typeface="Avenir Next"/>
                <a:ea typeface="Hiragino Sans"/>
                <a:cs typeface="Hiragino Sans"/>
              </a:defRPr>
            </a:pPr>
            <a:r>
              <a:rPr u="none">
                <a:ea typeface="Hiragino Sans"/>
                <a:cs typeface="Hiragino Sans"/>
                <a:hlinkClick r:id="rId4" action="ppaction://hlinksldjump"/>
              </a:rPr>
              <a:t>dq 変換と制御 — 交流を直流にして PI で扱う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3718052"/>
            <a:ext cx="11057839" cy="9525"/>
          </a:xfrm>
          <a:prstGeom prst="rect">
            <a:avLst/>
          </a:prstGeom>
          <a:solidFill>
            <a:srgbClr val="DFD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730752"/>
            <a:ext cx="822960" cy="10515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defRPr sz="2600" b="1">
                <a:solidFill>
                  <a:srgbClr val="B85042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03</a:t>
            </a:r>
          </a:p>
        </p:txBody>
      </p:sp>
      <p:sp>
        <p:nvSpPr>
          <p:cNvPr id="10" name="agenda:item:2"/>
          <p:cNvSpPr txBox="1"/>
          <p:nvPr/>
        </p:nvSpPr>
        <p:spPr>
          <a:xfrm>
            <a:off x="1572768" y="3730752"/>
            <a:ext cx="10051999" cy="1051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defRPr sz="2400">
                <a:solidFill>
                  <a:srgbClr val="33221E"/>
                </a:solidFill>
                <a:latin typeface="Avenir Next"/>
                <a:ea typeface="Hiragino Sans"/>
                <a:cs typeface="Hiragino Sans"/>
              </a:defRPr>
            </a:pPr>
            <a:r>
              <a:rPr u="none">
                <a:ea typeface="Hiragino Sans"/>
                <a:cs typeface="Hiragino Sans"/>
                <a:hlinkClick r:id="rId5" action="ppaction://hlinksldjump"/>
              </a:rPr>
              <a:t>フォロイングとフォーミング、単独運転検出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4769612"/>
            <a:ext cx="11057839" cy="9525"/>
          </a:xfrm>
          <a:prstGeom prst="rect">
            <a:avLst/>
          </a:prstGeom>
          <a:solidFill>
            <a:srgbClr val="DFD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4782312"/>
            <a:ext cx="822960" cy="10515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defRPr sz="2600" b="1">
                <a:solidFill>
                  <a:srgbClr val="B85042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04</a:t>
            </a:r>
          </a:p>
        </p:txBody>
      </p:sp>
      <p:sp>
        <p:nvSpPr>
          <p:cNvPr id="13" name="agenda:item:3"/>
          <p:cNvSpPr txBox="1"/>
          <p:nvPr/>
        </p:nvSpPr>
        <p:spPr>
          <a:xfrm>
            <a:off x="1572768" y="4782312"/>
            <a:ext cx="10051999" cy="1051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defRPr sz="2400">
                <a:solidFill>
                  <a:srgbClr val="33221E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第6回・第8回への答え — Volt-Var 制御と合成慣性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:ghost-number"/>
          <p:cNvSpPr txBox="1"/>
          <p:nvPr/>
        </p:nvSpPr>
        <p:spPr>
          <a:xfrm>
            <a:off x="777240" y="777240"/>
            <a:ext cx="4572000" cy="2381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5000" b="1">
                <a:solidFill>
                  <a:srgbClr val="EFE6E5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62895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defRPr sz="1200" b="1">
                <a:solidFill>
                  <a:srgbClr val="A03A2E"/>
                </a:solidFill>
                <a:latin typeface="Avenir Next"/>
                <a:ea typeface="Hiragino Sans"/>
                <a:cs typeface="Hiragino Sans"/>
              </a:defRPr>
            </a:pPr>
            <a:r>
              <a:rPr spc="200">
                <a:ea typeface="Hiragino Sans"/>
                <a:cs typeface="Hiragino Sans"/>
              </a:rP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84448"/>
            <a:ext cx="10362895" cy="5721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6000"/>
              </a:lnSpc>
              <a:defRPr sz="3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Ⅰ. 正弦波を「作る」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5775807" y="4321175"/>
            <a:ext cx="640080" cy="3175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531487"/>
            <a:ext cx="10362895" cy="3619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defRPr sz="18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パルスの幅で電圧を表す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PWM — 変調波と搬送波を比べるだけ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88720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読み方｜上が比較、下が出力。矩形波の平均が正弦波になる</a:t>
            </a:r>
          </a:p>
        </p:txBody>
      </p:sp>
      <p:pic>
        <p:nvPicPr>
          <p:cNvPr id="4" name="Picture 3" descr="ch09_pw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83512"/>
            <a:ext cx="5907160" cy="31718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4910201"/>
            <a:ext cx="5907160" cy="3716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出典｜コード/fig_ch09.py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136" y="2312225"/>
            <a:ext cx="4766631" cy="2286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変調波（60 Hz）が搬送波より上なら ON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出力は ±Vdc/2 の矩形しかない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その平均が </a:t>
            </a:r>
            <a:r>
              <a:rPr sz="20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m·Vdc/2 = 270 V</a:t>
            </a: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 の正弦波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幅で電圧の大小を表している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482971"/>
            <a:ext cx="11057839" cy="625221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5482971"/>
            <a:ext cx="11057839" cy="381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5609971"/>
            <a:ext cx="10600639" cy="37122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インバータは正弦波を「増幅」しているのではない。矩形の幅を変えて、平均として正弦波を作っている。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8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導出 — 基本波の大きさはどう決まるか</a:t>
            </a:r>
          </a:p>
        </p:txBody>
      </p:sp>
      <p:pic>
        <p:nvPicPr>
          <p:cNvPr id="3" name="Picture 2" descr="ch09_deriv_pwm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110" y="713232"/>
            <a:ext cx="10667474" cy="5322316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090412"/>
            <a:ext cx="11734495" cy="520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搬送波が三角波なら、ON になる時間の割合は変調波の値に線形に比例する。だから 1 周期の平均電圧は変調波の形をそのままなぞる。　出典｜コード/fig_ch09.py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9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導出 — 基本波の大きさはどう決まるか</a:t>
            </a:r>
          </a:p>
        </p:txBody>
      </p:sp>
      <p:pic>
        <p:nvPicPr>
          <p:cNvPr id="3" name="Picture 2" descr="ch09_deriv_pwm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856" y="713232"/>
            <a:ext cx="11087983" cy="5532120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300216"/>
            <a:ext cx="11734495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出力の振れ幅が ±Vdc/2 で、変調率 m がその何割まで使うかを決める。m ≤ 1 が 線形領域。　出典｜コード/fig_ch09.py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10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導出 — 基本波の大きさはどう決まるか</a:t>
            </a:r>
          </a:p>
        </p:txBody>
      </p:sp>
      <p:pic>
        <p:nvPicPr>
          <p:cNvPr id="3" name="Picture 2" descr="ch09_deriv_pwm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856" y="713232"/>
            <a:ext cx="11087983" cy="5532120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300216"/>
            <a:ext cx="11734495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V_LL = (√3/√2)·m·Vdc/2 ≈ 0.612 m Vdc。600 V・m = 0.9 なら 328 V で、400 V 系統には少し足りない。　出典｜コード/fig_ch09.py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11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変調率と出力電圧 — m ≤ 1 では比例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88720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読み方｜実測（DFT で取り出した基本波）と理論式が線形領域で一致する</a:t>
            </a:r>
          </a:p>
        </p:txBody>
      </p:sp>
      <p:pic>
        <p:nvPicPr>
          <p:cNvPr id="4" name="Picture 3" descr="ch09_mod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83512"/>
            <a:ext cx="5472785" cy="31718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4910201"/>
            <a:ext cx="5472785" cy="3716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出典｜コード/fig_ch09.py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23761" y="2629725"/>
            <a:ext cx="5201006" cy="165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m = 0.9 → 相電圧の振幅 </a:t>
            </a:r>
            <a:r>
              <a:rPr sz="20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268 V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線間実効値 </a:t>
            </a:r>
            <a:r>
              <a:rPr sz="20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328 V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m &gt; 1 は過変調（低次高調波が出る）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理論 m·Vdc/2 と実測がぴったり重なる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482971"/>
            <a:ext cx="11057839" cy="625221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5482971"/>
            <a:ext cx="11057839" cy="381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5609971"/>
            <a:ext cx="10600639" cy="37122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直流電圧が足りなければ、m を上げても限界がある。だから系統電圧に対して十分な Vdc を確保する。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高調波はどこに出るか</a:t>
            </a:r>
          </a:p>
        </p:txBody>
      </p:sp>
      <p:pic>
        <p:nvPicPr>
          <p:cNvPr id="3" name="Picture 2" descr="ch09_spectr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70937"/>
            <a:ext cx="11734495" cy="4406905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090412"/>
            <a:ext cx="11734495" cy="520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m_f を上げても高調波の総量は大きくは減らない。消えるのではなく、フィルタで落としやすい高い周波数へ移るだけである。　出典｜コード/fig_ch09.py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13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LCL フィルタ — 高い周波数を急峻に落とす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88720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読み方｜両対数。L 単体より傾きが急で、同じ減衰を小さな部品で得られる</a:t>
            </a:r>
          </a:p>
        </p:txBody>
      </p:sp>
      <p:pic>
        <p:nvPicPr>
          <p:cNvPr id="4" name="Picture 3" descr="ch09_l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83512"/>
            <a:ext cx="5722231" cy="31718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4910201"/>
            <a:ext cx="5722231" cy="3716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出典｜コード/fig_ch09.py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3207" y="2470975"/>
            <a:ext cx="4951560" cy="1968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基本波 60 Hz はそのまま通す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スイッチング成分を大きく減衰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L 単体は −20 dB/dec、LCL は −60 dB/dec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共振 </a:t>
            </a:r>
            <a:r>
              <a:rPr sz="20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約 2.0 kHz</a:t>
            </a: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 には制動が要る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482971"/>
            <a:ext cx="11057839" cy="625221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5482971"/>
            <a:ext cx="11057839" cy="381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5609971"/>
            <a:ext cx="10600639" cy="37122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m_f を上げるほど小さなフィルタで済むが、スイッチング損失が増える。ここが設計のトレードオフ。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14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:ghost-number"/>
          <p:cNvSpPr txBox="1"/>
          <p:nvPr/>
        </p:nvSpPr>
        <p:spPr>
          <a:xfrm>
            <a:off x="777240" y="777240"/>
            <a:ext cx="4572000" cy="2381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5000" b="1">
                <a:solidFill>
                  <a:srgbClr val="EFE6E5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62895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defRPr sz="1200" b="1">
                <a:solidFill>
                  <a:srgbClr val="A03A2E"/>
                </a:solidFill>
                <a:latin typeface="Avenir Next"/>
                <a:ea typeface="Hiragino Sans"/>
                <a:cs typeface="Hiragino Sans"/>
              </a:defRPr>
            </a:pPr>
            <a:r>
              <a:rPr spc="200">
                <a:ea typeface="Hiragino Sans"/>
                <a:cs typeface="Hiragino Sans"/>
              </a:rP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84448"/>
            <a:ext cx="10362895" cy="5721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6000"/>
              </a:lnSpc>
              <a:defRPr sz="3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Ⅱ. どう制御するか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5775807" y="4321175"/>
            <a:ext cx="640080" cy="3175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531487"/>
            <a:ext cx="10362895" cy="3619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defRPr sz="18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交流を直流に直してから決める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dq 変換 — 回る座標に乗ると直流になる</a:t>
            </a:r>
          </a:p>
        </p:txBody>
      </p:sp>
      <p:pic>
        <p:nvPicPr>
          <p:cNvPr id="3" name="Picture 2" descr="ch09_d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99628"/>
            <a:ext cx="11734495" cy="4349524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090412"/>
            <a:ext cx="11734495" cy="520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d 軸と q 軸に分けることで、有効電力 P と無効電力 Q を独立に指令できる。P と Q を分けて制御できるのは、この座標変換のおかげである。　出典｜コード/fig_ch09.py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16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2 つの性格 — フォロイングとフォーミング</a:t>
            </a:r>
          </a:p>
        </p:txBody>
      </p:sp>
      <p:pic>
        <p:nvPicPr>
          <p:cNvPr id="3" name="Picture 2" descr="ch09_gfl_gf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920" y="713232"/>
            <a:ext cx="11617855" cy="5322316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090412"/>
            <a:ext cx="11734495" cy="520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同じハードウェアでも、制御の設計次第で電源の性格が変わる。沖縄のように小さな系統ほど、「支えてもらう」GFL から「支える」GFM への転換の価値は大きい。　出典｜コード/fig_ch09.py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単独運転はなぜ危険か</a:t>
            </a:r>
          </a:p>
        </p:txBody>
      </p:sp>
      <p:pic>
        <p:nvPicPr>
          <p:cNvPr id="3" name="Picture 2" descr="ch09_is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907"/>
            <a:ext cx="11734495" cy="4762769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300216"/>
            <a:ext cx="11734495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検出方式には、電圧・周波数の変化を見る受動的方式と、わざと乱して反応を見る能動的方式の 2 系統がある。　出典｜コード/fig_ch09.py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18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:ghost-number"/>
          <p:cNvSpPr txBox="1"/>
          <p:nvPr/>
        </p:nvSpPr>
        <p:spPr>
          <a:xfrm>
            <a:off x="777240" y="777240"/>
            <a:ext cx="4572000" cy="2381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5000" b="1">
                <a:solidFill>
                  <a:srgbClr val="EFE6E5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62895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defRPr sz="1200" b="1">
                <a:solidFill>
                  <a:srgbClr val="A03A2E"/>
                </a:solidFill>
                <a:latin typeface="Avenir Next"/>
                <a:ea typeface="Hiragino Sans"/>
                <a:cs typeface="Hiragino Sans"/>
              </a:defRPr>
            </a:pPr>
            <a:r>
              <a:rPr spc="200">
                <a:ea typeface="Hiragino Sans"/>
                <a:cs typeface="Hiragino Sans"/>
              </a:rP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84448"/>
            <a:ext cx="10362895" cy="5721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6000"/>
              </a:lnSpc>
              <a:defRPr sz="3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Ⅲ. 系統を支える側に回る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5775807" y="4321175"/>
            <a:ext cx="640080" cy="3175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531487"/>
            <a:ext cx="10362895" cy="3619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defRPr sz="18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第6回と第8回への答え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19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Volt-Var 制御 — 第6回の電圧問題への答え</a:t>
            </a:r>
          </a:p>
        </p:txBody>
      </p:sp>
      <p:pic>
        <p:nvPicPr>
          <p:cNvPr id="3" name="Picture 2" descr="ch09_voltv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22124"/>
            <a:ext cx="11734495" cy="4504531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090412"/>
            <a:ext cx="11734495" cy="520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同じ太陽光が、電圧が高いときだけ無効電力を吸う調相設備にもなる。第6回で「Q は遠くへ運べない」と学んだ問題に、現地で答える形である。　出典｜コード/fig_ch09.py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合成慣性 — 第8回の周波数問題への答え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900428"/>
            <a:ext cx="11057839" cy="121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4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/>
            </a:r>
            <a14:m xmlns:a14="http://schemas.microsoft.com/office/drawing/2010/main" xmlns:mc="http://schemas.openxmlformats.org/markup-compatibility/2006">
              <m:oMathPara xmlns:m="http://schemas.openxmlformats.org/officeDocument/2006/math">
                <m:oMathParaPr>
                  <m:jc m:val="center"/>
                </m:oMathParaPr>
                <m:oMath>
                  <m:r>
                    <m:rPr>
                      <m:sty m:val="p"/>
                    </m:rPr>
                    <ns0:rPr xmlns:ns0="http://schemas.openxmlformats.org/wordprocessingml/2006/main">
                      <ns0:sz ns0:val="80"/>
                      <ns0:szCs ns0:val="80"/>
                    </ns0:rPr>
                    <m:t>Δ</m:t>
                  </m:r>
                  <m:sSub>
                    <m:e>
                      <m:r>
                        <ns0:rPr xmlns:ns0="http://schemas.openxmlformats.org/wordprocessingml/2006/main">
                          <ns0:sz ns0:val="80"/>
                          <ns0:szCs ns0:val="80"/>
                        </ns0:rPr>
                        <m:t>P</m:t>
                      </m:r>
                    </m:e>
                    <m:sub>
                      <m:r>
                        <m:rPr>
                          <m:nor/>
                          <m:sty m:val="p"/>
                        </m:rPr>
                        <ns0:rPr xmlns:ns0="http://schemas.openxmlformats.org/wordprocessingml/2006/main">
                          <ns0:sz ns0:val="80"/>
                          <ns0:szCs ns0:val="80"/>
                        </ns0:rPr>
                        <m:t>inv</m:t>
                      </m:r>
                    </m:sub>
                  </m:sSub>
                  <m:r>
                    <m:rPr>
                      <m:sty m:val="p"/>
                    </m:rPr>
                    <ns0:rPr xmlns:ns0="http://schemas.openxmlformats.org/wordprocessingml/2006/main">
                      <ns0:sz ns0:val="80"/>
                      <ns0:szCs ns0:val="80"/>
                    </ns0:rPr>
                    <m:t>=</m:t>
                  </m:r>
                  <m:r>
                    <m:rPr>
                      <m:sty m:val="p"/>
                    </m:rPr>
                    <ns0:rPr xmlns:ns0="http://schemas.openxmlformats.org/wordprocessingml/2006/main">
                      <ns0:sz ns0:val="80"/>
                      <ns0:szCs ns0:val="80"/>
                    </ns0:rPr>
                    <m:t>−</m:t>
                  </m:r>
                  <m:f>
                    <m:fPr>
                      <m:type m:val="bar"/>
                    </m:fPr>
                    <m:num>
                      <m:r>
                        <ns0:rPr xmlns:ns0="http://schemas.openxmlformats.org/wordprocessingml/2006/main">
                          <ns0:sz ns0:val="80"/>
                          <ns0:szCs ns0:val="80"/>
                        </ns0:rPr>
                        <m:t>2</m:t>
                      </m:r>
                      <m:sSub>
                        <m:e>
                          <m:r>
                            <ns0:rPr xmlns:ns0="http://schemas.openxmlformats.org/wordprocessingml/2006/main">
                              <ns0:sz ns0:val="80"/>
                              <ns0:szCs ns0:val="80"/>
                            </ns0:rPr>
                            <m:t>H</m:t>
                          </m:r>
                        </m:e>
                        <m:sub>
                          <m:r>
                            <ns0:rPr xmlns:ns0="http://schemas.openxmlformats.org/wordprocessingml/2006/main">
                              <ns0:sz ns0:val="80"/>
                              <ns0:szCs ns0:val="80"/>
                            </ns0:rPr>
                            <m:t>v</m:t>
                          </m:r>
                        </m:sub>
                      </m:sSub>
                      <m:r>
                        <ns0:rPr xmlns:ns0="http://schemas.openxmlformats.org/wordprocessingml/2006/main">
                          <ns0:sz ns0:val="80"/>
                          <ns0:szCs ns0:val="80"/>
                        </ns0:rPr>
                        <m:t>S</m:t>
                      </m:r>
                    </m:num>
                    <m:den>
                      <m:sSub>
                        <m:e>
                          <m:r>
                            <ns0:rPr xmlns:ns0="http://schemas.openxmlformats.org/wordprocessingml/2006/main">
                              <ns0:sz ns0:val="80"/>
                              <ns0:szCs ns0:val="80"/>
                            </ns0:rPr>
                            <m:t>f</m:t>
                          </m:r>
                        </m:e>
                        <m:sub>
                          <m:r>
                            <ns0:rPr xmlns:ns0="http://schemas.openxmlformats.org/wordprocessingml/2006/main">
                              <ns0:sz ns0:val="80"/>
                              <ns0:szCs ns0:val="80"/>
                            </ns0:rPr>
                            <m:t>0</m:t>
                          </m:r>
                        </m:sub>
                      </m:sSub>
                    </m:den>
                  </m:f>
                  <m:r>
                    <ns0:rPr xmlns:ns0="http://schemas.openxmlformats.org/wordprocessingml/2006/main">
                      <ns0:sz ns0:val="80"/>
                      <ns0:szCs ns0:val="80"/>
                    </ns0:rPr>
                    <m:t> </m:t>
                  </m:r>
                  <m:f>
                    <m:fPr>
                      <m:type m:val="bar"/>
                    </m:fPr>
                    <m:num>
                      <m:r>
                        <ns0:rPr xmlns:ns0="http://schemas.openxmlformats.org/wordprocessingml/2006/main">
                          <ns0:sz ns0:val="80"/>
                          <ns0:szCs ns0:val="80"/>
                        </ns0:rPr>
                        <m:t>d</m:t>
                      </m:r>
                      <m:r>
                        <ns0:rPr xmlns:ns0="http://schemas.openxmlformats.org/wordprocessingml/2006/main">
                          <ns0:sz ns0:val="80"/>
                          <ns0:szCs ns0:val="80"/>
                        </ns0:rPr>
                        <m:t>f</m:t>
                      </m:r>
                    </m:num>
                    <m:den>
                      <m:r>
                        <ns0:rPr xmlns:ns0="http://schemas.openxmlformats.org/wordprocessingml/2006/main">
                          <ns0:sz ns0:val="80"/>
                          <ns0:szCs ns0:val="80"/>
                        </ns0:rPr>
                        <m:t>d</m:t>
                      </m:r>
                      <m:r>
                        <ns0:rPr xmlns:ns0="http://schemas.openxmlformats.org/wordprocessingml/2006/main">
                          <ns0:sz ns0:val="80"/>
                          <ns0:szCs ns0:val="80"/>
                        </ns0:rPr>
                        <m:t>t</m:t>
                      </m:r>
                    </m:den>
                  </m:f>
                </m:oMath>
              </m:oMathPara>
            </a14:m>
          </a:p>
        </p:txBody>
      </p:sp>
      <p:sp>
        <p:nvSpPr>
          <p:cNvPr id="4" name="TextBox 3"/>
          <p:cNvSpPr txBox="1"/>
          <p:nvPr/>
        </p:nvSpPr>
        <p:spPr>
          <a:xfrm>
            <a:off x="2255367" y="3147060"/>
            <a:ext cx="1554480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200" b="1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rPr spc="180">
                <a:ea typeface="Hiragino Sans"/>
                <a:cs typeface="Hiragino Sans"/>
              </a:rPr>
              <a:t>WHERE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038447" y="3384804"/>
            <a:ext cx="9525" cy="1755648"/>
          </a:xfrm>
          <a:prstGeom prst="rect">
            <a:avLst/>
          </a:prstGeom>
          <a:solidFill>
            <a:srgbClr val="E5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55367" y="3348228"/>
            <a:ext cx="1554480" cy="457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2000">
                <a:solidFill>
                  <a:srgbClr val="A03A2E"/>
                </a:solidFill>
                <a:latin typeface="Avenir Next"/>
                <a:ea typeface="Hiragino Sans"/>
                <a:cs typeface="Hiragino Sans"/>
              </a:rPr>
              <a:t/>
            </a:r>
            <a14:m xmlns:a14="http://schemas.microsoft.com/office/drawing/2010/main" xmlns:mc="http://schemas.openxmlformats.org/markup-compatibility/2006">
              <m:oMath xmlns:m="http://schemas.openxmlformats.org/officeDocument/2006/math">
                <m:sSub>
                  <m:e>
                    <m:r>
                      <ns0:rPr xmlns:ns0="http://schemas.openxmlformats.org/wordprocessingml/2006/main">
                        <ns0:sz ns0:val="40"/>
                        <ns0:szCs ns0:val="40"/>
                      </ns0:rPr>
                      <m:t>H</m:t>
                    </m:r>
                  </m:e>
                  <m:sub>
                    <m:r>
                      <ns0:rPr xmlns:ns0="http://schemas.openxmlformats.org/wordprocessingml/2006/main">
                        <ns0:sz ns0:val="40"/>
                        <ns0:szCs ns0:val="40"/>
                      </ns0:rPr>
                      <m:t>v</m:t>
                    </m:r>
                  </m:sub>
                </m:sSub>
              </m:oMath>
            </a14:m>
          </a:p>
        </p:txBody>
      </p:sp>
      <p:sp>
        <p:nvSpPr>
          <p:cNvPr id="7" name="TextBox 6"/>
          <p:cNvSpPr txBox="1"/>
          <p:nvPr/>
        </p:nvSpPr>
        <p:spPr>
          <a:xfrm>
            <a:off x="4267047" y="3348228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4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仮想慣性定数 [s]。制御で「重さ」を模擬する。エネルギー源は直流側の蓄電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55367" y="3805428"/>
            <a:ext cx="1554480" cy="457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2000">
                <a:solidFill>
                  <a:srgbClr val="A03A2E"/>
                </a:solidFill>
                <a:latin typeface="Avenir Next"/>
                <a:ea typeface="Hiragino Sans"/>
                <a:cs typeface="Hiragino Sans"/>
              </a:rPr>
              <a:t/>
            </a:r>
            <a14:m xmlns:a14="http://schemas.microsoft.com/office/drawing/2010/main" xmlns:mc="http://schemas.openxmlformats.org/markup-compatibility/2006">
              <m:oMath xmlns:m="http://schemas.openxmlformats.org/officeDocument/2006/math">
                <m:r>
                  <ns0:rPr xmlns:ns0="http://schemas.openxmlformats.org/wordprocessingml/2006/main">
                    <ns0:sz ns0:val="40"/>
                    <ns0:szCs ns0:val="40"/>
                  </ns0:rPr>
                  <m:t>d</m:t>
                </m:r>
                <m:r>
                  <ns0:rPr xmlns:ns0="http://schemas.openxmlformats.org/wordprocessingml/2006/main">
                    <ns0:sz ns0:val="40"/>
                    <ns0:szCs ns0:val="40"/>
                  </ns0:rPr>
                  <m:t>f</m:t>
                </m:r>
                <m:r>
                  <m:rPr>
                    <m:sty m:val="p"/>
                  </m:rPr>
                  <ns0:rPr xmlns:ns0="http://schemas.openxmlformats.org/wordprocessingml/2006/main">
                    <ns0:sz ns0:val="40"/>
                    <ns0:szCs ns0:val="40"/>
                  </ns0:rPr>
                  <m:t>/</m:t>
                </m:r>
                <m:r>
                  <ns0:rPr xmlns:ns0="http://schemas.openxmlformats.org/wordprocessingml/2006/main">
                    <ns0:sz ns0:val="40"/>
                    <ns0:szCs ns0:val="40"/>
                  </ns0:rPr>
                  <m:t>d</m:t>
                </m:r>
                <m:r>
                  <ns0:rPr xmlns:ns0="http://schemas.openxmlformats.org/wordprocessingml/2006/main">
                    <ns0:sz ns0:val="40"/>
                    <ns0:szCs ns0:val="40"/>
                  </ns0:rPr>
                  <m:t>t</m:t>
                </m:r>
              </m:oMath>
            </a14:m>
          </a:p>
        </p:txBody>
      </p:sp>
      <p:sp>
        <p:nvSpPr>
          <p:cNvPr id="9" name="TextBox 8"/>
          <p:cNvSpPr txBox="1"/>
          <p:nvPr/>
        </p:nvSpPr>
        <p:spPr>
          <a:xfrm>
            <a:off x="4267047" y="3805428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4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周波数変化率。測るのに数十〜数百 ms かかる。ここが真の慣性との決定的な差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55367" y="4262628"/>
            <a:ext cx="1554480" cy="457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2000">
                <a:solidFill>
                  <a:srgbClr val="A03A2E"/>
                </a:solidFill>
                <a:latin typeface="Avenir Next"/>
                <a:ea typeface="Hiragino Sans"/>
                <a:cs typeface="Hiragino Sans"/>
              </a:rPr>
              <a:t/>
            </a:r>
            <a14:m xmlns:a14="http://schemas.microsoft.com/office/drawing/2010/main" xmlns:mc="http://schemas.openxmlformats.org/markup-compatibility/2006">
              <m:oMath xmlns:m="http://schemas.openxmlformats.org/officeDocument/2006/math">
                <m:r>
                  <ns0:rPr xmlns:ns0="http://schemas.openxmlformats.org/wordprocessingml/2006/main">
                    <ns0:sz ns0:val="40"/>
                    <ns0:szCs ns0:val="40"/>
                  </ns0:rPr>
                  <m:t>d</m:t>
                </m:r>
                <m:r>
                  <ns0:rPr xmlns:ns0="http://schemas.openxmlformats.org/wordprocessingml/2006/main">
                    <ns0:sz ns0:val="40"/>
                    <ns0:szCs ns0:val="40"/>
                  </ns0:rPr>
                  <m:t>f</m:t>
                </m:r>
                <m:r>
                  <m:rPr>
                    <m:sty m:val="p"/>
                  </m:rPr>
                  <ns0:rPr xmlns:ns0="http://schemas.openxmlformats.org/wordprocessingml/2006/main">
                    <ns0:sz ns0:val="40"/>
                    <ns0:szCs ns0:val="40"/>
                  </ns0:rPr>
                  <m:t>/</m:t>
                </m:r>
                <m:r>
                  <ns0:rPr xmlns:ns0="http://schemas.openxmlformats.org/wordprocessingml/2006/main">
                    <ns0:sz ns0:val="40"/>
                    <ns0:szCs ns0:val="40"/>
                  </ns0:rPr>
                  <m:t>d</m:t>
                </m:r>
                <m:r>
                  <ns0:rPr xmlns:ns0="http://schemas.openxmlformats.org/wordprocessingml/2006/main">
                    <ns0:sz ns0:val="40"/>
                    <ns0:szCs ns0:val="40"/>
                  </ns0:rPr>
                  <m:t>t</m:t>
                </m:r>
                <m:r>
                  <m:rPr>
                    <m:sty m:val="p"/>
                  </m:rPr>
                  <ns0:rPr xmlns:ns0="http://schemas.openxmlformats.org/wordprocessingml/2006/main">
                    <ns0:sz ns0:val="40"/>
                    <ns0:szCs ns0:val="40"/>
                  </ns0:rPr>
                  <m:t>&lt;</m:t>
                </m:r>
                <m:r>
                  <ns0:rPr xmlns:ns0="http://schemas.openxmlformats.org/wordprocessingml/2006/main">
                    <ns0:sz ns0:val="40"/>
                    <ns0:szCs ns0:val="40"/>
                  </ns0:rPr>
                  <m:t>0</m:t>
                </m:r>
              </m:oMath>
            </a14:m>
          </a:p>
        </p:txBody>
      </p:sp>
      <p:sp>
        <p:nvSpPr>
          <p:cNvPr id="11" name="TextBox 10"/>
          <p:cNvSpPr txBox="1"/>
          <p:nvPr/>
        </p:nvSpPr>
        <p:spPr>
          <a:xfrm>
            <a:off x="4267047" y="4262628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4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符号：周波数が下がる（df/dt &lt; 0）ときに出力を増やす。第7回の動揺方程式と同じ形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5367" y="4719828"/>
            <a:ext cx="1554480" cy="457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2000">
                <a:solidFill>
                  <a:srgbClr val="A03A2E"/>
                </a:solidFill>
                <a:latin typeface="Avenir Next"/>
                <a:ea typeface="Hiragino Sans"/>
                <a:cs typeface="Hiragino Sans"/>
              </a:rPr>
              <a:t/>
            </a:r>
            <a14:m xmlns:a14="http://schemas.microsoft.com/office/drawing/2010/main" xmlns:mc="http://schemas.openxmlformats.org/markup-compatibility/2006">
              <m:oMath xmlns:m="http://schemas.openxmlformats.org/officeDocument/2006/math">
                <m:r>
                  <m:rPr>
                    <m:sty m:val="p"/>
                  </m:rPr>
                  <ns0:rPr xmlns:ns0="http://schemas.openxmlformats.org/wordprocessingml/2006/main">
                    <ns0:sz ns0:val="40"/>
                    <ns0:szCs ns0:val="40"/>
                  </ns0:rPr>
                  <m:t>Δ</m:t>
                </m:r>
                <m:r>
                  <ns0:rPr xmlns:ns0="http://schemas.openxmlformats.org/wordprocessingml/2006/main">
                    <ns0:sz ns0:val="40"/>
                    <ns0:szCs ns0:val="40"/>
                  </ns0:rPr>
                  <m:t>t</m:t>
                </m:r>
              </m:oMath>
            </a14:m>
          </a:p>
        </p:txBody>
      </p:sp>
      <p:sp>
        <p:nvSpPr>
          <p:cNvPr id="13" name="TextBox 12"/>
          <p:cNvSpPr txBox="1"/>
          <p:nvPr/>
        </p:nvSpPr>
        <p:spPr>
          <a:xfrm>
            <a:off x="4267047" y="4719828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4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限界：数秒しか続かない。定常偏差を消すのは K（ガバナ・LFC）の仕事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合成慣性の効果 — 最低点が浅くなる</a:t>
            </a:r>
          </a:p>
        </p:txBody>
      </p:sp>
      <p:pic>
        <p:nvPicPr>
          <p:cNvPr id="3" name="Picture 2" descr="ch09_synthetic_inert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15481"/>
            <a:ext cx="11734495" cy="4517817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090412"/>
            <a:ext cx="11734495" cy="520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H = 2.0 s の系統で 250 MW が脱落した場合の応答である。ガバナが立ち上がるまでの数秒を合成慣性が肩代わりし、UFR の動作を回避できる。　出典｜コード/fig_ch09.py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遅れがあると効果が薄れる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88720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読み方｜同じ H_v = 3.0 s でも、df/dt の測定に時間がかかると効かない</a:t>
            </a:r>
          </a:p>
        </p:txBody>
      </p:sp>
      <p:pic>
        <p:nvPicPr>
          <p:cNvPr id="4" name="Picture 3" descr="ch09_de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83512"/>
            <a:ext cx="5813539" cy="31718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4910201"/>
            <a:ext cx="5813539" cy="3716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出典｜コード/fig_ch09.py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4515" y="2629725"/>
            <a:ext cx="4860252" cy="165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遅れ 50 ms：最低点が大きく改善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遅れ 200 ms：効果が半分程度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遅れ 500 ms：ほとんど効かない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破線は合成慣性なしの場合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482971"/>
            <a:ext cx="11057839" cy="625221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5482971"/>
            <a:ext cx="11057839" cy="381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5609971"/>
            <a:ext cx="10600639" cy="37122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合成慣性は「速さ」が命。だから真の慣性の代わりにはならず、RoCoF の初期値そのものは変えられない。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23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制御で何がどこまでできるか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2921127"/>
            <a:ext cx="3503066" cy="1619250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921127"/>
            <a:ext cx="3503066" cy="381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3187827"/>
            <a:ext cx="3045866" cy="11239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5200" b="1">
                <a:solidFill>
                  <a:srgbClr val="B85042"/>
                </a:solidFill>
                <a:latin typeface="Avenir Next"/>
                <a:ea typeface="Hiragino Sans"/>
                <a:cs typeface="Hiragino Sans"/>
              </a:rPr>
              <a:t>2.2 倍</a:t>
            </a:r>
          </a:p>
          <a:p>
            <a:pPr algn="ctr">
              <a:spcBef>
                <a:spcPts val="600"/>
              </a:spcBef>
              <a:defRPr sz="1400" b="1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Volt-Var による連系可能量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4314" y="2921127"/>
            <a:ext cx="3503066" cy="1619250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44314" y="2921127"/>
            <a:ext cx="3503066" cy="381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914" y="3187827"/>
            <a:ext cx="3045866" cy="11239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5200" b="1">
                <a:solidFill>
                  <a:srgbClr val="B85042"/>
                </a:solidFill>
                <a:latin typeface="Avenir Next"/>
                <a:ea typeface="Hiragino Sans"/>
                <a:cs typeface="Hiragino Sans"/>
              </a:rPr>
              <a:t>+0.7 Hz</a:t>
            </a:r>
          </a:p>
          <a:p>
            <a:pPr algn="ctr">
              <a:spcBef>
                <a:spcPts val="600"/>
              </a:spcBef>
              <a:defRPr sz="1400" b="1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合成慣性による最低点の改善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21700" y="2921127"/>
            <a:ext cx="3503066" cy="1619250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1700" y="2921127"/>
            <a:ext cx="3503066" cy="381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50300" y="3187827"/>
            <a:ext cx="3045866" cy="11239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5200" b="1">
                <a:solidFill>
                  <a:srgbClr val="B85042"/>
                </a:solidFill>
                <a:latin typeface="Avenir Next"/>
                <a:ea typeface="Hiragino Sans"/>
                <a:cs typeface="Hiragino Sans"/>
              </a:rPr>
              <a:t>0 s</a:t>
            </a:r>
          </a:p>
          <a:p>
            <a:pPr algn="ctr">
              <a:spcBef>
                <a:spcPts val="600"/>
              </a:spcBef>
              <a:defRPr sz="1400" b="1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それでも真の慣性 H はゼロ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24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例題 1 — 600 V の直流から何ボルト出せるか</a:t>
            </a:r>
          </a:p>
        </p:txBody>
      </p:sp>
      <p:sp>
        <p:nvSpPr>
          <p:cNvPr id="3" name="Oval 2"/>
          <p:cNvSpPr/>
          <p:nvPr/>
        </p:nvSpPr>
        <p:spPr>
          <a:xfrm>
            <a:off x="1597113" y="1691640"/>
            <a:ext cx="512064" cy="51206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2368296"/>
            <a:ext cx="2572435" cy="3401568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2596896"/>
            <a:ext cx="2115235" cy="2944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defRPr sz="18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条件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Vdc = 600 V、変調率 m = 0.9、系統 60 Hz、線形領域（m ≤ 1）</a:t>
            </a:r>
          </a:p>
        </p:txBody>
      </p:sp>
      <p:sp>
        <p:nvSpPr>
          <p:cNvPr id="6" name="Oval 5"/>
          <p:cNvSpPr/>
          <p:nvPr/>
        </p:nvSpPr>
        <p:spPr>
          <a:xfrm>
            <a:off x="4425580" y="1691640"/>
            <a:ext cx="512064" cy="51206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95395" y="2368296"/>
            <a:ext cx="2572435" cy="3401568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23995" y="2596896"/>
            <a:ext cx="2115235" cy="2944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defRPr sz="18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相電圧の振幅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V̂₁ = m·Vdc/2 = 0.9 × 300 = 270 V（実測 268 V）</a:t>
            </a:r>
          </a:p>
        </p:txBody>
      </p:sp>
      <p:sp>
        <p:nvSpPr>
          <p:cNvPr id="9" name="Oval 8"/>
          <p:cNvSpPr/>
          <p:nvPr/>
        </p:nvSpPr>
        <p:spPr>
          <a:xfrm>
            <a:off x="7254047" y="1691640"/>
            <a:ext cx="512064" cy="51206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3862" y="2368296"/>
            <a:ext cx="2572435" cy="3401568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2462" y="2596896"/>
            <a:ext cx="2115235" cy="2944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defRPr sz="18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線間の実効値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V_LL = 270 × √3/√2 = 331 V（実測 328 V）</a:t>
            </a:r>
          </a:p>
        </p:txBody>
      </p:sp>
      <p:sp>
        <p:nvSpPr>
          <p:cNvPr id="12" name="Oval 11"/>
          <p:cNvSpPr/>
          <p:nvPr/>
        </p:nvSpPr>
        <p:spPr>
          <a:xfrm>
            <a:off x="10082514" y="1691640"/>
            <a:ext cx="512064" cy="51206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329" y="2368296"/>
            <a:ext cx="2572435" cy="3401568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80929" y="2596896"/>
            <a:ext cx="2115235" cy="2944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defRPr sz="18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判定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400 V 系統には足りない。Vdc を上げるか昇圧トランスを入れる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動く図で試す — viz/inverter.html</a:t>
            </a:r>
          </a:p>
        </p:txBody>
      </p:sp>
      <p:pic>
        <p:nvPicPr>
          <p:cNvPr id="3" name="Picture 2" descr="ch09_v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2217" y="1353312"/>
            <a:ext cx="4827260" cy="32423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4732782"/>
            <a:ext cx="11057839" cy="298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動く図 PWM 波形の生成と DFT、合成慣性の効果をブラウザ内で実計算する 14 枚のスライド。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214112"/>
            <a:ext cx="11057839" cy="939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400"/>
              </a:spcBef>
              <a:buChar char="•"/>
            </a:pPr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変調率 m を動かし、基本波振幅が m に比例するのを DFT で見る</a:t>
            </a:r>
          </a:p>
          <a:p>
            <a:pPr>
              <a:spcBef>
                <a:spcPts val="400"/>
              </a:spcBef>
              <a:buChar char="•"/>
            </a:pPr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m_f を 21 → 99 に上げ、高調波の山が高い次数へ移るのを見る</a:t>
            </a:r>
          </a:p>
          <a:p>
            <a:pPr>
              <a:spcBef>
                <a:spcPts val="400"/>
              </a:spcBef>
              <a:buChar char="•"/>
            </a:pPr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合成慣性を ON にして、周波数の最低点が浅くなるのを確かめる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なぜそう考えるか — dq・単独運転・合成慣性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2121916"/>
            <a:ext cx="11057839" cy="310896"/>
          </a:xfrm>
          <a:prstGeom prst="rect">
            <a:avLst/>
          </a:prstGeom>
          <a:solidFill>
            <a:srgbClr val="5C7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21916"/>
            <a:ext cx="10728655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r>
              <a:rPr sz="15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rPr>
              <a:t>なぜ dq 変換をするのか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432812"/>
            <a:ext cx="11057839" cy="712216"/>
          </a:xfrm>
          <a:prstGeom prst="rect">
            <a:avLst/>
          </a:prstGeom>
          <a:solidFill>
            <a:srgbClr val="F3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2478532"/>
            <a:ext cx="10655503" cy="639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正弦波のままでは PI 制御に定常偏差が残る。位相に同期した座標に乗ると正弦波が直流に見え、普通の PI で偏差ゼロにできる。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346196"/>
            <a:ext cx="11057839" cy="310896"/>
          </a:xfrm>
          <a:prstGeom prst="rect">
            <a:avLst/>
          </a:prstGeom>
          <a:solidFill>
            <a:srgbClr val="146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346196"/>
            <a:ext cx="10728655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r>
              <a:rPr sz="15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rPr>
              <a:t>なぜ単独運転検出が必須なのか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657092"/>
            <a:ext cx="11057839" cy="712216"/>
          </a:xfrm>
          <a:prstGeom prst="rect">
            <a:avLst/>
          </a:prstGeom>
          <a:solidFill>
            <a:srgbClr val="EE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3702812"/>
            <a:ext cx="10655503" cy="639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系統が切れた後も送電を続けると、作業員の感電、電圧・周波数の逸脱による機器破損、再閉路時の位相不一致が起きる。だから「系統が無い」ことを検出して止める。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4570476"/>
            <a:ext cx="11057839" cy="310896"/>
          </a:xfrm>
          <a:prstGeom prst="rect">
            <a:avLst/>
          </a:prstGeom>
          <a:solidFill>
            <a:srgbClr val="9F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570476"/>
            <a:ext cx="10728655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r>
              <a:rPr sz="15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rPr>
              <a:t>合成慣性は真の慣性ではない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4881372"/>
            <a:ext cx="11057839" cy="458216"/>
          </a:xfrm>
          <a:prstGeom prst="rect">
            <a:avLst/>
          </a:prstGeom>
          <a:solidFill>
            <a:srgbClr val="F8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4927092"/>
            <a:ext cx="10655503" cy="385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df/dt を測ってから出すので遅れる。蓄電が無ければ続かない。RoCoF の初期値は変えられない。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よくある誤解</a:t>
            </a:r>
          </a:p>
        </p:txBody>
      </p:sp>
      <p:pic>
        <p:nvPicPr>
          <p:cNvPr id="3" name="Picture 2" descr="ch09_my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16" y="713232"/>
            <a:ext cx="11176863" cy="5322316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090412"/>
            <a:ext cx="11734495" cy="520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3 つとも PWM と合成慣性の仕組みに立ち戻れば解ける。「作り方」と「速さの限界」を先に押さえておくと、この種の設問に強くなる。　出典｜コード/fig_ch09.py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28 / 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持ち帰る 3 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547207" y="2394204"/>
            <a:ext cx="1097280" cy="3175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2595372"/>
            <a:ext cx="10143439" cy="965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rPr>
              <a:t>インバータは制御そのものが電源の性格を決める。フォロイングは従い、フォーミングは作る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47088" y="3926332"/>
            <a:ext cx="8497519" cy="939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800"/>
              </a:spcBef>
            </a:pPr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•  PWM：V̂₁ = m·Vdc/2、高調波は m_f 付近。dq 変換で PI が効く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•  Volt-Var で電圧（第6回）、合成慣性で周波数（第8回）に答える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•  合成慣性は真の慣性ではない。遅れとエネルギー源が要る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29 / 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C33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592927" y="2697480"/>
            <a:ext cx="1005840" cy="2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880360"/>
            <a:ext cx="10362895" cy="7462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defRPr sz="452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次回：第10回 気象予測と再エネ出力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60520"/>
            <a:ext cx="10362895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defRPr sz="1800">
                <a:solidFill>
                  <a:srgbClr val="EBE0D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演習 ex/ch09.html で数値を変えて確かめる</a:t>
            </a:r>
          </a:p>
          <a:p>
            <a:pPr algn="ctr">
              <a:spcBef>
                <a:spcPts val="400"/>
              </a:spcBef>
              <a:defRPr sz="1800">
                <a:solidFill>
                  <a:srgbClr val="EBE0D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天気予報を MW に翻訳する — 日射・風速・温度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