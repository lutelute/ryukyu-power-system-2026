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3 の初回。第7・8回で「回転体があるから系統は安定する」と学んだ直後に、回転体を持たない電源の話をする。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「性能」ではなく「制御の設計」で性格が決まる、というのが今日の主題。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+0.7 Hz が結論。ただし「真の慣性ではない」ことを最後に必ず言う。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同じインバータ電源が、設定次第で事故の引き金にも救い手にもなる。今日はその設計を学ぶ。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崩れる点：合唱は「合わせる」だけだが、インバータは電流の大きさと位相を数万分の 1 秒ごとに決めている。その速さが強みでもある。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実機のスイッチング周波数は数 kHz〜数十 kHz。この図は見やすさのため 1,260 Hz にしている。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③の数字で「なぜ太陽光の PCS は昇圧トランスを持つか」を説明できる。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③の数字で「なぜ太陽光の PCS は昇圧トランスを持つか」を説明できる。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③の数字で「なぜ太陽光の PCS は昇圧トランスを持つか」を説明できる。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過変調は非常時に電圧を絞り出す手段。常用すると 5 次・7 次の高調波が増える。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連系規程の THD 5% はフィルタ後の系統側の値。この図はフィルタ前なので桁が違う。　図の要点：m_f = 21：21 次付近に大きな山／m_f = 99：99 次付近へ移動／低次（5・7 次）はほとんど出ない／フィルタ前の THD は 100% 前後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共振点を放置すると発振する。受動制動（抵抗）か能動制動（制御）で抑える。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回転位相は PLL（位相同期回路）が系統電圧から作る。PLL が乱れると制御全体が乱れる。　図の要点：三相は時間とともに変わる／系統の位相に同期して回る座標へ／d 軸（有効分）と q 軸（無効分）が 一定値／直流なので PI 制御で偏差ゼロにできる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GFM の実装は仮想同期発電機（VSG）やドループ制御。同期機の振る舞いを制御で模擬する。　図の要点：GFL は電流源：系統に合わせる／GFM は電圧源：自分で作る／GFL は系統が弱いと不安定になる／GFM はブラックスタートができる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能動的方式は多数台が並ぶと互いに干渉する。大量導入時代の課題の 1 つ。　図の要点：作業員が感電する／電圧・周波数が外れて機器が壊れる／再閉路で位相がずれたまま突き合わせる／だから検出して 止める のが義務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力率 0.95 運転は見かけの電流が 5% 増えるので損失も少し増える。ただではない。　図の要点：電圧が高いときだけ Q を吸う／不感帯を設けて無駄に動かさない／連系可能量 2.5 → 5.5 MW／設備を増やさずに 2.2 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真の慣性は「測らずに物理的に出る」。合成慣性は「測ってから出す」。この差が遅れになる。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出力は数秒でゼロに戻る。蓄電池の容量（kWh）ではなく出力（kW）が効く用途。　図の要点：合成慣性なし：nadir 56.52 Hz／H_v = 1.5 s：56.98 Hz／H_v = 3.0 s：57.23 Hz（+0.7 Hz）／最大 143 MW を数秒だけ出す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df/dt は微分なのでノイズに弱い。フィルタをかけると遅れ、かけないと誤動作する。ここが実装の難所。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つ目が今日の落としどころ。制御でできることは多いが、物理的な慣性の代わりにはならない。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 と 3 を計算させる。0.612 m Vdc = 0.612 × 0.9 × 600 = 330 V と一気に出す形も示す。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5.xml"/><Relationship Id="rId5" Type="http://schemas.openxmlformats.org/officeDocument/2006/relationships/slide" Target="slide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回らない電源が、系統を支えられるか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第9回 インバータと系統連系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9 ／ 教科書 第8章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インバータはスイッチで正弦波を作る電源。回転体がないので慣性はゼロだが、制御の設計次第で電圧と周波数を支える側に回れる。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太陽光や風力は回転体を持たない。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慣性ゼロ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の電源が増えても系統は保てるのか。何が肩代わりするのか。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9_p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48" y="3561778"/>
            <a:ext cx="2095002" cy="1124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スイッチの ON/OFF で正弦波を「作る」。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9_synthetic_inert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681" y="3561778"/>
            <a:ext cx="2538332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PWM ▶ dq 制御 ▶ 合成慣性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制御で慣性を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模擬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+0.7 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合成慣性で最低点が 56.52 → 57.23 Hz に改善する。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コード（コード/fig_ch09.py）で計算。Vdc = 600 V、沖縄 1,500 MW・H = 2.0 s・250 MW 脱落。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弱さと強さ、どちらも実系統で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2016年9月 南オーストラリア州 全域停電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暴風で送電塔が倒れ、電圧低下が短時間に何度も起きた。風力発電の保護設定（電圧低下に耐える回数の上限）で出力が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急減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し、州外との連系線が過負荷で遮断。州全体がブラックアウトした。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2017年 同じ州に置かれた大型蓄電池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100 MW の蓄電池が周波数調整の市場に参加し、周波数の落ち込みに 0.1 秒台で応答した。慣性を持たない電源でも、制御が速ければ周波数を支えられることを実系統で示した。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合唱の「合わせ手」と「指揮者」</a:t>
            </a:r>
          </a:p>
        </p:txBody>
      </p:sp>
      <p:pic>
        <p:nvPicPr>
          <p:cNvPr id="3" name="Picture 2" descr="ch09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この 5 行は今日の全体を先取りしている。GFL・単独運転検出・GFM・ドループ・合成慣性が、あとで順番に出てくる。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PWM — スイッチのオン・オフで正弦波を作る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dq 変換と制御 — 交流を直流にして PI で扱う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フォロイングとフォーミング、単独運転検出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第6回・第8回への答え — Volt-Var 制御と合成慣性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正弦波を「作る」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パルスの幅で電圧を表す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PWM — 変調波と搬送波を比べるだけ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読み方｜上が比較、下が出力。矩形波の平均が正弦波になる</a:t>
            </a:r>
          </a:p>
        </p:txBody>
      </p:sp>
      <p:pic>
        <p:nvPicPr>
          <p:cNvPr id="4" name="Picture 3" descr="ch09_p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07160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0716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出典｜コード/fig_ch09.py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136" y="2312225"/>
            <a:ext cx="4766631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変調波（60 Hz）が搬送波より上なら ON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出力は ±Vdc/2 の矩形しかない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その平均が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m·Vdc/2 = 270 V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の正弦波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幅で電圧の大小を表している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インバータは正弦波を「増幅」しているのではない。矩形の幅を変えて、平均として正弦波を作っている。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基本波の大きさはどう決まるか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1 スイッチング周期の平均｜幅が変調波に比例する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搬送波が三角波なら、ON になる時間の割合は変調波の値に線形に比例する。だから 1 周期の平均電圧は変調波の形をそのままなぞる。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相電圧の基本波｜V̂₁ = m·Vdc/2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出力の振れ幅が ±Vdc/2 で、変調率 m がその何割まで使うかを決める。m ≤ 1 が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線形領域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線間の実効値｜√3 倍して √2 で割る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V_LL = (√3/√2)·m·Vdc/2 ≈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0.612 m Vdc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。600 V・m = 0.9 なら 328 V で、400 V 系統には少し足りない。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基本波の大きさはどう決まるか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1 スイッチング周期の平均｜幅が変調波に比例する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搬送波が三角波なら、ON になる時間の割合は変調波の値に線形に比例する。だから 1 周期の平均電圧は変調波の形をそのままなぞる。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相電圧の基本波｜V̂₁ = m·Vdc/2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出力の振れ幅が ±Vdc/2 で、変調率 m がその何割まで使うかを決める。m ≤ 1 が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線形領域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線間の実効値｜√3 倍して √2 で割る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V_LL = (√3/√2)·m·Vdc/2 ≈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0.612 m Vdc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。600 V・m = 0.9 なら 328 V で、400 V 系統には少し足りない。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基本波の大きさはどう決まるか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1 スイッチング周期の平均｜幅が変調波に比例する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搬送波が三角波なら、ON になる時間の割合は変調波の値に線形に比例する。だから 1 周期の平均電圧は変調波の形をそのままなぞる。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相電圧の基本波｜V̂₁ = m·Vdc/2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出力の振れ幅が ±Vdc/2 で、変調率 m がその何割まで使うかを決める。m ≤ 1 が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線形領域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線間の実効値｜√3 倍して √2 で割る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V_LL = (√3/√2)·m·Vdc/2 ≈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0.612 m Vdc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。600 V・m = 0.9 なら 328 V で、400 V 系統には少し足りない。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変調率と出力電圧 — m ≤ 1 では比例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読み方｜実測（DFT で取り出した基本波）と理論式が線形領域で一致する</a:t>
            </a:r>
          </a:p>
        </p:txBody>
      </p:sp>
      <p:pic>
        <p:nvPicPr>
          <p:cNvPr id="4" name="Picture 3" descr="ch09_mod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7278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47278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出典｜コード/fig_ch09.py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23761" y="2629725"/>
            <a:ext cx="520100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 = 0.9 → 相電圧の振幅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268 V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線間実効値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328 V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 &gt; 1 は過変調（低次高調波が出る）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理論 m·Vdc/2 と実測がぴったり重なる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直流電圧が足りなければ、m を上げても限界がある。だから系統電圧に対して十分な Vdc を確保する。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高調波はどこに出るか</a:t>
            </a:r>
          </a:p>
        </p:txBody>
      </p:sp>
      <p:pic>
        <p:nvPicPr>
          <p:cNvPr id="3" name="Picture 2" descr="ch09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937"/>
            <a:ext cx="11734495" cy="440690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m_f を上げても高調波の総量は大きくは減らない。消えるのではなく、フィルタで落としやすい高い周波数へ移るだけである。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LCL フィルタ — 高い周波数を急峻に落とす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読み方｜両対数。L 単体より傾きが急で、同じ減衰を小さな部品で得られる</a:t>
            </a:r>
          </a:p>
        </p:txBody>
      </p:sp>
      <p:pic>
        <p:nvPicPr>
          <p:cNvPr id="4" name="Picture 3" descr="ch09_l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72223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72223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出典｜コード/fig_ch09.py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3207" y="2470975"/>
            <a:ext cx="4951560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基本波 60 Hz はそのまま通す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スイッチング成分を大きく減衰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L 単体は −20 dB/dec、LCL は −60 dB/dec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共振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2.0 kHz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には制動が要る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m_f を上げるほど小さなフィルタで済むが、スイッチング損失が増える。ここが設計のトレードオフ。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どう制御するか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交流を直流に直してから決める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dq 変換 — 回る座標に乗ると直流になる</a:t>
            </a:r>
          </a:p>
        </p:txBody>
      </p:sp>
      <p:pic>
        <p:nvPicPr>
          <p:cNvPr id="3" name="Picture 2" descr="ch09_d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99628"/>
            <a:ext cx="11734495" cy="434952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d 軸と q 軸に分けることで、有効電力 P と無効電力 Q を独立に指令できる。P と Q を分けて制御できるのは、この座標変換のおかげである。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 つの性格 — フォロイングとフォーミング</a:t>
            </a:r>
          </a:p>
        </p:txBody>
      </p:sp>
      <p:pic>
        <p:nvPicPr>
          <p:cNvPr id="3" name="Picture 2" descr="ch09_gfl_g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920" y="713232"/>
            <a:ext cx="1161785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同じハードウェアでも、制御の設計次第で電源の性格が変わる。沖縄のように小さな系統ほど、「支えてもらう」GFL から「支える」GFM への転換の価値は大きい。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単独運転はなぜ危険か</a:t>
            </a:r>
          </a:p>
        </p:txBody>
      </p:sp>
      <p:pic>
        <p:nvPicPr>
          <p:cNvPr id="3" name="Picture 2" descr="ch09_is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907"/>
            <a:ext cx="11734495" cy="476276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検出方式には、電圧・周波数の変化を見る受動的方式と、わざと乱して反応を見る能動的方式の 2 系統がある。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系統を支える側に回る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第6回と第8回への答え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Volt-Var 制御 — 第6回の電圧問題への答え</a:t>
            </a:r>
          </a:p>
        </p:txBody>
      </p:sp>
      <p:pic>
        <p:nvPicPr>
          <p:cNvPr id="3" name="Picture 2" descr="ch09_voltv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2124"/>
            <a:ext cx="11734495" cy="4504531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同じ太陽光が、電圧が高いときだけ無効電力を吸う調相設備にもなる。第6回で「Q は遠くへ運べない」と学んだ問題に、現地で答える形である。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合成慣性 — 第8回の周波数問題への答え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00428"/>
            <a:ext cx="11057839" cy="1219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ns0:rPr xmlns:ns0="http://schemas.openxmlformats.org/wordprocessingml/2006/main">
                      <ns0:sz ns0:val="80"/>
                      <ns0:szCs ns0:val="80"/>
                    </ns0:rPr>
                    <m:t>Δ</m:t>
                  </m:r>
                  <m:sSub>
                    <m:e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P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80"/>
                          <ns0:szCs ns0:val="80"/>
                        </ns0:rPr>
                        <m:t>inv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80"/>
                      <ns0:szCs ns0:val="80"/>
                    </ns0:rPr>
                    <m:t>=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80"/>
                      <ns0:szCs ns0:val="80"/>
                    </ns0:rPr>
                    <m:t>−</m:t>
                  </m:r>
                  <m:f>
                    <m:fPr>
                      <m:type m:val="bar"/>
                    </m:fPr>
                    <m:num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2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80"/>
                              <ns0:szCs ns0:val="80"/>
                            </ns0:rPr>
                            <m:t>H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80"/>
                              <ns0:szCs ns0:val="80"/>
                            </ns0:rPr>
                            <m:t>v</m:t>
                          </m:r>
                        </m:sub>
                      </m:sSub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S</m:t>
                      </m:r>
                    </m:num>
                    <m:den>
                      <m:sSub>
                        <m:e>
                          <m:r>
                            <ns0:rPr xmlns:ns0="http://schemas.openxmlformats.org/wordprocessingml/2006/main">
                              <ns0:sz ns0:val="80"/>
                              <ns0:szCs ns0:val="80"/>
                            </ns0:rPr>
                            <m:t>f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80"/>
                              <ns0:szCs ns0:val="80"/>
                            </ns0:rPr>
                            <m:t>0</m:t>
                          </m:r>
                        </m:sub>
                      </m:sSub>
                    </m:den>
                  </m:f>
                  <m:r>
                    <ns0:rPr xmlns:ns0="http://schemas.openxmlformats.org/wordprocessingml/2006/main">
                      <ns0:sz ns0:val="80"/>
                      <ns0:szCs ns0:val="80"/>
                    </ns0:rPr>
                    <m:t> </m:t>
                  </m:r>
                  <m:f>
                    <m:fPr>
                      <m:type m:val="bar"/>
                    </m:fPr>
                    <m:num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d</m:t>
                      </m:r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f</m:t>
                      </m:r>
                    </m:num>
                    <m:den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d</m:t>
                      </m:r>
                      <m:r>
                        <ns0:rPr xmlns:ns0="http://schemas.openxmlformats.org/wordprocessingml/2006/main">
                          <ns0:sz ns0:val="80"/>
                          <ns0:szCs ns0:val="80"/>
                        </ns0:rPr>
                        <m:t>t</m:t>
                      </m:r>
                    </m:den>
                  </m:f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14706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38480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34822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H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v</m:t>
                    </m:r>
                  </m:sub>
                </m:sSub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3482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仮想慣性定数 [s]。制御で「重さ」を模擬する。エネルギー源は直流側の蓄電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80542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/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t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8054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周波数変化率。測るのに数十〜数百 ms かかる。ここが真の慣性との決定的な差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26262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/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t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&lt;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0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2626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符号：周波数が下がる（df/dt &lt; 0）ときに出力を増やす。第7回の動揺方程式と同じ形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71982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Δ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t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7198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限界：数秒しか続かない。定常偏差を消すのは K（ガバナ・LFC）の仕事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合成慣性の効果 — 最低点が浅くなる</a:t>
            </a:r>
          </a:p>
        </p:txBody>
      </p:sp>
      <p:pic>
        <p:nvPicPr>
          <p:cNvPr id="3" name="Picture 2" descr="ch09_synthetic_iner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15481"/>
            <a:ext cx="11734495" cy="451781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H = 2.0 s の系統で 250 MW が脱落した場合の応答である。ガバナが立ち上がるまでの数秒を合成慣性が肩代わりし、UFR の動作を回避できる。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遅れがあると効果が薄れる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 H_v = 3.0 s でも、df/dt の測定に時間がかかると効かない</a:t>
            </a:r>
          </a:p>
        </p:txBody>
      </p:sp>
      <p:pic>
        <p:nvPicPr>
          <p:cNvPr id="4" name="Picture 3" descr="ch09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1353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1353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出典｜コード/fig_ch09.py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4515" y="2629725"/>
            <a:ext cx="486025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遅れ 50 ms：最低点が大きく改善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遅れ 200 ms：効果が半分程度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遅れ 500 ms：ほとんど効かない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破線は合成慣性なしの場合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合成慣性は「速さ」が命。だから真の慣性の代わりにはならず、RoCoF の初期値そのものは変えられない。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制御で何がどこまでできるか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2.2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Volt-Var による連系可能量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+0.7 Hz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合成慣性による最低点の改善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 s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それでも真の慣性 H はゼロ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600 V の直流から何ボルト出せるか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Vdc = 600 V、変調率 m = 0.9、系統 60 Hz、線形領域（m ≤ 1）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相電圧の振幅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V̂₁ = m·Vdc/2 = 0.9 × 300 = 270 V（実測 268 V）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線間の実効値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V_LL = 270 × √3/√2 = 331 V（実測 328 V）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判定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400 V 系統には足りない。Vdc を上げるか昇圧トランスを入れる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viz/inverter.html</a:t>
            </a:r>
          </a:p>
        </p:txBody>
      </p:sp>
      <p:pic>
        <p:nvPicPr>
          <p:cNvPr id="3" name="Picture 2" descr="ch09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PWM 波形の生成と DFT、合成慣性の効果をブラウザ内で実計算する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変調率 m を動かし、基本波振幅が m に比例するのを DFT で見る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m_f を 21 → 99 に上げ、高調波の山が高い次数へ移るのを見る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合成慣性を ON にして、周波数の最低点が浅くなるのを確かめる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dq・単独運転・合成慣性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dq 変換をするのか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正弦波のままでは PI 制御に定常偏差が残る。位相に同期した座標に乗ると正弦波が直流に見え、普通の PI で偏差ゼロにできる。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なぜ単独運転検出が必須なのか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系統が切れた後も送電を続けると、作業員の感電、電圧・周波数の逸脱による機器破損、再閉路時の位相不一致が起きる。だから「系統が無い」ことを検出して止める。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合成慣性は真の慣性ではない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df/dt を測ってから出すので遅れる。蓄電が無ければ続かない。RoCoF の初期値は変えられない。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9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つとも PWM と合成慣性の仕組みに立ち戻れば解ける。「作り方」と「速さの限界」を先に押さえておくと、この種の設問に強くなる。　出典｜コード/fig_ch09.py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インバータは制御そのものが電源の性格を決める。フォロイングは従い、フォーミングは作る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PWM：V̂₁ = m·Vdc/2、高調波は m_f 付近。dq 変換で PI が効く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Volt-Var で電圧（第6回）、合成慣性で周波数（第8回）に答える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合成慣性は真の慣性ではない。遅れとエネルギー源が要る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次回：第10回 気象予測と再エネ出力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ex/ch09.html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天気予報を MW に翻訳する — 日射・風速・温度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