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初回。目的は「発電を多段変換として見る目」と「上限は物理が決める」という感覚を持ち帰ってもらうこと。90 分で 4 章、例題 3 つ。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1 文を最後にもう一度見せる。「積」と「壁」の 2 語がキーワード。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聴衆に最初の 2 枚で全体像を渡す。右下の「6〜7 割」が今日の結論。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今日の式 η_total = Π η_i と η_C = 1 − T_L/T_H で、この 2 つの話がどちらも読める。効率の話は「環境の話」である前に「お金の話」。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図の帯の太さがエネルギー。灰色が損失。なぜタービンだけ 0.45 なのかが次の 3 枚。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段階開示。①で「捨てる熱はゼロにできない」を強調。②③は 1 行ずつ。これが第二法則の帰結。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段階開示。①で「捨てる熱はゼロにできない」を強調。②③は 1 行ずつ。これが第二法則の帰結。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段階開示。①で「捨てる熱はゼロにできない」を強調。②③は 1 行ずつ。これが第二法則の帰結。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°C のまま 1 − 30/1400 = 0.98 と計算する誤りが毎年出る。K に直してから。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ガスタービンの入口温度が 1,600 °C を超えるまで、材料と冷却技術が進化してきた歴史がこの曲線の右端。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手を動かす 3 分。学生に 2 の計算をさせる。「°C のまま計算したら？」と聞く。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水力の 90% を見て「なぜ全部水力にしないのか」と聞かれたら、資源量と立地の話（第2回）へつなぐ。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導出は 1 行。「単位時間に落ちる質量 × 1 kg あたりの位置エネルギー」。係数 9.8 の出どころを言えれば十分。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右図の点線は「制限なし」。実機は定格でピッチ制御で頭打ち。沖縄の台風では 25 m/s で一斉停止。　図の要点：8 → 10 m/s で出力 1.95 倍（3 乗）／カットイン 3 m/s まで出ない／定格 10.4 m/s で 2 MW に頭打ち／カットアウト 25 m/s で停止（台風）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導出は板書でも可。ポイントは「全部取ると風が止まる」の直感と、最大が 1/3 減速という具体値。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導出は板書でも可。ポイントは「全部取ると風が止まる」の直感と、最大が 1/3 減速という具体値。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導出は板書でも可。ポイントは「全部取ると風が止まる」の直感と、最大が 1/3 減速という具体値。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3 と 4 を計算させる。「風速が 10 m/s になったら？」→ 1.995 × 1.95 = 3.9 MW だが定格 2 MW で頭打ち。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5778 K の黒体スペクトルで計算した図。多接合セルは E_g の違う層を重ねて「熱になる分」を減らす。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この「局所か全体か」の区別が講義全体の背骨。第6回と第8回で戻ってくる。　図の要点：電圧 101 ± 6 V：母線ごとに違う／周波数 60 ± 0.2 Hz：系統で 1 つ／高調波：5 次 5% + 7 次 3% で THD 5.8%／高圧の上限 5% を超える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発電端と送電端の区別もここで。所内動力 3〜7% を引いたのが送電端。　図の要点：1 kWh = 3.6 MJ（W は速さ、Wh は量）／家庭 1 日 ≈ 10 kWh／1 toe ≈ 41.9 GJ ≈ 11,630 kWh／沖縄本島 1 日 ≈ 24 GWh（概算）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6.xml"/><Relationship Id="rId5" Type="http://schemas.openxmlformats.org/officeDocument/2006/relationships/slide" Target="slide20.xml"/><Relationship Id="rId6" Type="http://schemas.openxmlformats.org/officeDocument/2006/relationships/slide" Target="slide2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電気は「作る」のではなく「変換する」— 効率の壁はどこにあるか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第1回 エネルギー変換の基礎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1・コマ 1 ／ 教科書 第1章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33095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86990"/>
            <a:ext cx="9997135" cy="1775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発電とは多段のエネルギー変換であり、総合効率は各段の効率の積で決まる。熱を通る道には、技術では越えられない物理の壁がある。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なぜ火力発電は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40% 前後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で止まるのか。技術の限界か、物理の限界か。風力や太陽光にも同じ「壁」はあるのか。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01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890" y="3561778"/>
            <a:ext cx="1834517" cy="8153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453319"/>
            <a:ext cx="2726842" cy="10048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発電は 4 回の変換。効率は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積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で減り、熱→回転の段で半分以上を失う。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01_carnot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045" y="3561778"/>
            <a:ext cx="1125604" cy="6677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305681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η の積</a:t>
            </a:r>
            <a:r>
              <a:rPr sz="800">
                <a:ea typeface="Hiragino Sans"/>
                <a:cs typeface="Hiragino Sans"/>
                <a:solidFill>
                  <a:srgbClr val="B85042"/>
                </a:solidFill>
              </a:rPr>
              <a:t>  ▶  </a:t>
            </a:r>
            <a:r>
              <a:rPr sz="9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カルノー</a:t>
            </a:r>
            <a:r>
              <a:rPr sz="800">
                <a:ea typeface="Hiragino Sans"/>
                <a:cs typeface="Hiragino Sans"/>
                <a:solidFill>
                  <a:srgbClr val="B85042"/>
                </a:solidFill>
              </a:rPr>
              <a:t>  ▶  </a:t>
            </a:r>
            <a:r>
              <a:rPr sz="9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ベッツ</a:t>
            </a:r>
            <a:r>
              <a:rPr sz="800">
                <a:ea typeface="Hiragino Sans"/>
                <a:cs typeface="Hiragino Sans"/>
                <a:solidFill>
                  <a:srgbClr val="B85042"/>
                </a:solidFill>
              </a:rPr>
              <a:t>  ▶  </a:t>
            </a:r>
            <a:r>
              <a:rPr sz="9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バンドギャップ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4762881"/>
            <a:ext cx="2726842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壁の式を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導出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し、実機を上限と比べる。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6〜7割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実機はどの方式も理論上限の 6〜7 割。上限を上げる道は「高温化」だけ、と数字で言える。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コード（コード/fig_ch01.py）で計算。T_L = 30 °C。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効率 1% が国家予算になる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2011年 東日本大震災の後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原子力の停止で火力（LNG・石炭・石油）への依存が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約9割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に上がり、燃料の輸入額が年に数兆円規模で増えた。発電効率 1 ポイントの差が、そのまま燃料費と CO₂ の差になる。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沖縄本島の電源構成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石炭・LNG・石油火力が中心で、他地域との連系線がない。燃料の調達と効率が電気料金に直結し、太陽光を増やすほど「回転機が減る」問題（第8回の慣性）が前に出てくる。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滝とバケツリレー</a:t>
            </a:r>
          </a:p>
        </p:txBody>
      </p:sp>
      <p:pic>
        <p:nvPicPr>
          <p:cNvPr id="3" name="Picture 2" descr="ch01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たとえ話が崩れる点も押さえておく。水は下流にそのまま残るが、捨てた熱は二度と仕事に戻らない（熱力学第二法則）。だから「熱を通る道」にだけ上限がある。　出典｜コード/fig_ch01.py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エネルギー保存則と第二法則 — 効率に上限がある理由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発電方式を「変換の連鎖」として統一的に見る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理論限界 — カルノー効率とベッツの限界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電力品質の 3 指標と単位換算（W・Wh・J・toe）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エネルギー保存則と第二法則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効率は「積」で減り、熱を通る段には上限がある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 回の変換 — 効率は掛け算で減る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読み方｜入力 100 が 90 → 40.5 → 39.7 になる。半分以上をタービンで失う</a:t>
            </a:r>
          </a:p>
        </p:txBody>
      </p:sp>
      <p:pic>
        <p:nvPicPr>
          <p:cNvPr id="4" name="Picture 3" descr="ch01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4192"/>
            <a:ext cx="6413546" cy="2850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49520"/>
            <a:ext cx="641354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4522" y="2312225"/>
            <a:ext cx="4260245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ボイラ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0.90：排ガスに逃げる</a:t>
            </a:r>
          </a:p>
          <a:p>
            <a:pPr>
              <a:spcBef>
                <a:spcPts val="400"/>
              </a:spcBef>
              <a:buChar char="•"/>
            </a:pP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タービン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0.45：ここにカルノーの壁</a:t>
            </a:r>
          </a:p>
          <a:p>
            <a:pPr>
              <a:spcBef>
                <a:spcPts val="400"/>
              </a:spcBef>
              <a:buChar char="•"/>
            </a:pP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発電機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0.98：最も無駄が少ない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総合 = 0.90 × 0.45 × 0.98 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0.397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直列の変換は掛け算。一番弱い段が全体を決めるので、改善はタービン（熱→回転）に集中する。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なぜ熱機関の効率に上限があるのか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エントロピー収支｜可逆サイクルは 1 周で元に戻る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高温 T_H で熱 Q_H を受け、低温 T_L で熱 Q_L を捨てる。1 周でエントロピーが元に戻るには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Q_H / T_H = Q_L / T_L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ild:ghost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② エネルギー保存｜仕事は受けた熱と捨てた熱の差</a:t>
            </a:r>
          </a:p>
        </p:txBody>
      </p:sp>
      <p:sp>
        <p:nvSpPr>
          <p:cNvPr id="7" name="build:ghost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W = Q_H − Q_L。捨てる熱 Q_L をゼロにはできない（①で Q_L = Q_H T_L / T_H は正）。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効率｜η = W / Q_H = 1 − Q_L / Q_H = 1 − T_L / T_H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温度の「比」だけで決まる。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上げるには T_H を上げるか T_L を下げるか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しかなく、T_L は環境温度で下げられない。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なぜ熱機関の効率に上限があるのか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エントロピー収支｜可逆サイクルは 1 周で元に戻る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高温 T_H で熱 Q_H を受け、低温 T_L で熱 Q_L を捨てる。1 周でエントロピーが元に戻るには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Q_H / T_H = Q_L / T_L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エネルギー保存｜仕事は受けた熱と捨てた熱の差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W = Q_H − Q_L。捨てる熱 Q_L をゼロにはできない（①で Q_L = Q_H T_L / T_H は正）。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効率｜η = W / Q_H = 1 − Q_L / Q_H = 1 − T_L / T_H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温度の「比」だけで決まる。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上げるには T_H を上げるか T_L を下げるか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しかなく、T_L は環境温度で下げられない。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なぜ熱機関の効率に上限があるのか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エントロピー収支｜可逆サイクルは 1 周で元に戻る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高温 T_H で熱 Q_H を受け、低温 T_L で熱 Q_L を捨てる。1 周でエントロピーが元に戻るには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Q_H / T_H = Q_L / T_L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エネルギー保存｜仕事は受けた熱と捨てた熱の差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W = Q_H − Q_L。捨てる熱 Q_L をゼロにはできない（①で Q_L = Q_H T_L / T_H は正）。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③ 効率｜η = W / Q_H = 1 − Q_L / Q_H = 1 − T_L / T_H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温度の「比」だけで決まる。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上げるには T_H を上げるか T_L を下げるか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しかなく、T_L は環境温度で下げられない。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T–S 図で見る — 面積が熱、差が仕事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読み方｜長方形の上下が T_H と T_L。上の面積を受け、下の面積を捨てる</a:t>
            </a:r>
          </a:p>
        </p:txBody>
      </p:sp>
      <p:pic>
        <p:nvPicPr>
          <p:cNvPr id="4" name="Picture 3" descr="ch01_carnot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4217649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4217649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8625" y="2629725"/>
            <a:ext cx="6456142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① 等温膨張：Q_H = T_H ΔS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③ 等温圧縮：Q_L = T_L ΔS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赤の面積 = 仕事 W = (T_H − T_L) ΔS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η = W/Q_H 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1 − T_L/T_H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灰色（捨てる熱）は T_L に比例して必ず残る。これが「壁」の正体で、温度は必ず絶対温度 [K]。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実機は上限の 6〜7 割で動いている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読み方｜曲線が上限、緑の点が実機。上限を上げる唯一の道は T_H</a:t>
            </a:r>
          </a:p>
        </p:txBody>
      </p:sp>
      <p:pic>
        <p:nvPicPr>
          <p:cNvPr id="4" name="Picture 3" descr="ch01_carno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4945589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672076"/>
            <a:ext cx="4945589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6565" y="2510663"/>
            <a:ext cx="5728202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原子力：T_H 285 °C → 上限 46%、実機 34%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石炭 USC：600 °C → 65%、実機 42%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コンバインド：1,400 °C → 82%、実機 58%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差はタービン以外の損失と所内動力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44846"/>
            <a:ext cx="11057839" cy="863346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44846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371846"/>
            <a:ext cx="10600639" cy="6093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原子力の効率が低いのは技術が劣るからではなく、燃料被覆管の制約で T_H が低いから。CC が 60% に届くのは高温から取るから。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コンバインドサイクルの上限を出す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絶対温度に直す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ガスタービン入口 1,400 °C → 1,673 K。復水器側 30 °C → 303 K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カルノー上限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η_C = 1 − 303/1673 = 0.819。理論上は 82%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石炭火力と比べる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主蒸気 600 °C → 873 K。η_C = 1 − 303/873 = 0.653。上限 65%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実機との比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CC 実機約 58〜63% は上限の 7 割。石炭 USC 42% は上限の 6.4 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結果 — 高温から取るほど壁が遠のく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82%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CC のカルノー上限（1,400 °C）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65%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石炭 USC の上限（600 °C）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46%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原子力の上限（285 °C）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発電方式を「変換の連鎖」で見る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熱を通るか通らないかで、壁の種類が変わる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方式ごとの効率 — 壁は 2 種類ある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読み方｜赤は熱を経由（カルノー上限）、緑は経由しない（別の上限）</a:t>
            </a:r>
          </a:p>
        </p:txBody>
      </p:sp>
      <p:pic>
        <p:nvPicPr>
          <p:cNvPr id="4" name="Picture 3" descr="ch01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578290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578290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9266" y="2312225"/>
            <a:ext cx="5095501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汽力 40〜43%、CC 55〜64%、原子力 33〜35%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水力 80〜90%：位置エネルギーを直接回転に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風力 35〜45%：ベッツの限界 59% が壁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太陽光 15〜22%：バンドギャップが壁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効率の数字だけを並べて優劣を言わない。「どの壁に対して何割か」で技術の成熟度を読む。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水力 — 位置エネルギーの減少率がそのまま出力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1868"/>
            <a:ext cx="11057839" cy="69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r>
                    <ns0:rPr xmlns:ns0="http://schemas.openxmlformats.org/wordprocessingml/2006/main">
                      <ns0:sz ns0:val="68"/>
                      <ns0:szCs ns0:val="68"/>
                    </ns0:rPr>
                    <m:t>P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ρ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g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Q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H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η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1000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×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9.8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×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Q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H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η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 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[</m:t>
                  </m:r>
                  <m:r>
                    <m:rPr>
                      <m:nor/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W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]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9.8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Q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H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η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 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[</m:t>
                  </m:r>
                  <m:r>
                    <m:rPr>
                      <m:nor/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kW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]</m:t>
                  </m:r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2710180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2947924"/>
            <a:ext cx="9525" cy="1755648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29113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ρ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Q</m:t>
                </m:r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29113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単位時間に落ちる水の質量 [kg/s]。ρ = 1000 kg/m³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3685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g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H</m:t>
                </m:r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3685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kg あたりの位置エネルギーの減少 [J/kg]。H は有効落差（損失水頭を引いたもの）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38257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η</m:t>
                </m:r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38257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5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水車 × 発電機の総合効率。0.8〜0.9 と高い。熱を通らない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2829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9.8</m:t>
                </m:r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2829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ρg/1000 の値。単位を kW にするための係数で、覚えるのはこれ 1 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2 — 落差 120 m・流量 8 m³/s の水力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読み方｜出力は落差と流量に比例。直線の傾きが流量</a:t>
            </a:r>
          </a:p>
        </p:txBody>
      </p:sp>
      <p:pic>
        <p:nvPicPr>
          <p:cNvPr id="4" name="Picture 3" descr="ch01_hy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232745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232745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3721" y="2629725"/>
            <a:ext cx="5441046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9.8 × 8 × 120 × 0.85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7,997 kW ≈ 8.0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流量 12 m³/s なら 12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落差を 2 倍にしても 2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同じ 8 MW を火力で出すには燃料 8/0.4 = 20 MW 分の熱が要る。水力の「効率 0.85」の意味はここ。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風と光の上限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熱を通らない方式にも、流体と量子の壁がある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風力 — 風速の 3 乗、そしてパワーカーブ</a:t>
            </a:r>
          </a:p>
        </p:txBody>
      </p:sp>
      <p:pic>
        <p:nvPicPr>
          <p:cNvPr id="3" name="Picture 2" descr="ch01_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4695"/>
            <a:ext cx="11734495" cy="475938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風速が 2 倍になればパワーは 8 倍。裏を返せば、風速の予測が 10% 外れると出力は 33% 外れる。第10回で風力予測が難しいと言うのは、この 3 乗則のことである。　出典｜コード/fig_ch01.py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ベッツの限界（運動量理論）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風を減速させて取り出す｜上流 v₁ → ロータ面 v → 下流 v₂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ロータ面の風速は上下流の平均 v = (v₁ + v₂)/2。減速の割合を a = (v₁ − v)/v₁ とおく（誘導係数）。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ild:ghost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② 取り出す仕事率｜P = 力 × 速度 = ρAv(v₁ − v₂) × v</a:t>
            </a:r>
          </a:p>
        </p:txBody>
      </p:sp>
      <p:sp>
        <p:nvSpPr>
          <p:cNvPr id="7" name="build:ghost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v₂ = v₁(1 − 2a) を代入すると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P = ½ρA v₁³ · 4a(1 − a)²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。C_p(a) = 4a(1 − a)² が「取り出せる割合」。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最大化｜dC_p/da = 0 → a = 1/3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C_p,max = 4 · (1/3) · (2/3)² =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16/27 = 0.593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。風を止めきると（a = 1/2 で v₂ = 0）後ろに空気が流れ込めず、取れる量は減る。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ベッツの限界（運動量理論）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風を減速させて取り出す｜上流 v₁ → ロータ面 v → 下流 v₂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ロータ面の風速は上下流の平均 v = (v₁ + v₂)/2。減速の割合を a = (v₁ − v)/v₁ とおく（誘導係数）。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取り出す仕事率｜P = 力 × 速度 = ρAv(v₁ − v₂) ×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v₂ = v₁(1 − 2a) を代入すると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½ρA v₁³ · 4a(1 − a)²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。C_p(a) = 4a(1 − a)² が「取り出せる割合」。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最大化｜dC_p/da = 0 → a = 1/3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C_p,max = 4 · (1/3) · (2/3)² =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16/27 = 0.593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。風を止めきると（a = 1/2 で v₂ = 0）後ろに空気が流れ込めず、取れる量は減る。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ベッツの限界（運動量理論）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風を減速させて取り出す｜上流 v₁ → ロータ面 v → 下流 v₂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ロータ面の風速は上下流の平均 v = (v₁ + v₂)/2。減速の割合を a = (v₁ − v)/v₁ とおく（誘導係数）。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取り出す仕事率｜P = 力 × 速度 = ρAv(v₁ − v₂) ×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v₂ = v₁(1 − 2a) を代入すると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½ρA v₁³ · 4a(1 − a)²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。C_p(a) = 4a(1 − a)² が「取り出せる割合」。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③ 最大化｜dC_p/da = 0 → a =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C_p,max = 4 · (1/3) · (2/3)² =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16/27 = 0.593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。風を止めきると（a = 1/2 で v₂ = 0）後ろに空気が流れ込めず、取れる量は減る。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C_p は減速 1/3 で最大 0.593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読み方｜横軸はどれだけ風を減速させるか。取りすぎても取らなすぎても損</a:t>
            </a:r>
          </a:p>
        </p:txBody>
      </p:sp>
      <p:pic>
        <p:nvPicPr>
          <p:cNvPr id="4" name="Picture 3" descr="ch01_be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045219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045219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6195" y="2629725"/>
            <a:ext cx="5628572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C_p(a) = 4a(1 − a)²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a = 1/3 で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16/27 = 0.593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実機 0.35〜0.45（緑の帯）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上限の 6〜7 割：火力と同じ到達度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カルノーは「温度の比」、ベッツは「速度の比」。どちらも比が壁を作る。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3 — 風車のパワー係数を実測から逆算する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定格 2.0 MW、直径 90 m。風速 8 m/s のとき 0.85 MW を発電。ρ = 1.225 kg/m³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受風面積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A = π × 90²/4 = 6,362 m²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風のパワー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½ρAv³ = 0.5 × 1.225 × 6,362 × 8³ = 1.995 MW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C_P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C_p = 0.85/1.995 =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0.426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。ベッツ 0.593 の 72%。良い風車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太陽光 — バンドギャップが決める上限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読み方｜Si は 1.12 eV。それ未満の光子は素通り、超えた分は熱になる</a:t>
            </a:r>
          </a:p>
        </p:txBody>
      </p:sp>
      <p:pic>
        <p:nvPicPr>
          <p:cNvPr id="4" name="Picture 3" descr="ch01_pv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486845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486845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7821" y="2629725"/>
            <a:ext cx="5186946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吸収されない（E &lt; E_g）：23%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熱になる（E − E_g）：32%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電気になれる分：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44%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（究極効率）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再結合まで入れると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33.7%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（SQ 限界）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実用セル 20% 前後、モジュール 15〜22%。上限の 6 割で、ここも火力・風力と同じ到達度。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電力品質と単位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電気は「同じ品質で届く」前提で機器が作られている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電力品質の 3 指標 — 電圧・周波数・高調波</a:t>
            </a:r>
          </a:p>
        </p:txBody>
      </p:sp>
      <p:pic>
        <p:nvPicPr>
          <p:cNvPr id="3" name="Picture 2" descr="ch01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43373"/>
            <a:ext cx="11734495" cy="3662034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この例では電圧 101 ± 6 V、周波数 60 ± 0.2 Hz、高調波 THD 5.8%。電圧が下がったらその場所の Q が足りない（第6回）、周波数が下がったら系統全体で P が足りない（第8回）。どちらの話かを取り違えないための最初の区別である。　出典｜コード/fig_ch01.py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品質の基準と、崩れたときに起きること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04212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日本の基準値（低圧・高圧）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3290" y="2752852"/>
          <a:ext cx="8625114" cy="1498600"/>
        </p:xfrm>
        <a:graphic>
          <a:graphicData uri="http://schemas.openxmlformats.org/drawingml/2006/table">
            <a:tbl>
              <a:tblPr/>
              <a:tblGrid>
                <a:gridCol w="998045"/>
                <a:gridCol w="2608379"/>
                <a:gridCol w="2420445"/>
                <a:gridCol w="2598245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指標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基準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崩れると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主な原因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電圧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101 ± 6 V / 202 ± 20 V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焼損・トルク不足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需要変動・逆潮流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周波数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60 ± 0.2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脱調・広域停電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需給バランスの崩れ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高調波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ひずみ率 5% 以下（高圧）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コンデンサ過熱・誤動作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インバータ等の非線形負荷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434332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434332"/>
            <a:ext cx="50800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4535932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電圧は局所量、周波数は系統全体の共通量。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この違いが第6回（電圧）と第8回（周波数）の分かれ目になる。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単位換算 — 桁を体で覚える</a:t>
            </a:r>
          </a:p>
        </p:txBody>
      </p:sp>
      <p:pic>
        <p:nvPicPr>
          <p:cNvPr id="3" name="Picture 2" descr="ch01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37467"/>
            <a:ext cx="11734495" cy="3873845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効率 40% の発電所が 1 kWh を作るには 3.6 ÷ 0.4 = 9 MJ の燃料が要る。効率 60% なら 6 MJ。この差の 3 MJ が、そのまま燃料費と CO₂ の差になる。　出典｜コード/fig_ch01.py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viz/energy.html</a:t>
            </a:r>
          </a:p>
        </p:txBody>
      </p:sp>
      <p:pic>
        <p:nvPicPr>
          <p:cNvPr id="3" name="Picture 2" descr="ch01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カルノー効率・風速の 3 乗則・パワーカーブをブラウザ内で実計算する 13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T_H のスライダを 600 → 1,400 °C に動かし、上限がどう伸びるか見る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風速を 8 → 10 m/s にして、出力が約 2 倍になるのを確かめる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各段の効率を掛けて、総合効率が一番弱い段に引きずられるのを見る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積・絶対温度・壁の種類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248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8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なぜ効率は「積」なのか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59812"/>
            <a:ext cx="11057839" cy="458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60553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変換が直列だから。前段の出力がそのまま次段の入力になる。並列なら足し算、直列なら掛け算。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219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19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なぜ絶対温度なのか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30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575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η_C は温度の「比」で決まる。比が意味を持つのは絶対零度を 0 とする尺度だけ。°C のまま 1 − 30/1400 と計算すると 0.98 になり、物理的に無意味。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43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43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壁は 3 種類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54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00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熱を通る方式はカルノー（温度の比）、流体はベッツ（速度の比）、光はバンドギャップ（光子のエネルギー）。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</a:t>
            </a:r>
          </a:p>
        </p:txBody>
      </p:sp>
      <p:pic>
        <p:nvPicPr>
          <p:cNvPr id="3" name="Picture 2" descr="ch01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原子力の効率が見劣りするのは技術が劣るからではなく、燃料被覆管の制約で T_H を上げられないから。CC が 60% 台に届くのは高温から取れるから。　出典｜コード/fig_ch01.py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効率の上限は技術ではなく物理が決める。上限に対して何割かで技術を評価する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総合効率は各段の積。一番弱い段（熱→回転）が全体を決める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カルノー 1 − T_L/T_H、ベッツ 16/27、SQ 33.7%。実機はどれも上限の 6〜7 割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電圧は場所の量、周波数は系統全体の量（第6回・第8回へ）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次回：第2回 電力システムの構成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ex/ch01.html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 50 万ボルトで運ぶのか — 損失の式から答えを出す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