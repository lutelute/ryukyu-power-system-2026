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2 の最終コマ。第7回の相差角（局所・秒以下）から、周波数（全体・分単位）へ視点を移す。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1 文を最後にもう一度出す。ΔP = KΔF が今日の背骨。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右下の 10 倍が結論。系統の大きさが周波数の安全余裕を決める、という話。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北海道は地震で苫東厚真が停止し、負荷遮断でも支えきれず全域停電、約 295 万戸・復旧 45 時間。英国は落雷を契機に洋上風力とガス火力が続けて脱落し、48.8 Hz まで低下して約 100 万戸が停電した。英国の系統容量と脱落量は概数。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5 行は第8回の全体を先取りしている。ΔP・ΔF・H・ガバナ・LFC・連系線が、あとで順番に式になって出てくる。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%K_G = 10000/(ε F_N) の式をここで導く。ε=5%、60 Hz なら 33.3 %MW/Hz。定格 300 MW なら 100 MW/Hz。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学生に手順 2 と 3 を計算させる。ε = 3% なら何 MW かも聞く。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符号の約束（発電余剰を正）をここで確認。ΔP も ΔF も負になるので K は正。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%K = 1.0 %MW/0.1Hz は容量の 10%/Hz なので、1,500 MW なら 150 MW/Hz。単位換算をここで再確認。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公式を丸暗記した学生は、%K の単位が %MW/Hz で与えられた問題で必ず間違える。定義に戻れば毎回導ける。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沖縄電力の最大ユニットは 250 MW 級。だから「1 台落ちたら」の想定がそのまま設計条件になる。　図の要点：沖縄（K = 150）：250 MW で 58.33 Hz／九州（K = 1,600）：同じ脱落で 59.84 Hz／%K を 1.5 に強化すると 58.89 Hz／UFR 整定 59.0 Hz を割るかが分岐点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速い順に効く。前段が時間を稼ぎ、後段が精度を上げる。LFC = Load Frequency Control（負荷周波数制御）、ELD = Economic Load Dispatch（第14回）。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下の図でガバナの山が下がり LFC が上がる交代を指差す。合計（破線）が 250 MW に収束する。　図の要点：最低点（nadir）58.12 Hz（t = 4.4 s）／ガバナが 10 秒付近でピーク／LFC が徐々に引き継ぐ／5 分後には 59.99 Hz に復帰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UFR = 低周波数リレー。周波数が整定値を割ると需要の一部を切り離して周波数を守る、最後の砦。　図の要点：沖縄は UFR 整定 59.0 Hz を割る／九州は運用範囲に収まる／落ち始めの傾きも沖縄が急／5 分後はどちらも 60 Hz に戻る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試験でも実務でも、この 3 つを取り違えた答案が一番多い。RoCoF は H、最低点は H とガバナの競争、定常偏差は K で決まる。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第7回の動揺方程式そのもの。1 機の H が系統全体の H_sys に変わっただけ。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この区別が重要。H を増やしても定常偏差は変わらない。K を増やさないと最終的な周波数は戻らない。　図の要点：H = 4.5 s：RoCoF −1.11 Hz/s／H = 2.0 s：−2.50 Hz/s（2.3 倍）／最低点も 58.1 → 57.2 Hz へ／定常偏差（K で決まる）は変わらない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学生に手順 1 と 2 を計算させる。九州（S = 16,000 MW）でも同じ計算をさせると差が体感できる。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の逆算が TBC の正体。測れる 2 つの量から、測れないアンバランスを推定している。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AR_A = K_A ΔF + ΔP_T、AR_B = K_B ΔF − ΔP_T。B の AR は 0 になる（B にはアンバランスが無い）。　図の要点：A 単独（K = 30）：1.667 Hz の低下／A + B 連系（K = 80）：0.625 Hz／連系線を 31.2 MW が B → A へ流れる／B が応援している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 制御の一般論。積分ゲインを上げると定常偏差は速く消えるが、位相余裕が減って振動する。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4.xml"/><Relationship Id="rId5" Type="http://schemas.openxmlformats.org/officeDocument/2006/relationships/slide" Target="slide19.xml"/><Relationship Id="rId6" Type="http://schemas.openxmlformats.org/officeDocument/2006/relationships/slide" Target="slide2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周波数は系統の天秤 — 傾きは ΔP ÷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615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4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第8回 受給バランスと周波数制御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9813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2・コマ 8 ／ 教科書 第7章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55320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809240"/>
            <a:ext cx="9997135" cy="1330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発電と消費の食い違い ΔP を、系統の硬さ K で割ったものが周波数のずれ ΔF。沖縄には隣から応援が来ない。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250 MW の発電機が突然止まった。周波数は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どこまで、どれだけ速く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下がるのか。沖縄と九州で何が違うのか。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8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08" y="3561778"/>
            <a:ext cx="2696882" cy="11249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天秤が傾く。傾きが周波数のずれ。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8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992" y="3561778"/>
            <a:ext cx="1641709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1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ΔP = KΔF ▶ 慣性 ▶ ガバナ ▶ LFC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3 段の応答を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積分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する。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10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同じ 250 MW でも、沖縄は九州の 10 倍周波数が動く。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コード（コード/fig_ch08.py）で計算。沖縄 1,500 MW・H = 4.5 s・%K = 1.0 %MW/0.1Hz、60 Hz。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抜けた割合で並べる</a:t>
            </a:r>
          </a:p>
        </p:txBody>
      </p:sp>
      <p:pic>
        <p:nvPicPr>
          <p:cNvPr id="3" name="Picture 2" descr="ch08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9211"/>
            <a:ext cx="11734495" cy="491035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同じ「1 台の脱落」でも、系統の大きさで意味がまったく変わる。沖縄本島で 250 MW が抜けることは、英国で 1,400 MW が抜けるより 3 倍以上きつい事象である。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天秤で考える</a:t>
            </a:r>
          </a:p>
        </p:txBody>
      </p:sp>
      <p:pic>
        <p:nvPicPr>
          <p:cNvPr id="3" name="Picture 2" descr="ch08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たとえ話が崩れる点も押さえておく。本物の周波数は場所によらず系統全体で 1 つの値なので、天秤が何台もあるのではなく、巨大な天秤が 1 台あると考える。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系統定数 K — ΔP = KΔF を作る 3 つの部品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時間応答 — 慣性 → ガバナ → LFC の 3 段ロケット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慣性と RoCoF — 最初の数秒で何が決まるか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連系系統と AR — 応援の式と、応援が無い沖縄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系統定数 K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周波数の「硬さ」はどこから来るか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速度調定率 ε — ガバナの傾き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読み方｜横軸が出力、縦軸が周波数。直線の傾きが「何 Hz で何 MW 動くか」</a:t>
            </a:r>
          </a:p>
        </p:txBody>
      </p:sp>
      <p:pic>
        <p:nvPicPr>
          <p:cNvPr id="4" name="Picture 3" descr="ch08_dr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271011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271011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出典｜コード/fig_ch08.py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1987" y="2470975"/>
            <a:ext cx="5402780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ε は無負荷と全負荷の周波数差の割合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ε = 5%、定格 300 MW なら K_G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100 MW/Hz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0.2 Hz 下がると出力 +20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ε が小さいほど傾きが急＝よく効く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ε が小さすぎると出力が激しく動いて機器を痛める。4〜5% はその妥協点である。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— 速度調定率 5% は何 MW 効くか</a:t>
            </a:r>
          </a:p>
        </p:txBody>
      </p:sp>
      <p:pic>
        <p:nvPicPr>
          <p:cNvPr id="3" name="Picture 2" descr="ch08_example_dr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7" y="713232"/>
            <a:ext cx="10704161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ε が小さいほど K_G は大きく、わずかな周波数変化で出力が大きく動く。4〜5% はその妥協点。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ΔP = KΔF はどこから来るか</a:t>
            </a:r>
          </a:p>
        </p:txBody>
      </p:sp>
      <p:pic>
        <p:nvPicPr>
          <p:cNvPr id="3" name="Picture 2" descr="ch08_deriv_k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7" y="713232"/>
            <a:ext cx="10704161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アンバランスは「発電が増える分」と「負荷が減る分」の合計で受け止められる。その合計の傾きが系統定数 K。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交点が運転点 — 発電特性と負荷特性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読み方｜2 本の直線の交点が周波数。発電特性が左へずれると交点が下がる</a:t>
            </a:r>
          </a:p>
        </p:txBody>
      </p:sp>
      <p:pic>
        <p:nvPicPr>
          <p:cNvPr id="4" name="Picture 3" descr="ch08_inter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456043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45604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出典｜コード/fig_ch08.py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7019" y="2629725"/>
            <a:ext cx="521774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K = K_G + K_L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150 MW/Hz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（沖縄）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事故前は 1,500 MW・60.00 Hz で交わる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250 MW 脱落で線が左へ平行移動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新しい交点は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58.33 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周波数は「発電と消費が釣り合う 1 点」で決まる。天秤の傾きが自然に落ち着く場所である。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単位の約束 — %MW/0.1Hz を MW/Hz に直す</a:t>
            </a:r>
          </a:p>
        </p:txBody>
      </p:sp>
      <p:pic>
        <p:nvPicPr>
          <p:cNvPr id="3" name="Picture 2" descr="ch08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43" y="713232"/>
            <a:ext cx="10298209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%K は「0.1 Hz あたり、容量の何 % が動くか」。100 で割って MW にし、0.1 で割って 1 Hz あたりに直す。その 2 回の割り算が合わさって 10 になる。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ΔF = ΔP / K — 系統の大きさが効く</a:t>
            </a:r>
          </a:p>
        </p:txBody>
      </p:sp>
      <p:pic>
        <p:nvPicPr>
          <p:cNvPr id="3" name="Picture 2" descr="ch08_df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45" y="713232"/>
            <a:ext cx="1150000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直線の傾きの逆数が K である。同じ 250 MW の脱落でも、沖縄（K = 150）は 58.33 Hz、九州（K = 1,600）は 59.84 Hz。沖縄では 250 MW 級の 1 台が系統全体を脅かす。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時間応答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慣性 → ガバナ → LFC の 3 段ロケット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制御の階層 — 変動の周期で分担する</a:t>
            </a:r>
          </a:p>
        </p:txBody>
      </p:sp>
      <p:pic>
        <p:nvPicPr>
          <p:cNvPr id="3" name="Picture 2" descr="ch08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25483"/>
            <a:ext cx="11734495" cy="4697813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どれか 1 つでは足りない。速いが不正確な段と、遅いが正確な段を積み重ねることで、速さと精度の両方を手に入れている。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 段ロケットを積分する</a:t>
            </a:r>
          </a:p>
        </p:txBody>
      </p:sp>
      <p:pic>
        <p:nvPicPr>
          <p:cNvPr id="3" name="Picture 2" descr="ch08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66" y="713232"/>
            <a:ext cx="8940962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下の図で、ガバナの出力増分は 10 秒付近で頭打ちになり、そこから LFC が引き継いで合計を 250 MW まで持ち上げる。ガバナは「止める」装置、LFC は「戻す」装置である。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沖縄と九州 — 同じ事故、違う結末</a:t>
            </a:r>
          </a:p>
        </p:txBody>
      </p:sp>
      <p:pic>
        <p:nvPicPr>
          <p:cNvPr id="3" name="Picture 2" descr="ch08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14003"/>
            <a:ext cx="11734495" cy="4720773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 250 MW 脱落でも、沖縄は UFR 整定 59.0 Hz を割り、九州は運用範囲に収まる。系統が小さいことが、そのまま設計条件の厳しさになる。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 つの時間帯 — 別々の量を混ぜない</a:t>
            </a:r>
          </a:p>
        </p:txBody>
      </p:sp>
      <p:pic>
        <p:nvPicPr>
          <p:cNvPr id="3" name="Picture 2" descr="ch08_time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17" y="713232"/>
            <a:ext cx="10700460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RoCoF は最初の 1 秒、最低点は数秒後、定常偏差は数十秒後の話。「どれが何 Hz か」を答える前に、どの時間帯を聞かれているかを確かめる。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最初の数秒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落ち方の速さは慣性が決める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RoCoF — 制御が動く前の落ち方</a:t>
            </a:r>
          </a:p>
        </p:txBody>
      </p:sp>
      <p:pic>
        <p:nvPicPr>
          <p:cNvPr id="3" name="Picture 2" descr="ch08_eq_roc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1" y="713232"/>
            <a:ext cx="1066093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分母に慣性 H がある。同じ ΔP でも、回転体の運動エネルギーが少ない系統ほど周波数は速く落ちる。第7回の動揺方程式を系統全体に広げた形である。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慣性が減ると、速く深く落ちる</a:t>
            </a:r>
          </a:p>
        </p:txBody>
      </p:sp>
      <p:pic>
        <p:nvPicPr>
          <p:cNvPr id="3" name="Picture 2" descr="ch08_roc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8482"/>
            <a:ext cx="11734495" cy="44918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H を 4.5 s から 2.0 s に下げると RoCoF は 2.3 倍速くなり、最低点も 58.1 Hz から 57.2 Hz へ深くなる。それでも定常偏差は動かない。そこは K の担当である。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— 250 MW が脱落したら何が起きるか</a:t>
            </a:r>
          </a:p>
        </p:txBody>
      </p:sp>
      <p:pic>
        <p:nvPicPr>
          <p:cNvPr id="3" name="Picture 2" descr="ch08_example_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7" y="713232"/>
            <a:ext cx="10704161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定常値と落ち方の速さは別の式で決まる。両方を出して初めて「危ないか」が言える。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連系と地域要求量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応援の式、そして応援が無い系統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連系系統の周波数と潮流</a:t>
            </a:r>
          </a:p>
        </p:txBody>
      </p:sp>
      <p:pic>
        <p:nvPicPr>
          <p:cNvPr id="3" name="Picture 2" descr="ch08_deriv_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7" y="713232"/>
            <a:ext cx="10704161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周波数は系統全体で 1 つ、という事実が「足すと連系線が消える」という形で式に表れている。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連系の効き目 — 2.7 分の 1 に</a:t>
            </a:r>
          </a:p>
        </p:txBody>
      </p:sp>
      <p:pic>
        <p:nvPicPr>
          <p:cNvPr id="3" name="Picture 2" descr="ch08_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6475"/>
            <a:ext cx="11734495" cy="449583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A 系統で 50 MW の負荷が増えたとき、単独なら 1.667 Hz 下がるが、B 系統と連系していれば 0.625 Hz で済む。連系線は「周波数の応援線」で、沖縄本島にはこれが無い。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LFC の積分ゲイン — 大きすぎても小さすぎても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読み方｜β は「偏差をどれだけ急いで消すか」。行き過ぎると振動する</a:t>
            </a:r>
          </a:p>
        </p:txBody>
      </p:sp>
      <p:pic>
        <p:nvPicPr>
          <p:cNvPr id="4" name="Picture 3" descr="ch08_lfc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762221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762221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出典｜コード/fig_ch08.py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3197" y="2629725"/>
            <a:ext cx="4911570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β 小：戻りが遅く偏差が長く残る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β 適正：滑らかに 60 Hz へ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β 大：行き過ぎて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振動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教科書 例題7.3 の主張と同じ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制御ゲインは速さと安定性のトレードオフ。ここは制御工学そのもので、系統に固有の話ではない。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viz/freq.html</a:t>
            </a:r>
          </a:p>
        </p:txBody>
      </p:sp>
      <p:pic>
        <p:nvPicPr>
          <p:cNvPr id="3" name="Picture 2" descr="ch08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沖縄と九州の周波数応答、慣性・ガバナ・LFC の 3 段をブラウザ内で実計算する 14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沖縄と九州を切り替え、同じ 250 MW 脱落で ΔF が約 10 倍違うのを見る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慣性 H を 4.5 → 2.5 s に下げ、最初の 1 秒の落ち方が速くなるのを見る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連系スライダで K_B を増やし、連系線潮流 ΔP_T と AR の符号を読む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単位・符号・役割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%MW/0.1Hz 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運用で扱う周波数偏差は 0.1 Hz 程度。1 Hz 基準だと現場の数字が小さくなりすぎる。K [MW/Hz] = %K × S / 10 と覚える。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なぜ「発電余剰を正」にするのか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ΔP と ΔF の符号が揃い、ΔP = KΔF の K が正の定数になる。発電機脱落は ΔP が負、周波数低下も負で、式が 1 本で済む。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H と K は役割が違う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H は落ち方の速さと最低点、K は最終的にどこで止まるか。両方が要る。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 — 3 つとも「いつの話か」の取り違え</a:t>
            </a:r>
          </a:p>
        </p:txBody>
      </p:sp>
      <p:pic>
        <p:nvPicPr>
          <p:cNvPr id="3" name="Picture 2" descr="ch08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試験でも実務でも、この 3 つが最も多い。問題文を読んだら、まず「RoCoF・最低点・定常偏差のどれを聞かれているか」を確かめる習慣をつける。　出典｜コード/fig_ch08.py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周波数のずれは ΔP ÷ K。小さい系統・少ない慣性ほど、同じ事故で大きく速く落ちる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K = %K × S / 10 [MW/Hz]。単位の 10 倍の罠に注意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慣性 → ガバナ → LFC の順に効く。RoCoF は H に反比例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連系線は周波数の応援線。沖縄は自分の K と H だけで守る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次回：第9回 インバータと系統連系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ex/ch08.html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慣性を持たない電源が増えたとき、何が肩代わりするのか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