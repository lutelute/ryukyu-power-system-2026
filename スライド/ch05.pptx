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第4回で立てた非線形方程式を「どう解くか」の回。目的は 2 つ。(1) 接線で跳ぶ＝ヤコビアンで割る、を 1 変数から多変数へ同じ形で見せる。(2) 「4 回で収束する」「収束しない＝解が無い」という数字の感覚を持ち帰る。90 分で 4 章、例題 3 つ。</a:t>
            </a:r>
          </a:p>
          <a:p/>
          <a:p>
            <a:r>
              <a:t>_class: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 1 文を最後にもう一度見せる。「接線」「ヤコビアン」「3〜5 回」の 3 語がキーワード。</a:t>
            </a:r>
          </a:p>
          <a:p/>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右下の「4 回」が今日の結論。左の図は例題 1、右の図は IEEE 14 母線のヤコビアンで、Ⅱ章で戻ってくる。</a:t>
            </a:r>
          </a:p>
          <a:p/>
          <a:p>
            <a:r>
              <a:t>_class: graphical-abstract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今日は「どう解くか」だけでなく「なぜ解けないことがあるか」まで押さえる。Ⅳ章の Q 限界の図で、負荷 2.5 倍から先は本当に解が無くなるのを見せる。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 5 行は今日の内容を先取りしている。ヤコビアン・2 次収束・ガウス・ザイデル法・フラットスタートが、あとで順番に出てくる。Ⅳ章の初期値の図で「隣の谷」を実際に見せる。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agenda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母線・無損失・V = 1・X = 0.2 で P = 0.8 を送る問題。学生に θ₁ = 0.16 を暗算させる。「なぜ 1 回目でほぼ当たるのか」→ sin θ ≈ θ だから。θ₀ → θ₁ → θ₂ の数値と誤差の推移は図にそのまま示されている。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段階開示。①で「接線＝1 次で打ち切る」を強調。②は板書で x* を代入して見せると納得が早い。③で「母線数が出てこない」を言い切る。ここが GS との決定的な差。</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段階開示。①で「接線＝1 次で打ち切る」を強調。②は板書で x* を代入して見せると納得が早い。③で「母線数が出てこない」を言い切る。ここが GS との決定的な差。</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段階開示。①で「接線＝1 次で打ち切る」を強調。②は板書で x* を代入して見せると納得が早い。③で「母線数が出てこない」を言い切る。ここが GS との決定的な差。</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母線系統（Ⅱ章）の実測値で描いている。GS の ρ ≈ 0.2。「傾き 1 の直線を伸ばして 10⁻¹⁶ に届くには何回か」と聞く → 約 23 回。</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手を動かす 3 分。学生に 2 と 3 を計算させる。「f′ をずっと 5 のままにしたら？」→ 収束はするが 1 次になる（これが後の高速デカップル法の考え方）。</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「桁が倍々」は覚えて帰ってほしい言葉。3 回目で 10⁻¹⁶、つまり倍精度の限界に届く。</a:t>
            </a:r>
          </a:p>
          <a:p/>
          <a:p>
            <a:r>
              <a:t>_class: kpi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系統は viz/newton.html と同じ（x₁₂ = 0.06、x₁₃ = 0.24、x₂₃ = 0.18、P₂ = 0.5、P₃ = −1.0、Q₃ = −0.4）。判定はどちらも「最大ミスマッチ &lt; 10⁻⁸」に揃えてある。GS は母線数に比例して回数が増える、NR は増えない、を次の導出につなぐ。</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段階開示。②は 1 つだけ板書で微分して見せ、残りは「同じ手順」と言う。③の「P_i, Q_i で書ける」が実装上の要点で、例題 2 で H₂₂ = 21.17 を実際に出す。</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段階開示。②は 1 つだけ板書で微分して見せ、残りは「同じ手順」と言う。③の「P_i, Q_i で書ける」が実装上の要点で、例題 2 で H₂₂ = 21.17 を実際に出す。</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段階開示。②は 1 つだけ板書で微分して見せ、残りは「同じ手順」と言う。③の「P_i, Q_i で書ける」が実装上の要点で、例題 2 で H₂₂ = 21.17 を実際に出す。</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変数の f′Δx = −f と同じ形であることを指差す。左辺の符号：ミスマッチ = spec − calc = −f なので、JΔx = −f がそのまま JΔx = Δf になる。</a:t>
            </a:r>
          </a:p>
          <a:p/>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Y_bus と同じ疎らさ（線路が無い所は 0）。1,000 母線なら 2,000×2,000 で非零は 1% 未満になり、疎行列 LU 分解が必須になる。ノルムは Frobenius ノルム。</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3 の H₂₂ を計算させる（B₂₂ = −19.95 は第4回の Y_bus）。1 回目でほぼ答え（−4.84° vs −5.12°）に届き、あとは桁を詰めるだけ、が 2 次収束の見え方。</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母線でこの差。100 母線なら GS は 100 回以上、NR は 4〜5 回のまま。GS が今も残っているのは「NR の初期値づくり」用途。</a:t>
            </a:r>
          </a:p>
          <a:p/>
          <a:p>
            <a:r>
              <a:t>_class: kpi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 3 母線系統は X/R = 3 で「X ≫ R」が弱いので ‖M‖/‖L‖ が 0.56 と大きめ。M は G cos θ の項を含み、R が効く。「なぜ N の方が先に小さくなるか」→ N の対角は P_i + G_ii V² で、P₂ = 0.5 と G の項が打ち消し合う偶然もある、と正直に言う。</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ΔP/V = B′Δθ、ΔQ/V = B″ΔV の 2 本に分かれるので行列の大きさも半分。「1 変数で f′ を 5 に固定したら」の多変数版。Stott（1974）の XB 型。配電系統では使えない、を必ず添える。</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2 を計算させる。「H₂₂ = 21.17 と B′₂₂ = 22.22 の差はどこから」→ R の分（1/x と Im(1/z) の差）と Q₂ の分。差が小さいから近似で置き換えても跳ぶ方向は狂わない。</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 をゆるくすれば速い」は GS には効くが NR にはほぼ効かない。ε = 10⁻⁶ p.u. = 100 MVA 基準で 100 W。線路潮流を MW 単位で読むなら十分。</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左図で f′ = 0（接線が水平）の点から出ると跳び先が無限遠に飛ぶ。右図の黒は「収束しない」と「別の解（低電圧解）に着く」の両方。潮流方程式には解が複数あり、V₃ が 0.3 のような解も数学的には存在する。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右図の先、負荷 2.5 倍あたりで NR が収束しなくなる。これが冒頭の事例「収束しない＝解が無い」の正体で、第6回の PV カーブの鼻先につながる。Q_max = 0.30 p.u. の発電機は負荷 1.9 倍で上限に達して PQ 母線に切り替わり、V₂ は 1.02 から下がり続けて 2.4 倍で 0.982、2.5 倍でついに解が無くなる。切り戻し（PQ → PV）も必要、を添える。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「高速デカップル法は 2 次収束か」と聞かれたら 1 次（近似したヤコビアンを使うので）。ただし比率が小さいので 10〜20 回で済む。</a:t>
            </a:r>
          </a:p>
          <a:p/>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 ex/ch05.html は学籍番号で系統の数値が変わる。手計算の例題 2 と同じ手順で 1 反復させる。</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つとも「今日の図のどれで見たか」を指差して振り返る。2 次＝図 2・3、分離＝図 4・5、Q 限界＝図 8。</a:t>
            </a:r>
          </a:p>
          <a:p/>
          <a:p>
            <a:r>
              <a:t>_class: blocks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つ目が実務で一番大事。バグを疑う前に、負荷を 0.8 倍にして解けるか試す。解けるなら解が無い側、解けないならデータかコード。</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最初の statement をもう一度読む。次回は pandapower に解かせ、自作 NR と照合するところから始める。</a:t>
            </a:r>
          </a:p>
          <a:p/>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7.xml"/><Relationship Id="rId4" Type="http://schemas.openxmlformats.org/officeDocument/2006/relationships/slide" Target="slide15.xml"/><Relationship Id="rId5" Type="http://schemas.openxmlformats.org/officeDocument/2006/relationships/slide" Target="slide24.xml"/><Relationship Id="rId6" Type="http://schemas.openxmlformats.org/officeDocument/2006/relationships/slide" Target="slide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TextBox 1"/>
          <p:cNvSpPr txBox="1"/>
          <p:nvPr/>
        </p:nvSpPr>
        <p:spPr>
          <a:xfrm>
            <a:off x="914400" y="2331720"/>
            <a:ext cx="10362895" cy="237744"/>
          </a:xfrm>
          <a:prstGeom prst="rect">
            <a:avLst/>
          </a:prstGeom>
          <a:noFill/>
        </p:spPr>
        <p:txBody>
          <a:bodyPr wrap="none" lIns="0" rIns="0" tIns="0" bIns="0">
            <a:noAutofit/>
          </a:bodyPr>
          <a:lstStyle/>
          <a:p>
            <a:pPr algn="ctr">
              <a:defRPr sz="1200" b="1">
                <a:solidFill>
                  <a:srgbClr val="FFFFFF"/>
                </a:solidFill>
                <a:latin typeface="Avenir Next"/>
                <a:ea typeface="Hiragino Sans"/>
                <a:cs typeface="Hiragino Sans"/>
              </a:defRPr>
            </a:pPr>
            <a:r>
              <a:rPr spc="40">
                <a:ea typeface="Hiragino Sans"/>
                <a:cs typeface="Hiragino Sans"/>
              </a:rPr>
              <a:t>非線形を「接線で」解く — ニュートン・ラフソン法</a:t>
            </a:r>
          </a:p>
        </p:txBody>
      </p:sp>
      <p:sp>
        <p:nvSpPr>
          <p:cNvPr id="3" name="Rectangle 2"/>
          <p:cNvSpPr/>
          <p:nvPr/>
        </p:nvSpPr>
        <p:spPr>
          <a:xfrm>
            <a:off x="5592927" y="2889504"/>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54096"/>
            <a:ext cx="10728655" cy="1817370"/>
          </a:xfrm>
          <a:prstGeom prst="rect">
            <a:avLst/>
          </a:prstGeom>
          <a:noFill/>
        </p:spPr>
        <p:txBody>
          <a:bodyPr wrap="square" lIns="0" rIns="0" tIns="0" bIns="0" anchor="t">
            <a:noAutofit/>
          </a:bodyPr>
          <a:lstStyle/>
          <a:p>
            <a:pPr algn="ctr">
              <a:lnSpc>
                <a:spcPct val="106000"/>
              </a:lnSpc>
              <a:defRPr sz="5400" b="1">
                <a:solidFill>
                  <a:srgbClr val="FFFFFF"/>
                </a:solidFill>
                <a:latin typeface="Avenir Next"/>
                <a:ea typeface="Hiragino Sans"/>
                <a:cs typeface="Hiragino Sans"/>
              </a:defRPr>
            </a:pPr>
            <a:r>
              <a:rPr>
                <a:ea typeface="Hiragino Sans"/>
                <a:cs typeface="Hiragino Sans"/>
              </a:rPr>
              <a:t>第5回 潮流計算の理論（2）</a:t>
            </a:r>
          </a:p>
        </p:txBody>
      </p:sp>
      <p:sp>
        <p:nvSpPr>
          <p:cNvPr id="5" name="TextBox 4"/>
          <p:cNvSpPr txBox="1"/>
          <p:nvPr/>
        </p:nvSpPr>
        <p:spPr>
          <a:xfrm>
            <a:off x="1097280" y="5100066"/>
            <a:ext cx="9997135" cy="868680"/>
          </a:xfrm>
          <a:prstGeom prst="rect">
            <a:avLst/>
          </a:prstGeom>
          <a:noFill/>
        </p:spPr>
        <p:txBody>
          <a:bodyPr wrap="square" lIns="0" rIns="0" tIns="0" bIns="0">
            <a:noAutofit/>
          </a:bodyPr>
          <a:lstStyle/>
          <a:p>
            <a:pPr algn="ctr"/>
            <a:r>
              <a:rPr sz="1800">
                <a:solidFill>
                  <a:srgbClr val="EBE0DF"/>
                </a:solidFill>
                <a:latin typeface="Avenir Next"/>
                <a:ea typeface="Hiragino Sans"/>
                <a:cs typeface="Hiragino Sans"/>
              </a:rPr>
              <a:t>重信颯人（福井大学）／ Day 2・コマ 5 ／ 教科書 第4章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330958"/>
            <a:ext cx="91440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586990"/>
            <a:ext cx="9997135" cy="177546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潮流方程式は非線形だが、今いる点で接線を引いて交点へ跳ぶことを繰り返せば、3〜5 回で解に着く。跳ぶ方向を決めるのがヤコビアン。</a:t>
            </a:r>
          </a:p>
        </p:txBody>
      </p:sp>
      <p:sp>
        <p:nvSpPr>
          <p:cNvPr id="4" name="TextBox 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一枚で｜問い → 課題 → 道具 → 到達点</a:t>
            </a:r>
          </a:p>
        </p:txBody>
      </p:sp>
      <p:sp>
        <p:nvSpPr>
          <p:cNvPr id="4" name="Rounded Rectangle 3"/>
          <p:cNvSpPr/>
          <p:nvPr/>
        </p:nvSpPr>
        <p:spPr>
          <a:xfrm>
            <a:off x="566928" y="1729232"/>
            <a:ext cx="11057839" cy="14380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4728" y="1907032"/>
            <a:ext cx="10702239"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問い</a:t>
            </a:r>
          </a:p>
        </p:txBody>
      </p:sp>
      <p:sp>
        <p:nvSpPr>
          <p:cNvPr id="6" name="TextBox 5"/>
          <p:cNvSpPr txBox="1"/>
          <p:nvPr/>
        </p:nvSpPr>
        <p:spPr>
          <a:xfrm>
            <a:off x="744728" y="2268728"/>
            <a:ext cx="10702239" cy="7207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潮流方程式は非線形で一発では解けない。</a:t>
            </a:r>
            <a:r>
              <a:rPr sz="1500" b="1">
                <a:solidFill>
                  <a:srgbClr val="33221E"/>
                </a:solidFill>
                <a:latin typeface="Avenir Next"/>
                <a:ea typeface="Hiragino Sans"/>
                <a:cs typeface="Hiragino Sans"/>
              </a:rPr>
              <a:t>何回反復すれば</a:t>
            </a:r>
            <a:r>
              <a:rPr sz="1500">
                <a:solidFill>
                  <a:srgbClr val="33221E"/>
                </a:solidFill>
                <a:latin typeface="Avenir Next"/>
                <a:ea typeface="Hiragino Sans"/>
                <a:cs typeface="Hiragino Sans"/>
              </a:rPr>
              <a:t>解けるのか。1,000 母線なら 1,000 回か。そして「解けない」とき何が起きているのか。</a:t>
            </a:r>
          </a:p>
        </p:txBody>
      </p:sp>
      <p:sp>
        <p:nvSpPr>
          <p:cNvPr id="7" name="Rounded Rectangle 6"/>
          <p:cNvSpPr/>
          <p:nvPr/>
        </p:nvSpPr>
        <p:spPr>
          <a:xfrm>
            <a:off x="566928" y="3331845"/>
            <a:ext cx="3082442" cy="2304161"/>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4728" y="3509645"/>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課題</a:t>
            </a:r>
          </a:p>
        </p:txBody>
      </p:sp>
      <p:pic>
        <p:nvPicPr>
          <p:cNvPr id="9" name="Picture 8" descr="ch05_newton1d.png"/>
          <p:cNvPicPr>
            <a:picLocks noChangeAspect="1"/>
          </p:cNvPicPr>
          <p:nvPr/>
        </p:nvPicPr>
        <p:blipFill>
          <a:blip r:embed="rId2"/>
          <a:stretch>
            <a:fillRect/>
          </a:stretch>
        </p:blipFill>
        <p:spPr>
          <a:xfrm>
            <a:off x="1111028" y="3871341"/>
            <a:ext cx="1994241" cy="815340"/>
          </a:xfrm>
          <a:prstGeom prst="rect">
            <a:avLst/>
          </a:prstGeom>
        </p:spPr>
      </p:pic>
      <p:sp>
        <p:nvSpPr>
          <p:cNvPr id="10" name="TextBox 9"/>
          <p:cNvSpPr txBox="1"/>
          <p:nvPr/>
        </p:nvSpPr>
        <p:spPr>
          <a:xfrm>
            <a:off x="744728" y="4762881"/>
            <a:ext cx="2726842"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接線を引いて 0 の点へ跳ぶ。</a:t>
            </a:r>
            <a:r>
              <a:rPr sz="1500" b="1">
                <a:solidFill>
                  <a:srgbClr val="33221E"/>
                </a:solidFill>
                <a:latin typeface="Avenir Next"/>
                <a:ea typeface="Hiragino Sans"/>
                <a:cs typeface="Hiragino Sans"/>
              </a:rPr>
              <a:t>2 回で 5 桁</a:t>
            </a:r>
            <a:r>
              <a:rPr sz="1500">
                <a:solidFill>
                  <a:srgbClr val="33221E"/>
                </a:solidFill>
                <a:latin typeface="Avenir Next"/>
                <a:ea typeface="Hiragino Sans"/>
                <a:cs typeface="Hiragino Sans"/>
              </a:rPr>
              <a:t>合う。</a:t>
            </a:r>
          </a:p>
        </p:txBody>
      </p:sp>
      <p:sp>
        <p:nvSpPr>
          <p:cNvPr id="11" name="Chevron 10"/>
          <p:cNvSpPr/>
          <p:nvPr/>
        </p:nvSpPr>
        <p:spPr>
          <a:xfrm>
            <a:off x="3850538" y="4280725"/>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4626" y="3331845"/>
            <a:ext cx="3082442" cy="2304161"/>
          </a:xfrm>
          <a:prstGeom prst="roundRect">
            <a:avLst>
              <a:gd name="adj" fmla="val 3500"/>
            </a:avLst>
          </a:prstGeom>
          <a:solidFill>
            <a:srgbClr val="F3EFE3"/>
          </a:solidFill>
          <a:ln w="19050">
            <a:solidFill>
              <a:srgbClr val="B85042"/>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2426" y="3509645"/>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道具</a:t>
            </a:r>
          </a:p>
        </p:txBody>
      </p:sp>
      <p:pic>
        <p:nvPicPr>
          <p:cNvPr id="14" name="Picture 13" descr="ch05_jacobian_blocks.png"/>
          <p:cNvPicPr>
            <a:picLocks noChangeAspect="1"/>
          </p:cNvPicPr>
          <p:nvPr/>
        </p:nvPicPr>
        <p:blipFill>
          <a:blip r:embed="rId3"/>
          <a:stretch>
            <a:fillRect/>
          </a:stretch>
        </p:blipFill>
        <p:spPr>
          <a:xfrm>
            <a:off x="5616205" y="3871341"/>
            <a:ext cx="959283" cy="667703"/>
          </a:xfrm>
          <a:prstGeom prst="rect">
            <a:avLst/>
          </a:prstGeom>
        </p:spPr>
      </p:pic>
      <p:sp>
        <p:nvSpPr>
          <p:cNvPr id="15" name="TextBox 14"/>
          <p:cNvSpPr txBox="1"/>
          <p:nvPr/>
        </p:nvSpPr>
        <p:spPr>
          <a:xfrm>
            <a:off x="4732426" y="4615244"/>
            <a:ext cx="2726842" cy="411480"/>
          </a:xfrm>
          <a:prstGeom prst="rect">
            <a:avLst/>
          </a:prstGeom>
          <a:noFill/>
        </p:spPr>
        <p:txBody>
          <a:bodyPr wrap="none" lIns="0" rIns="0" tIns="0" bIns="0">
            <a:noAutofit/>
          </a:bodyPr>
          <a:lstStyle/>
          <a:p>
            <a:pPr algn="ctr"/>
            <a:r>
              <a:rPr sz="1050" b="1">
                <a:solidFill>
                  <a:srgbClr val="33221E"/>
                </a:solidFill>
                <a:latin typeface="Avenir Next"/>
                <a:ea typeface="Hiragino Sans"/>
                <a:cs typeface="Hiragino Sans"/>
              </a:rPr>
              <a:t>テイラー展開 ▶ ヤコビアン ▶ 2 次収束</a:t>
            </a:r>
          </a:p>
        </p:txBody>
      </p:sp>
      <p:sp>
        <p:nvSpPr>
          <p:cNvPr id="16" name="TextBox 15"/>
          <p:cNvSpPr txBox="1"/>
          <p:nvPr/>
        </p:nvSpPr>
        <p:spPr>
          <a:xfrm>
            <a:off x="4732426" y="5072444"/>
            <a:ext cx="2726842"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跳ぶ方向 J を </a:t>
            </a:r>
            <a:r>
              <a:rPr sz="1500">
                <a:solidFill>
                  <a:srgbClr val="33221E"/>
                </a:solidFill>
                <a:highlight>
                  <a:srgbClr val="EBCECA"/>
                </a:highlight>
                <a:latin typeface="Avenir Next"/>
                <a:ea typeface="Hiragino Sans"/>
                <a:cs typeface="Hiragino Sans"/>
              </a:rPr>
              <a:t>導出</a:t>
            </a:r>
            <a:r>
              <a:rPr sz="1500">
                <a:solidFill>
                  <a:srgbClr val="33221E"/>
                </a:solidFill>
                <a:latin typeface="Avenir Next"/>
                <a:ea typeface="Hiragino Sans"/>
                <a:cs typeface="Hiragino Sans"/>
              </a:rPr>
              <a:t> する。</a:t>
            </a:r>
          </a:p>
        </p:txBody>
      </p:sp>
      <p:sp>
        <p:nvSpPr>
          <p:cNvPr id="17" name="Chevron 16"/>
          <p:cNvSpPr/>
          <p:nvPr/>
        </p:nvSpPr>
        <p:spPr>
          <a:xfrm>
            <a:off x="7838236" y="4280725"/>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2324" y="3331845"/>
            <a:ext cx="3082442" cy="2304161"/>
          </a:xfrm>
          <a:prstGeom prst="roundRect">
            <a:avLst>
              <a:gd name="adj" fmla="val 3500"/>
            </a:avLst>
          </a:prstGeom>
          <a:solidFill>
            <a:srgbClr val="7C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0124" y="3509645"/>
            <a:ext cx="2726842" cy="310896"/>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到達点</a:t>
            </a:r>
          </a:p>
        </p:txBody>
      </p:sp>
      <p:sp>
        <p:nvSpPr>
          <p:cNvPr id="20" name="TextBox 19"/>
          <p:cNvSpPr txBox="1"/>
          <p:nvPr/>
        </p:nvSpPr>
        <p:spPr>
          <a:xfrm>
            <a:off x="8720124" y="3871341"/>
            <a:ext cx="2726842" cy="803274"/>
          </a:xfrm>
          <a:prstGeom prst="rect">
            <a:avLst/>
          </a:prstGeom>
          <a:noFill/>
        </p:spPr>
        <p:txBody>
          <a:bodyPr wrap="none" lIns="0" rIns="0" tIns="0" bIns="0">
            <a:noAutofit/>
          </a:bodyPr>
          <a:lstStyle/>
          <a:p>
            <a:pPr algn="ctr">
              <a:defRPr sz="5059" b="1">
                <a:solidFill>
                  <a:srgbClr val="FFFFFF"/>
                </a:solidFill>
                <a:latin typeface="Avenir Next"/>
                <a:ea typeface="Hiragino Sans"/>
                <a:cs typeface="Hiragino Sans"/>
              </a:defRPr>
            </a:pPr>
            <a:r>
              <a:rPr>
                <a:ea typeface="Hiragino Sans"/>
                <a:cs typeface="Hiragino Sans"/>
              </a:rPr>
              <a:t>4回</a:t>
            </a:r>
          </a:p>
        </p:txBody>
      </p:sp>
      <p:sp>
        <p:nvSpPr>
          <p:cNvPr id="21" name="TextBox 20"/>
          <p:cNvSpPr txBox="1"/>
          <p:nvPr/>
        </p:nvSpPr>
        <p:spPr>
          <a:xfrm>
            <a:off x="8720124" y="4674615"/>
            <a:ext cx="2726842" cy="783591"/>
          </a:xfrm>
          <a:prstGeom prst="rect">
            <a:avLst/>
          </a:prstGeom>
          <a:noFill/>
        </p:spPr>
        <p:txBody>
          <a:bodyPr wrap="square" lIns="0" rIns="0" tIns="0" bIns="0">
            <a:noAutofit/>
          </a:bodyPr>
          <a:lstStyle/>
          <a:p>
            <a:pPr>
              <a:lnSpc>
                <a:spcPct val="130000"/>
              </a:lnSpc>
            </a:pPr>
            <a:r>
              <a:rPr sz="1500">
                <a:solidFill>
                  <a:srgbClr val="EBE0DF"/>
                </a:solidFill>
                <a:latin typeface="Avenir Next"/>
                <a:ea typeface="Hiragino Sans"/>
                <a:cs typeface="Hiragino Sans"/>
              </a:rPr>
              <a:t>NR 法は規模によらず 3〜5 回。GS 法は 13 回。</a:t>
            </a:r>
          </a:p>
        </p:txBody>
      </p:sp>
      <p:sp>
        <p:nvSpPr>
          <p:cNvPr id="22" name="TextBox 21"/>
          <p:cNvSpPr txBox="1"/>
          <p:nvPr/>
        </p:nvSpPr>
        <p:spPr>
          <a:xfrm>
            <a:off x="566928" y="5745734"/>
            <a:ext cx="11057839" cy="42646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数値はすべて本資料の Python コード（コード/fig_ch05.py）で計算。3 母線系統は viz/newton.html と同じ。</a:t>
            </a:r>
          </a:p>
        </p:txBody>
      </p:sp>
      <p:sp>
        <p:nvSpPr>
          <p:cNvPr id="23" name="TextBox 22"/>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現場で起きたこと — 「解けない」は危険信号</a:t>
            </a:r>
          </a:p>
        </p:txBody>
      </p:sp>
      <p:sp>
        <p:nvSpPr>
          <p:cNvPr id="3" name="TextBox 2"/>
          <p:cNvSpPr txBox="1"/>
          <p:nvPr/>
        </p:nvSpPr>
        <p:spPr>
          <a:xfrm>
            <a:off x="566928" y="2423954"/>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収束しない潮流計算</a:t>
            </a:r>
          </a:p>
        </p:txBody>
      </p:sp>
      <p:sp>
        <p:nvSpPr>
          <p:cNvPr id="4" name="TextBox 3"/>
          <p:cNvSpPr txBox="1"/>
          <p:nvPr/>
        </p:nvSpPr>
        <p:spPr>
          <a:xfrm>
            <a:off x="822960" y="2716054"/>
            <a:ext cx="10801807" cy="1004887"/>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運用の現場では、潮流計算が収束しないことを </a:t>
            </a:r>
            <a:r>
              <a:rPr sz="1500">
                <a:solidFill>
                  <a:srgbClr val="33221E"/>
                </a:solidFill>
                <a:highlight>
                  <a:srgbClr val="EBCECA"/>
                </a:highlight>
                <a:latin typeface="Avenir Next"/>
                <a:ea typeface="Hiragino Sans"/>
                <a:cs typeface="Hiragino Sans"/>
              </a:rPr>
              <a:t>電圧安定限界の兆候</a:t>
            </a:r>
            <a:r>
              <a:rPr sz="1500">
                <a:solidFill>
                  <a:srgbClr val="33221E"/>
                </a:solidFill>
                <a:latin typeface="Avenir Next"/>
                <a:ea typeface="Hiragino Sans"/>
                <a:cs typeface="Hiragino Sans"/>
              </a:rPr>
              <a:t> として扱う。解が「見つからない」のではなく「存在しない」状態に近づいている。2003 年北米大停電の調査でも、状態推定が収束せず運用者が系統の状態を把握できない時間帯があった。</a:t>
            </a:r>
          </a:p>
        </p:txBody>
      </p:sp>
      <p:sp>
        <p:nvSpPr>
          <p:cNvPr id="5" name="Rectangle 4"/>
          <p:cNvSpPr/>
          <p:nvPr/>
        </p:nvSpPr>
        <p:spPr>
          <a:xfrm>
            <a:off x="566928" y="3872833"/>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050125"/>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EMS は毎分、何百回も解く</a:t>
            </a:r>
          </a:p>
        </p:txBody>
      </p:sp>
      <p:sp>
        <p:nvSpPr>
          <p:cNvPr id="7" name="TextBox 6"/>
          <p:cNvSpPr txBox="1"/>
          <p:nvPr/>
        </p:nvSpPr>
        <p:spPr>
          <a:xfrm>
            <a:off x="822960" y="4342225"/>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中央給電の計算機は数分ごとに潮流を回し、想定事故（N-1）を数百ケース評価する。高速デカップル法や直流法が使われるのは、この回数をこなすため。「速さ」は実務では品質の一部。</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たとえ話 — 霧の坂道を谷底へ下りる</a:t>
            </a:r>
          </a:p>
        </p:txBody>
      </p:sp>
      <p:pic>
        <p:nvPicPr>
          <p:cNvPr id="3" name="Picture 2" descr="ch05_analogy.png"/>
          <p:cNvPicPr>
            <a:picLocks noChangeAspect="1"/>
          </p:cNvPicPr>
          <p:nvPr/>
        </p:nvPicPr>
        <p:blipFill>
          <a:blip r:embed="rId2"/>
          <a:stretch>
            <a:fillRect/>
          </a:stretch>
        </p:blipFill>
        <p:spPr>
          <a:xfrm>
            <a:off x="287121" y="713232"/>
            <a:ext cx="11617452" cy="5532119"/>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坂道は 1 次元だが、潮流は数千次元。それでも「接線で跳ぶ」考え方は全く同じである。　出典｜コード/fig_ch05.py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この回の地図</a:t>
            </a:r>
          </a:p>
        </p:txBody>
      </p:sp>
      <p:sp>
        <p:nvSpPr>
          <p:cNvPr id="3" name="TextBox 2"/>
          <p:cNvSpPr txBox="1"/>
          <p:nvPr/>
        </p:nvSpPr>
        <p:spPr>
          <a:xfrm>
            <a:off x="566928" y="162763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01</a:t>
            </a:r>
          </a:p>
        </p:txBody>
      </p:sp>
      <p:sp>
        <p:nvSpPr>
          <p:cNvPr id="4" name="agenda:item:0"/>
          <p:cNvSpPr txBox="1"/>
          <p:nvPr/>
        </p:nvSpPr>
        <p:spPr>
          <a:xfrm>
            <a:off x="1572768" y="162763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3" action="ppaction://hlinksldjump"/>
              </a:rPr>
              <a:t>接線で跳ぶ — 1 変数のニュートン法と 2 次収束</a:t>
            </a:r>
          </a:p>
        </p:txBody>
      </p:sp>
      <p:sp>
        <p:nvSpPr>
          <p:cNvPr id="5" name="Rectangle 4"/>
          <p:cNvSpPr/>
          <p:nvPr/>
        </p:nvSpPr>
        <p:spPr>
          <a:xfrm>
            <a:off x="566928" y="266649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7919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02</a:t>
            </a:r>
          </a:p>
        </p:txBody>
      </p:sp>
      <p:sp>
        <p:nvSpPr>
          <p:cNvPr id="7" name="agenda:item:1"/>
          <p:cNvSpPr txBox="1"/>
          <p:nvPr/>
        </p:nvSpPr>
        <p:spPr>
          <a:xfrm>
            <a:off x="1572768" y="267919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4" action="ppaction://hlinksldjump"/>
              </a:rPr>
              <a:t>潮流方程式へ — ヤコビアン H, N, M, L と 3 母線の実例</a:t>
            </a:r>
          </a:p>
        </p:txBody>
      </p:sp>
      <p:sp>
        <p:nvSpPr>
          <p:cNvPr id="8" name="Rectangle 7"/>
          <p:cNvSpPr/>
          <p:nvPr/>
        </p:nvSpPr>
        <p:spPr>
          <a:xfrm>
            <a:off x="566928" y="371805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73075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03</a:t>
            </a:r>
          </a:p>
        </p:txBody>
      </p:sp>
      <p:sp>
        <p:nvSpPr>
          <p:cNvPr id="10" name="agenda:item:2"/>
          <p:cNvSpPr txBox="1"/>
          <p:nvPr/>
        </p:nvSpPr>
        <p:spPr>
          <a:xfrm>
            <a:off x="1572768" y="373075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5" action="ppaction://hlinksldjump"/>
              </a:rPr>
              <a:t>高速デカップル法 — P–δ / Q–V 分離で軽くする</a:t>
            </a:r>
          </a:p>
        </p:txBody>
      </p:sp>
      <p:sp>
        <p:nvSpPr>
          <p:cNvPr id="11" name="Rectangle 10"/>
          <p:cNvSpPr/>
          <p:nvPr/>
        </p:nvSpPr>
        <p:spPr>
          <a:xfrm>
            <a:off x="566928" y="476961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8231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04</a:t>
            </a:r>
          </a:p>
        </p:txBody>
      </p:sp>
      <p:sp>
        <p:nvSpPr>
          <p:cNvPr id="13" name="agenda:item:3"/>
          <p:cNvSpPr txBox="1"/>
          <p:nvPr/>
        </p:nvSpPr>
        <p:spPr>
          <a:xfrm>
            <a:off x="1572768" y="478231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6" action="ppaction://hlinksldjump"/>
              </a:rPr>
              <a:t>初期値と PV 母線の Q 限界 — 「解けない」を読む</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01</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01</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Ⅰ. 接線で跳ぶ</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接線で跳ぶ — 2 回で 5 桁合う</a:t>
            </a:r>
          </a:p>
        </p:txBody>
      </p:sp>
      <p:pic>
        <p:nvPicPr>
          <p:cNvPr id="3" name="Picture 2" descr="ch05_newton1d.png"/>
          <p:cNvPicPr>
            <a:picLocks noChangeAspect="1"/>
          </p:cNvPicPr>
          <p:nvPr/>
        </p:nvPicPr>
        <p:blipFill>
          <a:blip r:embed="rId2"/>
          <a:stretch>
            <a:fillRect/>
          </a:stretch>
        </p:blipFill>
        <p:spPr>
          <a:xfrm>
            <a:off x="228600" y="975582"/>
            <a:ext cx="11734495" cy="4797615"/>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曲線を接線で置き換えるから 1 回で大きく進み、解に近づくほど接線と曲線が重なって次の一手が正確になる。誤差の指数は 1 → 3 → 6 → 12 と倍々で増え、これが 2 次収束である。　出典｜コード/fig_ch05.py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なぜ 2 次収束するのか</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テイラー展開｜f(x + Δx) ≈ f(x) + f′(x) Δx</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2 次以降を捨てると </a:t>
            </a:r>
            <a:r>
              <a:rPr sz="1500" b="1">
                <a:solidFill>
                  <a:srgbClr val="33221E"/>
                </a:solidFill>
                <a:latin typeface="Avenir Next"/>
                <a:ea typeface="Hiragino Sans"/>
                <a:cs typeface="Hiragino Sans"/>
              </a:rPr>
              <a:t>f′(x) Δx = −f(x)</a:t>
            </a:r>
            <a:r>
              <a:rPr sz="1500">
                <a:solidFill>
                  <a:srgbClr val="33221E"/>
                </a:solidFill>
                <a:latin typeface="Avenir Next"/>
                <a:ea typeface="Hiragino Sans"/>
                <a:cs typeface="Hiragino Sans"/>
              </a:rPr>
              <a:t>。多変数では f′ が行列 J になり、</a:t>
            </a:r>
            <a:r>
              <a:rPr sz="1500" b="1">
                <a:solidFill>
                  <a:srgbClr val="33221E"/>
                </a:solidFill>
                <a:latin typeface="Avenir Next"/>
                <a:ea typeface="Hiragino Sans"/>
                <a:cs typeface="Hiragino Sans"/>
              </a:rPr>
              <a:t>JΔx = −f(x)</a:t>
            </a:r>
            <a:r>
              <a:rPr sz="1500">
                <a:solidFill>
                  <a:srgbClr val="33221E"/>
                </a:solidFill>
                <a:latin typeface="Avenir Next"/>
                <a:ea typeface="Hiragino Sans"/>
                <a:cs typeface="Hiragino Sans"/>
              </a:rPr>
              <a:t> が修正方程式。</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237039"/>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② 捨てた項が次の誤差｜e_{n+1} ≈ (f″/2f′) e_n²</a:t>
            </a:r>
          </a:p>
        </p:txBody>
      </p:sp>
      <p:sp>
        <p:nvSpPr>
          <p:cNvPr id="7" name="build:ghost"/>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真の解 x* で f(x*) = 0 を展開すると、1 次の項は接線で消え、残るのは </a:t>
            </a:r>
            <a:r>
              <a:rPr sz="1500" b="1">
                <a:solidFill>
                  <a:srgbClr val="C1BCBB"/>
                </a:solidFill>
                <a:latin typeface="Avenir Next"/>
                <a:ea typeface="Hiragino Sans"/>
                <a:cs typeface="Hiragino Sans"/>
              </a:rPr>
              <a:t>e_n² に比例する項</a:t>
            </a:r>
            <a:r>
              <a:rPr sz="1500">
                <a:solidFill>
                  <a:srgbClr val="C1BCBB"/>
                </a:solidFill>
                <a:latin typeface="Avenir Next"/>
                <a:ea typeface="Hiragino Sans"/>
                <a:cs typeface="Hiragino Sans"/>
              </a:rPr>
              <a:t> だけ。今の誤差が 10⁻² なら次は 10⁻⁴ のオーダー。</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桁が倍々｜1 → 2 → 4 → 8 → 16 桁</a:t>
            </a:r>
          </a:p>
        </p:txBody>
      </p:sp>
      <p:sp>
        <p:nvSpPr>
          <p:cNvPr id="10" name="build:ghost"/>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10⁻⁸ に届くのに 4 回。10⁻¹⁶ でも 5 回。</a:t>
            </a:r>
            <a:r>
              <a:rPr sz="1500" b="1">
                <a:solidFill>
                  <a:srgbClr val="C1BCBB"/>
                </a:solidFill>
                <a:latin typeface="Avenir Next"/>
                <a:ea typeface="Hiragino Sans"/>
                <a:cs typeface="Hiragino Sans"/>
              </a:rPr>
              <a:t>系統の母線数は式に出てこない</a:t>
            </a:r>
            <a:r>
              <a:rPr sz="1500">
                <a:solidFill>
                  <a:srgbClr val="C1BCBB"/>
                </a:solidFill>
                <a:latin typeface="Avenir Next"/>
                <a:ea typeface="Hiragino Sans"/>
                <a:cs typeface="Hiragino Sans"/>
              </a:rPr>
              <a:t>ので、規模によらず 3〜5 回で収束する。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なぜ 2 次収束するのか</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テイラー展開｜f(x + Δx) ≈ f(x) + f′(x) Δx</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2 次以降を捨てると </a:t>
            </a:r>
            <a:r>
              <a:rPr sz="1500" b="1">
                <a:solidFill>
                  <a:srgbClr val="33221E"/>
                </a:solidFill>
                <a:latin typeface="Avenir Next"/>
                <a:ea typeface="Hiragino Sans"/>
                <a:cs typeface="Hiragino Sans"/>
              </a:rPr>
              <a:t>f′(x) Δx = −f(x)</a:t>
            </a:r>
            <a:r>
              <a:rPr sz="1500">
                <a:solidFill>
                  <a:srgbClr val="33221E"/>
                </a:solidFill>
                <a:latin typeface="Avenir Next"/>
                <a:ea typeface="Hiragino Sans"/>
                <a:cs typeface="Hiragino Sans"/>
              </a:rPr>
              <a:t>。多変数では f′ が行列 J になり、</a:t>
            </a:r>
            <a:r>
              <a:rPr sz="1500" b="1">
                <a:solidFill>
                  <a:srgbClr val="33221E"/>
                </a:solidFill>
                <a:latin typeface="Avenir Next"/>
                <a:ea typeface="Hiragino Sans"/>
                <a:cs typeface="Hiragino Sans"/>
              </a:rPr>
              <a:t>JΔx = −f(x)</a:t>
            </a:r>
            <a:r>
              <a:rPr sz="1500">
                <a:solidFill>
                  <a:srgbClr val="33221E"/>
                </a:solidFill>
                <a:latin typeface="Avenir Next"/>
                <a:ea typeface="Hiragino Sans"/>
                <a:cs typeface="Hiragino Sans"/>
              </a:rPr>
              <a:t> が修正方程式。</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捨てた項が次の誤差｜e_{n+1} ≈ (f″/2f′) e_n²</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真の解 x* で f(x*) = 0 を展開すると、1 次の項は接線で消え、残るのは </a:t>
            </a:r>
            <a:r>
              <a:rPr sz="1500" b="1">
                <a:solidFill>
                  <a:srgbClr val="33221E"/>
                </a:solidFill>
                <a:latin typeface="Avenir Next"/>
                <a:ea typeface="Hiragino Sans"/>
                <a:cs typeface="Hiragino Sans"/>
              </a:rPr>
              <a:t>e_n² に比例する項</a:t>
            </a:r>
            <a:r>
              <a:rPr sz="1500">
                <a:solidFill>
                  <a:srgbClr val="33221E"/>
                </a:solidFill>
                <a:latin typeface="Avenir Next"/>
                <a:ea typeface="Hiragino Sans"/>
                <a:cs typeface="Hiragino Sans"/>
              </a:rPr>
              <a:t> だけ。今の誤差が 10⁻² なら次は 10⁻⁴ のオーダー。</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桁が倍々｜1 → 2 → 4 → 8 → 16 桁</a:t>
            </a:r>
          </a:p>
        </p:txBody>
      </p:sp>
      <p:sp>
        <p:nvSpPr>
          <p:cNvPr id="10" name="build:ghost"/>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10⁻⁸ に届くのに 4 回。10⁻¹⁶ でも 5 回。</a:t>
            </a:r>
            <a:r>
              <a:rPr sz="1500" b="1">
                <a:solidFill>
                  <a:srgbClr val="C1BCBB"/>
                </a:solidFill>
                <a:latin typeface="Avenir Next"/>
                <a:ea typeface="Hiragino Sans"/>
                <a:cs typeface="Hiragino Sans"/>
              </a:rPr>
              <a:t>系統の母線数は式に出てこない</a:t>
            </a:r>
            <a:r>
              <a:rPr sz="1500">
                <a:solidFill>
                  <a:srgbClr val="C1BCBB"/>
                </a:solidFill>
                <a:latin typeface="Avenir Next"/>
                <a:ea typeface="Hiragino Sans"/>
                <a:cs typeface="Hiragino Sans"/>
              </a:rPr>
              <a:t>ので、規模によらず 3〜5 回で収束する。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なぜ 2 次収束するのか</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テイラー展開｜f(x + Δx) ≈ f(x) + f′(x) Δx</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2 次以降を捨てると </a:t>
            </a:r>
            <a:r>
              <a:rPr sz="1500" b="1">
                <a:solidFill>
                  <a:srgbClr val="33221E"/>
                </a:solidFill>
                <a:latin typeface="Avenir Next"/>
                <a:ea typeface="Hiragino Sans"/>
                <a:cs typeface="Hiragino Sans"/>
              </a:rPr>
              <a:t>f′(x) Δx = −f(x)</a:t>
            </a:r>
            <a:r>
              <a:rPr sz="1500">
                <a:solidFill>
                  <a:srgbClr val="33221E"/>
                </a:solidFill>
                <a:latin typeface="Avenir Next"/>
                <a:ea typeface="Hiragino Sans"/>
                <a:cs typeface="Hiragino Sans"/>
              </a:rPr>
              <a:t>。多変数では f′ が行列 J になり、</a:t>
            </a:r>
            <a:r>
              <a:rPr sz="1500" b="1">
                <a:solidFill>
                  <a:srgbClr val="33221E"/>
                </a:solidFill>
                <a:latin typeface="Avenir Next"/>
                <a:ea typeface="Hiragino Sans"/>
                <a:cs typeface="Hiragino Sans"/>
              </a:rPr>
              <a:t>JΔx = −f(x)</a:t>
            </a:r>
            <a:r>
              <a:rPr sz="1500">
                <a:solidFill>
                  <a:srgbClr val="33221E"/>
                </a:solidFill>
                <a:latin typeface="Avenir Next"/>
                <a:ea typeface="Hiragino Sans"/>
                <a:cs typeface="Hiragino Sans"/>
              </a:rPr>
              <a:t> が修正方程式。</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捨てた項が次の誤差｜e_{n+1} ≈ (f″/2f′) e_n²</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真の解 x* で f(x*) = 0 を展開すると、1 次の項は接線で消え、残るのは </a:t>
            </a:r>
            <a:r>
              <a:rPr sz="1500" b="1">
                <a:solidFill>
                  <a:srgbClr val="33221E"/>
                </a:solidFill>
                <a:latin typeface="Avenir Next"/>
                <a:ea typeface="Hiragino Sans"/>
                <a:cs typeface="Hiragino Sans"/>
              </a:rPr>
              <a:t>e_n² に比例する項</a:t>
            </a:r>
            <a:r>
              <a:rPr sz="1500">
                <a:solidFill>
                  <a:srgbClr val="33221E"/>
                </a:solidFill>
                <a:latin typeface="Avenir Next"/>
                <a:ea typeface="Hiragino Sans"/>
                <a:cs typeface="Hiragino Sans"/>
              </a:rPr>
              <a:t> だけ。今の誤差が 10⁻² なら次は 10⁻⁴ のオーダー。</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③ 桁が倍々｜1 → 2 → 4 → 8 → 16 桁</a:t>
            </a:r>
          </a:p>
        </p:txBody>
      </p:sp>
      <p:sp>
        <p:nvSpPr>
          <p:cNvPr id="10" name="TextBox 9"/>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10⁻⁸ に届くのに 4 回。10⁻¹⁶ でも 5 回。</a:t>
            </a:r>
            <a:r>
              <a:rPr sz="1500" b="1">
                <a:solidFill>
                  <a:srgbClr val="33221E"/>
                </a:solidFill>
                <a:latin typeface="Avenir Next"/>
                <a:ea typeface="Hiragino Sans"/>
                <a:cs typeface="Hiragino Sans"/>
              </a:rPr>
              <a:t>系統の母線数は式に出てこない</a:t>
            </a:r>
            <a:r>
              <a:rPr sz="1500">
                <a:solidFill>
                  <a:srgbClr val="33221E"/>
                </a:solidFill>
                <a:latin typeface="Avenir Next"/>
                <a:ea typeface="Hiragino Sans"/>
                <a:cs typeface="Hiragino Sans"/>
              </a:rPr>
              <a:t>ので、規模によらず 3〜5 回で収束する。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収束の次数 — 傾き 1 か 2 か</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読み方｜横軸が今回の誤差、縦軸が次回の誤差。両対数で点が乗る直線の傾きが次数</a:t>
            </a:r>
          </a:p>
        </p:txBody>
      </p:sp>
      <p:pic>
        <p:nvPicPr>
          <p:cNvPr id="4" name="Picture 3" descr="ch05_order.png"/>
          <p:cNvPicPr>
            <a:picLocks noChangeAspect="1"/>
          </p:cNvPicPr>
          <p:nvPr/>
        </p:nvPicPr>
        <p:blipFill>
          <a:blip r:embed="rId2"/>
          <a:stretch>
            <a:fillRect/>
          </a:stretch>
        </p:blipFill>
        <p:spPr>
          <a:xfrm>
            <a:off x="566928" y="1683512"/>
            <a:ext cx="5000875" cy="2933700"/>
          </a:xfrm>
          <a:prstGeom prst="rect">
            <a:avLst/>
          </a:prstGeom>
        </p:spPr>
      </p:pic>
      <p:sp>
        <p:nvSpPr>
          <p:cNvPr id="5" name="TextBox 4"/>
          <p:cNvSpPr txBox="1"/>
          <p:nvPr/>
        </p:nvSpPr>
        <p:spPr>
          <a:xfrm>
            <a:off x="566928" y="4672076"/>
            <a:ext cx="5000875"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出典｜コード/fig_ch05.py</a:t>
            </a:r>
          </a:p>
        </p:txBody>
      </p:sp>
      <p:sp>
        <p:nvSpPr>
          <p:cNvPr id="6" name="TextBox 5"/>
          <p:cNvSpPr txBox="1"/>
          <p:nvPr/>
        </p:nvSpPr>
        <p:spPr>
          <a:xfrm>
            <a:off x="5951851" y="2510663"/>
            <a:ext cx="5672916"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横軸 e_n、縦軸 e_{n+1}（対数）</a:t>
            </a:r>
          </a:p>
          <a:p>
            <a:pPr>
              <a:spcBef>
                <a:spcPts val="400"/>
              </a:spcBef>
              <a:buChar char="•"/>
            </a:pPr>
            <a:r>
              <a:rPr sz="2000">
                <a:solidFill>
                  <a:srgbClr val="33221E"/>
                </a:solidFill>
                <a:latin typeface="Avenir Next"/>
                <a:ea typeface="Hiragino Sans"/>
                <a:cs typeface="Hiragino Sans"/>
              </a:rPr>
              <a:t>GS は傾き 1：e_{n+1} = ρ e_n</a:t>
            </a:r>
          </a:p>
          <a:p>
            <a:pPr>
              <a:spcBef>
                <a:spcPts val="400"/>
              </a:spcBef>
              <a:buChar char="•"/>
            </a:pPr>
            <a:r>
              <a:rPr sz="2000">
                <a:solidFill>
                  <a:srgbClr val="33221E"/>
                </a:solidFill>
                <a:latin typeface="Avenir Next"/>
                <a:ea typeface="Hiragino Sans"/>
                <a:cs typeface="Hiragino Sans"/>
              </a:rPr>
              <a:t>NR は傾き 2：e_{n+1} = C e_n²</a:t>
            </a:r>
          </a:p>
          <a:p>
            <a:pPr>
              <a:spcBef>
                <a:spcPts val="400"/>
              </a:spcBef>
              <a:buChar char="•"/>
            </a:pPr>
            <a:r>
              <a:rPr sz="2000">
                <a:solidFill>
                  <a:srgbClr val="33221E"/>
                </a:solidFill>
                <a:latin typeface="Avenir Next"/>
                <a:ea typeface="Hiragino Sans"/>
                <a:cs typeface="Hiragino Sans"/>
              </a:rPr>
              <a:t>桁数が倍々：1 → 2 → 4 → 8</a:t>
            </a:r>
          </a:p>
        </p:txBody>
      </p:sp>
      <p:sp>
        <p:nvSpPr>
          <p:cNvPr id="7" name="Rounded Rectangle 6"/>
          <p:cNvSpPr/>
          <p:nvPr/>
        </p:nvSpPr>
        <p:spPr>
          <a:xfrm>
            <a:off x="566928" y="5244846"/>
            <a:ext cx="11057839" cy="863346"/>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4846"/>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371846"/>
            <a:ext cx="10600639" cy="609346"/>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1 次収束は毎回「同じ比率」でしか減らないので、桁を 1 つ稼ぐのに毎回同じ回数がかかる。2 次収束は近づくほど加速する。</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1 — 1 変数を 2 回反復する</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式を立てる</a:t>
            </a:r>
          </a:p>
          <a:p>
            <a:pPr>
              <a:spcBef>
                <a:spcPts val="600"/>
              </a:spcBef>
            </a:pPr>
            <a:r>
              <a:rPr sz="1500">
                <a:solidFill>
                  <a:srgbClr val="33221E"/>
                </a:solidFill>
                <a:latin typeface="Avenir Next"/>
                <a:ea typeface="Hiragino Sans"/>
                <a:cs typeface="Hiragino Sans"/>
              </a:rPr>
              <a:t>P = V₁V₂ sin θ / X、V = 1、X = 0.2、P_spec = 0.8 → f(θ) = 5 sin θ − 0.8、f′(θ) = 5 cos θ</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反復 1</a:t>
            </a:r>
          </a:p>
          <a:p>
            <a:pPr>
              <a:spcBef>
                <a:spcPts val="600"/>
              </a:spcBef>
            </a:pPr>
            <a:r>
              <a:rPr sz="1500">
                <a:solidFill>
                  <a:srgbClr val="33221E"/>
                </a:solidFill>
                <a:latin typeface="Avenir Next"/>
                <a:ea typeface="Hiragino Sans"/>
                <a:cs typeface="Hiragino Sans"/>
              </a:rPr>
              <a:t>θ₀ = 0：f = −0.800、f′ = 5.000 → θ₁ = 0 − (−0.800)/5.000 = 0.160 rad</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反復 2</a:t>
            </a:r>
          </a:p>
          <a:p>
            <a:pPr>
              <a:spcBef>
                <a:spcPts val="600"/>
              </a:spcBef>
            </a:pPr>
            <a:r>
              <a:rPr sz="1500">
                <a:solidFill>
                  <a:srgbClr val="33221E"/>
                </a:solidFill>
                <a:latin typeface="Avenir Next"/>
                <a:ea typeface="Hiragino Sans"/>
                <a:cs typeface="Hiragino Sans"/>
              </a:rPr>
              <a:t>f(θ₁) = −0.00341、f′ = 4.936 → θ₂ = 0.160 + 0.00341/4.936 = 0.16069 rad</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答え合わせ</a:t>
            </a:r>
          </a:p>
          <a:p>
            <a:pPr>
              <a:spcBef>
                <a:spcPts val="600"/>
              </a:spcBef>
            </a:pPr>
            <a:r>
              <a:rPr sz="1500">
                <a:solidFill>
                  <a:srgbClr val="33221E"/>
                </a:solidFill>
                <a:latin typeface="Avenir Next"/>
                <a:ea typeface="Hiragino Sans"/>
                <a:cs typeface="Hiragino Sans"/>
              </a:rPr>
              <a:t>厳密解 asin(0.16) = 0.160691。誤差 1.6e-1 → 6.9e-4 → 3.9e-8。桁が 1 → 3 → 8 と倍々</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結果 — 反復 2 回で誤差は 10⁻⁸</a:t>
            </a:r>
          </a:p>
        </p:txBody>
      </p:sp>
      <p:sp>
        <p:nvSpPr>
          <p:cNvPr id="3" name="Rounded Rectangle 2"/>
          <p:cNvSpPr/>
          <p:nvPr/>
        </p:nvSpPr>
        <p:spPr>
          <a:xfrm>
            <a:off x="566928"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0.160</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反復 1 の推定 θ₁（誤差 6.9e-4）</a:t>
            </a:r>
          </a:p>
        </p:txBody>
      </p:sp>
      <p:sp>
        <p:nvSpPr>
          <p:cNvPr id="6" name="Rounded Rectangle 5"/>
          <p:cNvSpPr/>
          <p:nvPr/>
        </p:nvSpPr>
        <p:spPr>
          <a:xfrm>
            <a:off x="4344314"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4314"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3.9e-8</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反復 2 の誤差（厳密解 0.160691）</a:t>
            </a:r>
          </a:p>
        </p:txBody>
      </p:sp>
      <p:sp>
        <p:nvSpPr>
          <p:cNvPr id="9" name="Rounded Rectangle 8"/>
          <p:cNvSpPr/>
          <p:nvPr/>
        </p:nvSpPr>
        <p:spPr>
          <a:xfrm>
            <a:off x="8121700"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1700"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0300"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倍々</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誤差の桁数の増え方（2 次収束）</a:t>
            </a:r>
          </a:p>
        </p:txBody>
      </p:sp>
      <p:sp>
        <p:nvSpPr>
          <p:cNvPr id="12" name="TextBox 11"/>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02</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02</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Ⅱ. 潮流方程式へ</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接線の傾きが行列になる — ヤコビアン H, N, M, L</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同じ系統で GS 13 回、NR 4 回</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読み方｜3 母線系統（スラック・PV・PQ）を 2 手法で解いた最大ミスマッチの履歴</a:t>
            </a:r>
          </a:p>
        </p:txBody>
      </p:sp>
      <p:pic>
        <p:nvPicPr>
          <p:cNvPr id="4" name="Picture 3" descr="ch05_gs_vs_nr.png"/>
          <p:cNvPicPr>
            <a:picLocks noChangeAspect="1"/>
          </p:cNvPicPr>
          <p:nvPr/>
        </p:nvPicPr>
        <p:blipFill>
          <a:blip r:embed="rId2"/>
          <a:stretch>
            <a:fillRect/>
          </a:stretch>
        </p:blipFill>
        <p:spPr>
          <a:xfrm>
            <a:off x="566928" y="1683512"/>
            <a:ext cx="5098032" cy="2933700"/>
          </a:xfrm>
          <a:prstGeom prst="rect">
            <a:avLst/>
          </a:prstGeom>
        </p:spPr>
      </p:pic>
      <p:sp>
        <p:nvSpPr>
          <p:cNvPr id="5" name="TextBox 4"/>
          <p:cNvSpPr txBox="1"/>
          <p:nvPr/>
        </p:nvSpPr>
        <p:spPr>
          <a:xfrm>
            <a:off x="566928" y="4672076"/>
            <a:ext cx="5098032"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出典｜コード/fig_ch05.py</a:t>
            </a:r>
          </a:p>
        </p:txBody>
      </p:sp>
      <p:sp>
        <p:nvSpPr>
          <p:cNvPr id="6" name="TextBox 5"/>
          <p:cNvSpPr txBox="1"/>
          <p:nvPr/>
        </p:nvSpPr>
        <p:spPr>
          <a:xfrm>
            <a:off x="6049008" y="2510663"/>
            <a:ext cx="5575759"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GS α = 1.0：13 回で 10⁻⁸</a:t>
            </a:r>
          </a:p>
          <a:p>
            <a:pPr>
              <a:spcBef>
                <a:spcPts val="400"/>
              </a:spcBef>
              <a:buChar char="•"/>
            </a:pPr>
            <a:r>
              <a:rPr sz="2000">
                <a:solidFill>
                  <a:srgbClr val="33221E"/>
                </a:solidFill>
                <a:latin typeface="Avenir Next"/>
                <a:ea typeface="Hiragino Sans"/>
                <a:cs typeface="Hiragino Sans"/>
              </a:rPr>
              <a:t>GS α = 1.6：31 回（過修正）</a:t>
            </a:r>
          </a:p>
          <a:p>
            <a:pPr>
              <a:spcBef>
                <a:spcPts val="400"/>
              </a:spcBef>
              <a:buChar char="•"/>
            </a:pPr>
            <a:r>
              <a:rPr sz="2000">
                <a:solidFill>
                  <a:srgbClr val="33221E"/>
                </a:solidFill>
                <a:latin typeface="Avenir Next"/>
                <a:ea typeface="Hiragino Sans"/>
                <a:cs typeface="Hiragino Sans"/>
              </a:rPr>
              <a:t>NR：0.90 → 0.048 → 4e-4 → 3e-8</a:t>
            </a:r>
          </a:p>
          <a:p>
            <a:pPr>
              <a:spcBef>
                <a:spcPts val="400"/>
              </a:spcBef>
              <a:buChar char="•"/>
            </a:pPr>
            <a:r>
              <a:rPr sz="2000">
                <a:solidFill>
                  <a:srgbClr val="33221E"/>
                </a:solidFill>
                <a:latin typeface="Avenir Next"/>
                <a:ea typeface="Hiragino Sans"/>
                <a:cs typeface="Hiragino Sans"/>
              </a:rPr>
              <a:t>4 回目で 10⁻¹⁵（丸め誤差）</a:t>
            </a:r>
          </a:p>
        </p:txBody>
      </p:sp>
      <p:sp>
        <p:nvSpPr>
          <p:cNvPr id="7" name="Rounded Rectangle 6"/>
          <p:cNvSpPr/>
          <p:nvPr/>
        </p:nvSpPr>
        <p:spPr>
          <a:xfrm>
            <a:off x="566928" y="5244846"/>
            <a:ext cx="11057839" cy="863346"/>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4846"/>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371846"/>
            <a:ext cx="10600639" cy="609346"/>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対数軸で GS は直線（1 次）、NR は急降下（2 次）。加速係数 α は大規模系統では効くが、この小さな系統では跳びすぎて逆に遅い。</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ヤコビアンの 4 ブロック</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何を何で微分するか｜未知数 (θ, V)、式 (ΔP, ΔQ)</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P_i = V_i Σ_j V_j (G_ij cos θ_ij + B_ij sin θ_ij) を θ_j と V_j で微分する。</a:t>
            </a:r>
            <a:r>
              <a:rPr sz="1500" b="1">
                <a:solidFill>
                  <a:srgbClr val="33221E"/>
                </a:solidFill>
                <a:latin typeface="Avenir Next"/>
                <a:ea typeface="Hiragino Sans"/>
                <a:cs typeface="Hiragino Sans"/>
              </a:rPr>
              <a:t>H = ∂P/∂θ、N = V∂P/∂V、M = ∂Q/∂θ、L = V∂Q/∂V</a:t>
            </a:r>
            <a:r>
              <a:rPr sz="1500">
                <a:solidFill>
                  <a:srgbClr val="33221E"/>
                </a:solidFill>
                <a:latin typeface="Avenir Next"/>
                <a:ea typeface="Hiragino Sans"/>
                <a:cs typeface="Hiragino Sans"/>
              </a:rPr>
              <a:t>。V は ΔV/V で正規化すると式が対称になる。</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237039"/>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② 非対角 (i ≠ j)｜H_ij = V_iV_j (G_ij sin θ_ij − B_ij cos θ_ij)</a:t>
            </a:r>
          </a:p>
        </p:txBody>
      </p:sp>
      <p:sp>
        <p:nvSpPr>
          <p:cNvPr id="7" name="build:ghost"/>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θ_ij = θ_i − θ_j なので ∂θ_ij/∂θ_j = −1。出てくる式は </a:t>
            </a:r>
            <a:r>
              <a:rPr sz="1500" b="1">
                <a:solidFill>
                  <a:srgbClr val="C1BCBB"/>
                </a:solidFill>
                <a:latin typeface="Avenir Next"/>
                <a:ea typeface="Hiragino Sans"/>
                <a:cs typeface="Hiragino Sans"/>
              </a:rPr>
              <a:t>Q_i の j 番目の項そのもの</a:t>
            </a:r>
            <a:r>
              <a:rPr sz="1500">
                <a:solidFill>
                  <a:srgbClr val="C1BCBB"/>
                </a:solidFill>
                <a:latin typeface="Avenir Next"/>
                <a:ea typeface="Hiragino Sans"/>
                <a:cs typeface="Hiragino Sans"/>
              </a:rPr>
              <a:t>。同様に N_ij = V_iV_j (G_ij cos θ_ij + B_ij sin θ_ij)、M_ij = −N_ij、L_ij = H_ij。</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対角 (i = j)｜H_ii = −Q_i − B_ii V_i²、L_ii = Q_i − B_ii V_i²</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N_ii = P_i + G_ii V_i²、M_ii = P_i − G_ii V_i²。</a:t>
            </a:r>
            <a:r>
              <a:rPr sz="1500" b="1">
                <a:solidFill>
                  <a:srgbClr val="C1BCBB"/>
                </a:solidFill>
                <a:latin typeface="Avenir Next"/>
                <a:ea typeface="Hiragino Sans"/>
                <a:cs typeface="Hiragino Sans"/>
              </a:rPr>
              <a:t>対角は P_i, Q_i で書ける</a:t>
            </a:r>
            <a:r>
              <a:rPr sz="1500">
                <a:solidFill>
                  <a:srgbClr val="C1BCBB"/>
                </a:solidFill>
                <a:latin typeface="Avenir Next"/>
                <a:ea typeface="Hiragino Sans"/>
                <a:cs typeface="Hiragino Sans"/>
              </a:rPr>
              <a:t>ので、ミスマッチを計算したときの P_i, Q_i をそのまま使い回せる。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ヤコビアンの 4 ブロック</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何を何で微分するか｜未知数 (θ, V)、式 (ΔP, ΔQ)</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P_i = V_i Σ_j V_j (G_ij cos θ_ij + B_ij sin θ_ij) を θ_j と V_j で微分する。</a:t>
            </a:r>
            <a:r>
              <a:rPr sz="1500" b="1">
                <a:solidFill>
                  <a:srgbClr val="33221E"/>
                </a:solidFill>
                <a:latin typeface="Avenir Next"/>
                <a:ea typeface="Hiragino Sans"/>
                <a:cs typeface="Hiragino Sans"/>
              </a:rPr>
              <a:t>H = ∂P/∂θ、N = V∂P/∂V、M = ∂Q/∂θ、L = V∂Q/∂V</a:t>
            </a:r>
            <a:r>
              <a:rPr sz="1500">
                <a:solidFill>
                  <a:srgbClr val="33221E"/>
                </a:solidFill>
                <a:latin typeface="Avenir Next"/>
                <a:ea typeface="Hiragino Sans"/>
                <a:cs typeface="Hiragino Sans"/>
              </a:rPr>
              <a:t>。V は ΔV/V で正規化すると式が対称になる。</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非対角 (i ≠ j)｜H_ij = V_iV_j (G_ij sin θ_ij − B_ij cos θ_ij)</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θ_ij = θ_i − θ_j なので ∂θ_ij/∂θ_j = −1。出てくる式は </a:t>
            </a:r>
            <a:r>
              <a:rPr sz="1500" b="1">
                <a:solidFill>
                  <a:srgbClr val="33221E"/>
                </a:solidFill>
                <a:latin typeface="Avenir Next"/>
                <a:ea typeface="Hiragino Sans"/>
                <a:cs typeface="Hiragino Sans"/>
              </a:rPr>
              <a:t>Q_i の j 番目の項そのもの</a:t>
            </a:r>
            <a:r>
              <a:rPr sz="1500">
                <a:solidFill>
                  <a:srgbClr val="33221E"/>
                </a:solidFill>
                <a:latin typeface="Avenir Next"/>
                <a:ea typeface="Hiragino Sans"/>
                <a:cs typeface="Hiragino Sans"/>
              </a:rPr>
              <a:t>。同様に N_ij = V_iV_j (G_ij cos θ_ij + B_ij sin θ_ij)、M_ij = −N_ij、L_ij = H_ij。</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対角 (i = j)｜H_ii = −Q_i − B_ii V_i²、L_ii = Q_i − B_ii V_i²</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N_ii = P_i + G_ii V_i²、M_ii = P_i − G_ii V_i²。</a:t>
            </a:r>
            <a:r>
              <a:rPr sz="1500" b="1">
                <a:solidFill>
                  <a:srgbClr val="C1BCBB"/>
                </a:solidFill>
                <a:latin typeface="Avenir Next"/>
                <a:ea typeface="Hiragino Sans"/>
                <a:cs typeface="Hiragino Sans"/>
              </a:rPr>
              <a:t>対角は P_i, Q_i で書ける</a:t>
            </a:r>
            <a:r>
              <a:rPr sz="1500">
                <a:solidFill>
                  <a:srgbClr val="C1BCBB"/>
                </a:solidFill>
                <a:latin typeface="Avenir Next"/>
                <a:ea typeface="Hiragino Sans"/>
                <a:cs typeface="Hiragino Sans"/>
              </a:rPr>
              <a:t>ので、ミスマッチを計算したときの P_i, Q_i をそのまま使い回せる。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ヤコビアンの 4 ブロック</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何を何で微分するか｜未知数 (θ, V)、式 (ΔP, ΔQ)</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P_i = V_i Σ_j V_j (G_ij cos θ_ij + B_ij sin θ_ij) を θ_j と V_j で微分する。</a:t>
            </a:r>
            <a:r>
              <a:rPr sz="1500" b="1">
                <a:solidFill>
                  <a:srgbClr val="33221E"/>
                </a:solidFill>
                <a:latin typeface="Avenir Next"/>
                <a:ea typeface="Hiragino Sans"/>
                <a:cs typeface="Hiragino Sans"/>
              </a:rPr>
              <a:t>H = ∂P/∂θ、N = V∂P/∂V、M = ∂Q/∂θ、L = V∂Q/∂V</a:t>
            </a:r>
            <a:r>
              <a:rPr sz="1500">
                <a:solidFill>
                  <a:srgbClr val="33221E"/>
                </a:solidFill>
                <a:latin typeface="Avenir Next"/>
                <a:ea typeface="Hiragino Sans"/>
                <a:cs typeface="Hiragino Sans"/>
              </a:rPr>
              <a:t>。V は ΔV/V で正規化すると式が対称になる。</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非対角 (i ≠ j)｜H_ij = V_iV_j (G_ij sin θ_ij − B_ij cos θ_ij)</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θ_ij = θ_i − θ_j なので ∂θ_ij/∂θ_j = −1。出てくる式は </a:t>
            </a:r>
            <a:r>
              <a:rPr sz="1500" b="1">
                <a:solidFill>
                  <a:srgbClr val="33221E"/>
                </a:solidFill>
                <a:latin typeface="Avenir Next"/>
                <a:ea typeface="Hiragino Sans"/>
                <a:cs typeface="Hiragino Sans"/>
              </a:rPr>
              <a:t>Q_i の j 番目の項そのもの</a:t>
            </a:r>
            <a:r>
              <a:rPr sz="1500">
                <a:solidFill>
                  <a:srgbClr val="33221E"/>
                </a:solidFill>
                <a:latin typeface="Avenir Next"/>
                <a:ea typeface="Hiragino Sans"/>
                <a:cs typeface="Hiragino Sans"/>
              </a:rPr>
              <a:t>。同様に N_ij = V_iV_j (G_ij cos θ_ij + B_ij sin θ_ij)、M_ij = −N_ij、L_ij = H_ij。</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③ 対角 (i = j)｜H_ii = −Q_i − B_ii V_i²、L_ii = Q_i − B_ii V_i²</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N_ii = P_i + G_ii V_i²、M_ii = P_i − G_ii V_i²。</a:t>
            </a:r>
            <a:r>
              <a:rPr sz="1500" b="1">
                <a:solidFill>
                  <a:srgbClr val="33221E"/>
                </a:solidFill>
                <a:latin typeface="Avenir Next"/>
                <a:ea typeface="Hiragino Sans"/>
                <a:cs typeface="Hiragino Sans"/>
              </a:rPr>
              <a:t>対角は P_i, Q_i で書ける</a:t>
            </a:r>
            <a:r>
              <a:rPr sz="1500">
                <a:solidFill>
                  <a:srgbClr val="33221E"/>
                </a:solidFill>
                <a:latin typeface="Avenir Next"/>
                <a:ea typeface="Hiragino Sans"/>
                <a:cs typeface="Hiragino Sans"/>
              </a:rPr>
              <a:t>ので、ミスマッチを計算したときの P_i, Q_i をそのまま使い回せる。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修正方程式 — ミスマッチを J で割る</a:t>
            </a:r>
          </a:p>
        </p:txBody>
      </p:sp>
      <p:sp>
        <p:nvSpPr>
          <p:cNvPr id="3" name="TextBox 2"/>
          <p:cNvSpPr txBox="1"/>
          <p:nvPr/>
        </p:nvSpPr>
        <p:spPr>
          <a:xfrm>
            <a:off x="566928" y="1991868"/>
            <a:ext cx="11057839" cy="690880"/>
          </a:xfrm>
          <a:prstGeom prst="rect">
            <a:avLst/>
          </a:prstGeom>
          <a:noFill/>
        </p:spPr>
        <p:txBody>
          <a:bodyPr wrap="square" lIns="0" rIns="0" tIns="0" bIns="0" anchor="ctr">
            <a:noAutofit/>
          </a:bodyPr>
          <a:lstStyle/>
          <a:p>
            <a:pPr algn="ctr"/>
            <a:r>
              <a:rPr sz="3400">
                <a:solidFill>
                  <a:srgbClr val="33221E"/>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d>
                    <m:dPr>
                      <m:begChr m:val="["/>
                      <m:sepChr m:val=""/>
                      <m:endChr m:val="]"/>
                      <m:grow/>
                    </m:dPr>
                    <m:e>
                      <m:m>
                        <m:mPr>
                          <m:baseJc m:val="center"/>
                          <m:plcHide m:val="on"/>
                          <m:mcs>
                            <m:mc>
                              <m:mcPr>
                                <m:mcJc m:val="center"/>
                                <m:count m:val="1"/>
                              </m:mcPr>
                            </m:mc>
                          </m:mcs>
                        </m:mPr>
                        <m:mr>
                          <m:e>
                            <m:r>
                              <m:rPr>
                                <m:sty m:val="p"/>
                              </m:rPr>
                              <ns0:rPr xmlns:ns0="http://schemas.openxmlformats.org/wordprocessingml/2006/main">
                                <ns0:sz ns0:val="68"/>
                                <ns0:szCs ns0:val="68"/>
                              </ns0:rPr>
                              <m:t>Δ</m:t>
                            </m:r>
                            <m:r>
                              <ns0:rPr xmlns:ns0="http://schemas.openxmlformats.org/wordprocessingml/2006/main">
                                <ns0:sz ns0:val="68"/>
                                <ns0:szCs ns0:val="68"/>
                              </ns0:rPr>
                              <m:t>P</m:t>
                            </m:r>
                          </m:e>
                        </m:mr>
                        <m:mr>
                          <m:e>
                            <m:r>
                              <m:rPr>
                                <m:sty m:val="p"/>
                              </m:rPr>
                              <ns0:rPr xmlns:ns0="http://schemas.openxmlformats.org/wordprocessingml/2006/main">
                                <ns0:sz ns0:val="68"/>
                                <ns0:szCs ns0:val="68"/>
                              </ns0:rPr>
                              <m:t>Δ</m:t>
                            </m:r>
                            <m:r>
                              <ns0:rPr xmlns:ns0="http://schemas.openxmlformats.org/wordprocessingml/2006/main">
                                <ns0:sz ns0:val="68"/>
                                <ns0:szCs ns0:val="68"/>
                              </ns0:rPr>
                              <m:t>Q</m:t>
                            </m:r>
                          </m:e>
                        </m:mr>
                      </m:m>
                    </m:e>
                  </m:d>
                  <m:r>
                    <m:rPr>
                      <m:sty m:val="p"/>
                    </m:rPr>
                    <ns0:rPr xmlns:ns0="http://schemas.openxmlformats.org/wordprocessingml/2006/main">
                      <ns0:sz ns0:val="68"/>
                      <ns0:szCs ns0:val="68"/>
                    </ns0:rPr>
                    <m:t>=</m:t>
                  </m:r>
                  <m:d>
                    <m:dPr>
                      <m:begChr m:val="["/>
                      <m:sepChr m:val=""/>
                      <m:endChr m:val="]"/>
                      <m:grow/>
                    </m:dPr>
                    <m:e>
                      <m:m>
                        <m:mPr>
                          <m:baseJc m:val="center"/>
                          <m:plcHide m:val="on"/>
                          <m:mcs>
                            <m:mc>
                              <m:mcPr>
                                <m:mcJc m:val="center"/>
                                <m:count m:val="1"/>
                              </m:mcPr>
                            </m:mc>
                            <m:mc>
                              <m:mcPr>
                                <m:mcJc m:val="center"/>
                                <m:count m:val="1"/>
                              </m:mcPr>
                            </m:mc>
                          </m:mcs>
                        </m:mPr>
                        <m:mr>
                          <m:e>
                            <m:r>
                              <ns0:rPr xmlns:ns0="http://schemas.openxmlformats.org/wordprocessingml/2006/main">
                                <ns0:sz ns0:val="68"/>
                                <ns0:szCs ns0:val="68"/>
                              </ns0:rPr>
                              <m:t>H</m:t>
                            </m:r>
                          </m:e>
                          <m:e>
                            <m:r>
                              <ns0:rPr xmlns:ns0="http://schemas.openxmlformats.org/wordprocessingml/2006/main">
                                <ns0:sz ns0:val="68"/>
                                <ns0:szCs ns0:val="68"/>
                              </ns0:rPr>
                              <m:t>N</m:t>
                            </m:r>
                          </m:e>
                        </m:mr>
                        <m:mr>
                          <m:e>
                            <m:r>
                              <ns0:rPr xmlns:ns0="http://schemas.openxmlformats.org/wordprocessingml/2006/main">
                                <ns0:sz ns0:val="68"/>
                                <ns0:szCs ns0:val="68"/>
                              </ns0:rPr>
                              <m:t>M</m:t>
                            </m:r>
                          </m:e>
                          <m:e>
                            <m:r>
                              <ns0:rPr xmlns:ns0="http://schemas.openxmlformats.org/wordprocessingml/2006/main">
                                <ns0:sz ns0:val="68"/>
                                <ns0:szCs ns0:val="68"/>
                              </ns0:rPr>
                              <m:t>L</m:t>
                            </m:r>
                          </m:e>
                        </m:mr>
                      </m:m>
                    </m:e>
                  </m:d>
                  <m:d>
                    <m:dPr>
                      <m:begChr m:val="["/>
                      <m:sepChr m:val=""/>
                      <m:endChr m:val="]"/>
                      <m:grow/>
                    </m:dPr>
                    <m:e>
                      <m:m>
                        <m:mPr>
                          <m:baseJc m:val="center"/>
                          <m:plcHide m:val="on"/>
                          <m:mcs>
                            <m:mc>
                              <m:mcPr>
                                <m:mcJc m:val="center"/>
                                <m:count m:val="1"/>
                              </m:mcPr>
                            </m:mc>
                          </m:mcs>
                        </m:mPr>
                        <m:mr>
                          <m:e>
                            <m:r>
                              <m:rPr>
                                <m:sty m:val="p"/>
                              </m:rPr>
                              <ns0:rPr xmlns:ns0="http://schemas.openxmlformats.org/wordprocessingml/2006/main">
                                <ns0:sz ns0:val="68"/>
                                <ns0:szCs ns0:val="68"/>
                              </ns0:rPr>
                              <m:t>Δ</m:t>
                            </m:r>
                            <m:r>
                              <ns0:rPr xmlns:ns0="http://schemas.openxmlformats.org/wordprocessingml/2006/main">
                                <ns0:sz ns0:val="68"/>
                                <ns0:szCs ns0:val="68"/>
                              </ns0:rPr>
                              <m:t>θ</m:t>
                            </m:r>
                          </m:e>
                        </m:mr>
                        <m:mr>
                          <m:e>
                            <m:r>
                              <m:rPr>
                                <m:sty m:val="p"/>
                              </m:rPr>
                              <ns0:rPr xmlns:ns0="http://schemas.openxmlformats.org/wordprocessingml/2006/main">
                                <ns0:sz ns0:val="68"/>
                                <ns0:szCs ns0:val="68"/>
                              </ns0:rPr>
                              <m:t>Δ</m:t>
                            </m:r>
                            <m:r>
                              <ns0:rPr xmlns:ns0="http://schemas.openxmlformats.org/wordprocessingml/2006/main">
                                <ns0:sz ns0:val="68"/>
                                <ns0:szCs ns0:val="68"/>
                              </ns0:rPr>
                              <m:t>V</m:t>
                            </m:r>
                            <m:r>
                              <m:rPr>
                                <m:sty m:val="p"/>
                              </m:rPr>
                              <ns0:rPr xmlns:ns0="http://schemas.openxmlformats.org/wordprocessingml/2006/main">
                                <ns0:sz ns0:val="68"/>
                                <ns0:szCs ns0:val="68"/>
                              </ns0:rPr>
                              <m:t>/</m:t>
                            </m:r>
                            <m:r>
                              <ns0:rPr xmlns:ns0="http://schemas.openxmlformats.org/wordprocessingml/2006/main">
                                <ns0:sz ns0:val="68"/>
                                <ns0:szCs ns0:val="68"/>
                              </ns0:rPr>
                              <m:t>V</m:t>
                            </m:r>
                          </m:e>
                        </m:mr>
                      </m:m>
                    </m:e>
                  </m:d>
                  <m:r>
                    <m:rPr>
                      <m:sty m:val="p"/>
                    </m:rPr>
                    <ns0:rPr xmlns:ns0="http://schemas.openxmlformats.org/wordprocessingml/2006/main">
                      <ns0:sz ns0:val="68"/>
                      <ns0:szCs ns0:val="68"/>
                    </ns0:rPr>
                    <m:t>,</m:t>
                  </m:r>
                  <m:r>
                    <ns0:rPr xmlns:ns0="http://schemas.openxmlformats.org/wordprocessingml/2006/main">
                      <ns0:sz ns0:val="68"/>
                      <ns0:szCs ns0:val="68"/>
                    </ns0:rPr>
                    <m:t>  </m:t>
                  </m:r>
                  <m:r>
                    <ns0:rPr xmlns:ns0="http://schemas.openxmlformats.org/wordprocessingml/2006/main">
                      <ns0:sz ns0:val="68"/>
                      <ns0:szCs ns0:val="68"/>
                    </ns0:rPr>
                    <m:t>θ</m:t>
                  </m:r>
                  <m:r>
                    <m:rPr>
                      <m:sty m:val="p"/>
                    </m:rPr>
                    <ns0:rPr xmlns:ns0="http://schemas.openxmlformats.org/wordprocessingml/2006/main">
                      <ns0:sz ns0:val="68"/>
                      <ns0:szCs ns0:val="68"/>
                    </ns0:rPr>
                    <m:t>←</m:t>
                  </m:r>
                  <m:r>
                    <ns0:rPr xmlns:ns0="http://schemas.openxmlformats.org/wordprocessingml/2006/main">
                      <ns0:sz ns0:val="68"/>
                      <ns0:szCs ns0:val="68"/>
                    </ns0:rPr>
                    <m:t>θ</m:t>
                  </m:r>
                  <m:r>
                    <m:rPr>
                      <m:sty m:val="p"/>
                    </m:rPr>
                    <ns0:rPr xmlns:ns0="http://schemas.openxmlformats.org/wordprocessingml/2006/main">
                      <ns0:sz ns0:val="68"/>
                      <ns0:szCs ns0:val="68"/>
                    </ns0:rPr>
                    <m:t>+</m:t>
                  </m:r>
                  <m:r>
                    <m:rPr>
                      <m:sty m:val="p"/>
                    </m:rPr>
                    <ns0:rPr xmlns:ns0="http://schemas.openxmlformats.org/wordprocessingml/2006/main">
                      <ns0:sz ns0:val="68"/>
                      <ns0:szCs ns0:val="68"/>
                    </ns0:rPr>
                    <m:t>Δ</m:t>
                  </m:r>
                  <m:r>
                    <ns0:rPr xmlns:ns0="http://schemas.openxmlformats.org/wordprocessingml/2006/main">
                      <ns0:sz ns0:val="68"/>
                      <ns0:szCs ns0:val="68"/>
                    </ns0:rPr>
                    <m:t>θ</m:t>
                  </m:r>
                  <m:r>
                    <m:rPr>
                      <m:sty m:val="p"/>
                    </m:rPr>
                    <ns0:rPr xmlns:ns0="http://schemas.openxmlformats.org/wordprocessingml/2006/main">
                      <ns0:sz ns0:val="68"/>
                      <ns0:szCs ns0:val="68"/>
                    </ns0:rPr>
                    <m:t>,</m:t>
                  </m:r>
                  <m:r>
                    <ns0:rPr xmlns:ns0="http://schemas.openxmlformats.org/wordprocessingml/2006/main">
                      <ns0:sz ns0:val="68"/>
                      <ns0:szCs ns0:val="68"/>
                    </ns0:rPr>
                    <m:t> </m:t>
                  </m:r>
                  <m:r>
                    <ns0:rPr xmlns:ns0="http://schemas.openxmlformats.org/wordprocessingml/2006/main">
                      <ns0:sz ns0:val="68"/>
                      <ns0:szCs ns0:val="68"/>
                    </ns0:rPr>
                    <m:t> </m:t>
                  </m:r>
                  <m:r>
                    <ns0:rPr xmlns:ns0="http://schemas.openxmlformats.org/wordprocessingml/2006/main">
                      <ns0:sz ns0:val="68"/>
                      <ns0:szCs ns0:val="68"/>
                    </ns0:rPr>
                    <m:t>V</m:t>
                  </m:r>
                  <m:r>
                    <m:rPr>
                      <m:sty m:val="p"/>
                    </m:rPr>
                    <ns0:rPr xmlns:ns0="http://schemas.openxmlformats.org/wordprocessingml/2006/main">
                      <ns0:sz ns0:val="68"/>
                      <ns0:szCs ns0:val="68"/>
                    </ns0:rPr>
                    <m:t>←</m:t>
                  </m:r>
                  <m:r>
                    <ns0:rPr xmlns:ns0="http://schemas.openxmlformats.org/wordprocessingml/2006/main">
                      <ns0:sz ns0:val="68"/>
                      <ns0:szCs ns0:val="68"/>
                    </ns0:rPr>
                    <m:t>V</m:t>
                  </m:r>
                  <m:r>
                    <ns0:rPr xmlns:ns0="http://schemas.openxmlformats.org/wordprocessingml/2006/main">
                      <ns0:sz ns0:val="68"/>
                      <ns0:szCs ns0:val="68"/>
                    </ns0:rPr>
                    <m:t> </m:t>
                  </m:r>
                  <m:r>
                    <m:rPr>
                      <m:sty m:val="p"/>
                    </m:rPr>
                    <ns0:rPr xmlns:ns0="http://schemas.openxmlformats.org/wordprocessingml/2006/main">
                      <ns0:sz ns0:val="68"/>
                      <ns0:szCs ns0:val="68"/>
                    </ns0:rPr>
                    <m:t>(</m:t>
                  </m:r>
                  <m:r>
                    <ns0:rPr xmlns:ns0="http://schemas.openxmlformats.org/wordprocessingml/2006/main">
                      <ns0:sz ns0:val="68"/>
                      <ns0:szCs ns0:val="68"/>
                    </ns0:rPr>
                    <m:t>1</m:t>
                  </m:r>
                  <m:r>
                    <m:rPr>
                      <m:sty m:val="p"/>
                    </m:rPr>
                    <ns0:rPr xmlns:ns0="http://schemas.openxmlformats.org/wordprocessingml/2006/main">
                      <ns0:sz ns0:val="68"/>
                      <ns0:szCs ns0:val="68"/>
                    </ns0:rPr>
                    <m:t>+</m:t>
                  </m:r>
                  <m:r>
                    <m:rPr>
                      <m:sty m:val="p"/>
                    </m:rPr>
                    <ns0:rPr xmlns:ns0="http://schemas.openxmlformats.org/wordprocessingml/2006/main">
                      <ns0:sz ns0:val="68"/>
                      <ns0:szCs ns0:val="68"/>
                    </ns0:rPr>
                    <m:t>Δ</m:t>
                  </m:r>
                  <m:r>
                    <ns0:rPr xmlns:ns0="http://schemas.openxmlformats.org/wordprocessingml/2006/main">
                      <ns0:sz ns0:val="68"/>
                      <ns0:szCs ns0:val="68"/>
                    </ns0:rPr>
                    <m:t>V</m:t>
                  </m:r>
                  <m:r>
                    <m:rPr>
                      <m:sty m:val="p"/>
                    </m:rPr>
                    <ns0:rPr xmlns:ns0="http://schemas.openxmlformats.org/wordprocessingml/2006/main">
                      <ns0:sz ns0:val="68"/>
                      <ns0:szCs ns0:val="68"/>
                    </ns0:rPr>
                    <m:t>/</m:t>
                  </m:r>
                  <m:r>
                    <ns0:rPr xmlns:ns0="http://schemas.openxmlformats.org/wordprocessingml/2006/main">
                      <ns0:sz ns0:val="68"/>
                      <ns0:szCs ns0:val="68"/>
                    </ns0:rPr>
                    <m:t>V</m:t>
                  </m:r>
                  <m:r>
                    <m:rPr>
                      <m:sty m:val="p"/>
                    </m:rPr>
                    <ns0:rPr xmlns:ns0="http://schemas.openxmlformats.org/wordprocessingml/2006/main">
                      <ns0:sz ns0:val="68"/>
                      <ns0:szCs ns0:val="68"/>
                    </ns0:rPr>
                    <m:t>)</m:t>
                  </m:r>
                </m:oMath>
              </m:oMathPara>
            </a14:m>
          </a:p>
        </p:txBody>
      </p:sp>
      <p:sp>
        <p:nvSpPr>
          <p:cNvPr id="4" name="TextBox 3"/>
          <p:cNvSpPr txBox="1"/>
          <p:nvPr/>
        </p:nvSpPr>
        <p:spPr>
          <a:xfrm>
            <a:off x="2255367" y="2710180"/>
            <a:ext cx="1554480" cy="237744"/>
          </a:xfrm>
          <a:prstGeom prst="rect">
            <a:avLst/>
          </a:prstGeom>
          <a:noFill/>
        </p:spPr>
        <p:txBody>
          <a:bodyPr wrap="none" lIns="0" rIns="0" tIns="0" bIns="0">
            <a:noAutofit/>
          </a:bodyPr>
          <a:lstStyle/>
          <a:p>
            <a:pPr algn="r">
              <a:defRPr sz="1200" b="1">
                <a:solidFill>
                  <a:srgbClr val="71635B"/>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2947924"/>
            <a:ext cx="9525" cy="1755648"/>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113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Δ</m:t>
                </m:r>
                <m:r>
                  <ns0:rPr xmlns:ns0="http://schemas.openxmlformats.org/wordprocessingml/2006/main">
                    <ns0:sz ns0:val="40"/>
                    <ns0:szCs ns0:val="40"/>
                  </ns0:rPr>
                  <m:t>P</m:t>
                </m:r>
                <m:r>
                  <m:rPr>
                    <m:sty m:val="p"/>
                  </m:rPr>
                  <ns0:rPr xmlns:ns0="http://schemas.openxmlformats.org/wordprocessingml/2006/main">
                    <ns0:sz ns0:val="40"/>
                    <ns0:szCs ns0:val="40"/>
                  </ns0:rPr>
                  <m:t>,</m:t>
                </m:r>
                <m:r>
                  <m:rPr>
                    <m:sty m:val="p"/>
                  </m:rPr>
                  <ns0:rPr xmlns:ns0="http://schemas.openxmlformats.org/wordprocessingml/2006/main">
                    <ns0:sz ns0:val="40"/>
                    <ns0:szCs ns0:val="40"/>
                  </ns0:rPr>
                  <m:t>Δ</m:t>
                </m:r>
                <m:r>
                  <ns0:rPr xmlns:ns0="http://schemas.openxmlformats.org/wordprocessingml/2006/main">
                    <ns0:sz ns0:val="40"/>
                    <ns0:szCs ns0:val="40"/>
                  </ns0:rPr>
                  <m:t>Q</m:t>
                </m:r>
              </m:oMath>
            </a14:m>
          </a:p>
        </p:txBody>
      </p:sp>
      <p:sp>
        <p:nvSpPr>
          <p:cNvPr id="7" name="TextBox 6"/>
          <p:cNvSpPr txBox="1"/>
          <p:nvPr/>
        </p:nvSpPr>
        <p:spPr>
          <a:xfrm>
            <a:off x="4267047" y="2911348"/>
            <a:ext cx="5669280" cy="457200"/>
          </a:xfrm>
          <a:prstGeom prst="rect">
            <a:avLst/>
          </a:prstGeom>
          <a:noFill/>
        </p:spPr>
        <p:txBody>
          <a:bodyPr wrap="square" lIns="0" rIns="0" tIns="0" bIns="0" anchor="ctr">
            <a:noAutofit/>
          </a:bodyPr>
          <a:lstStyle/>
          <a:p>
            <a:r>
              <a:rPr sz="1400">
                <a:solidFill>
                  <a:srgbClr val="33221E"/>
                </a:solidFill>
                <a:latin typeface="Avenir Next"/>
                <a:ea typeface="Hiragino Sans"/>
                <a:cs typeface="Hiragino Sans"/>
              </a:rPr>
              <a:t>ミスマッチ P_spec − P_calc、Q_spec − Q_calc。指定値と今の計算値の差。これを 0 にしたい</a:t>
            </a:r>
          </a:p>
        </p:txBody>
      </p:sp>
      <p:sp>
        <p:nvSpPr>
          <p:cNvPr id="8" name="TextBox 7"/>
          <p:cNvSpPr txBox="1"/>
          <p:nvPr/>
        </p:nvSpPr>
        <p:spPr>
          <a:xfrm>
            <a:off x="2255367" y="33685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Δ</m:t>
                </m:r>
                <m:r>
                  <ns0:rPr xmlns:ns0="http://schemas.openxmlformats.org/wordprocessingml/2006/main">
                    <ns0:sz ns0:val="40"/>
                    <ns0:szCs ns0:val="40"/>
                  </ns0:rPr>
                  <m:t>θ</m:t>
                </m:r>
                <m:r>
                  <m:rPr>
                    <m:sty m:val="p"/>
                  </m:rPr>
                  <ns0:rPr xmlns:ns0="http://schemas.openxmlformats.org/wordprocessingml/2006/main">
                    <ns0:sz ns0:val="40"/>
                    <ns0:szCs ns0:val="40"/>
                  </ns0:rPr>
                  <m:t>,</m:t>
                </m:r>
                <m:r>
                  <m:rPr>
                    <m:sty m:val="p"/>
                  </m:rPr>
                  <ns0:rPr xmlns:ns0="http://schemas.openxmlformats.org/wordprocessingml/2006/main">
                    <ns0:sz ns0:val="40"/>
                    <ns0:szCs ns0:val="40"/>
                  </ns0:rPr>
                  <m:t>Δ</m:t>
                </m:r>
                <m:r>
                  <ns0:rPr xmlns:ns0="http://schemas.openxmlformats.org/wordprocessingml/2006/main">
                    <ns0:sz ns0:val="40"/>
                    <ns0:szCs ns0:val="40"/>
                  </ns0:rPr>
                  <m:t>V</m:t>
                </m:r>
                <m:r>
                  <m:rPr>
                    <m:sty m:val="p"/>
                  </m:rPr>
                  <ns0:rPr xmlns:ns0="http://schemas.openxmlformats.org/wordprocessingml/2006/main">
                    <ns0:sz ns0:val="40"/>
                    <ns0:szCs ns0:val="40"/>
                  </ns0:rPr>
                  <m:t>/</m:t>
                </m:r>
                <m:r>
                  <ns0:rPr xmlns:ns0="http://schemas.openxmlformats.org/wordprocessingml/2006/main">
                    <ns0:sz ns0:val="40"/>
                    <ns0:szCs ns0:val="40"/>
                  </ns0:rPr>
                  <m:t>V</m:t>
                </m:r>
              </m:oMath>
            </a14:m>
          </a:p>
        </p:txBody>
      </p:sp>
      <p:sp>
        <p:nvSpPr>
          <p:cNvPr id="9" name="TextBox 8"/>
          <p:cNvSpPr txBox="1"/>
          <p:nvPr/>
        </p:nvSpPr>
        <p:spPr>
          <a:xfrm>
            <a:off x="4267047" y="3368548"/>
            <a:ext cx="5669280" cy="457200"/>
          </a:xfrm>
          <a:prstGeom prst="rect">
            <a:avLst/>
          </a:prstGeom>
          <a:noFill/>
        </p:spPr>
        <p:txBody>
          <a:bodyPr wrap="square" lIns="0" rIns="0" tIns="0" bIns="0" anchor="ctr">
            <a:noAutofit/>
          </a:bodyPr>
          <a:lstStyle/>
          <a:p>
            <a:r>
              <a:rPr sz="1400">
                <a:solidFill>
                  <a:srgbClr val="33221E"/>
                </a:solidFill>
                <a:latin typeface="Avenir Next"/>
                <a:ea typeface="Hiragino Sans"/>
                <a:cs typeface="Hiragino Sans"/>
              </a:rPr>
              <a:t>修正量。連立一次方程式を 1 回解いて得る。PV 母線には ΔV の列も ΔQ の行も無い</a:t>
            </a:r>
          </a:p>
        </p:txBody>
      </p:sp>
      <p:sp>
        <p:nvSpPr>
          <p:cNvPr id="10" name="TextBox 9"/>
          <p:cNvSpPr txBox="1"/>
          <p:nvPr/>
        </p:nvSpPr>
        <p:spPr>
          <a:xfrm>
            <a:off x="2255367" y="38257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bi"/>
                  </m:rPr>
                  <ns0:rPr xmlns:ns0="http://schemas.openxmlformats.org/wordprocessingml/2006/main">
                    <ns0:sz ns0:val="40"/>
                    <ns0:szCs ns0:val="40"/>
                  </ns0:rPr>
                  <m:t>J</m:t>
                </m:r>
              </m:oMath>
            </a14:m>
          </a:p>
        </p:txBody>
      </p:sp>
      <p:sp>
        <p:nvSpPr>
          <p:cNvPr id="11" name="TextBox 10"/>
          <p:cNvSpPr txBox="1"/>
          <p:nvPr/>
        </p:nvSpPr>
        <p:spPr>
          <a:xfrm>
            <a:off x="4267047" y="3825748"/>
            <a:ext cx="5669280" cy="457200"/>
          </a:xfrm>
          <a:prstGeom prst="rect">
            <a:avLst/>
          </a:prstGeom>
          <a:noFill/>
        </p:spPr>
        <p:txBody>
          <a:bodyPr wrap="square" lIns="0" rIns="0" tIns="0" bIns="0" anchor="ctr">
            <a:noAutofit/>
          </a:bodyPr>
          <a:lstStyle/>
          <a:p>
            <a:r>
              <a:rPr sz="1400">
                <a:solidFill>
                  <a:srgbClr val="33221E"/>
                </a:solidFill>
                <a:latin typeface="Avenir Next"/>
                <a:ea typeface="Hiragino Sans"/>
                <a:cs typeface="Hiragino Sans"/>
              </a:rPr>
              <a:t>大きさは (N_PV + 2N_PQ) 次の正方行列。3 母線（PV 1・PQ 1）なら 3×3、IEEE 14 母線なら 22×22</a:t>
            </a:r>
          </a:p>
        </p:txBody>
      </p:sp>
      <p:sp>
        <p:nvSpPr>
          <p:cNvPr id="12" name="TextBox 11"/>
          <p:cNvSpPr txBox="1"/>
          <p:nvPr/>
        </p:nvSpPr>
        <p:spPr>
          <a:xfrm>
            <a:off x="2255367" y="42829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ε</m:t>
                </m:r>
              </m:oMath>
            </a14:m>
          </a:p>
        </p:txBody>
      </p:sp>
      <p:sp>
        <p:nvSpPr>
          <p:cNvPr id="13" name="TextBox 12"/>
          <p:cNvSpPr txBox="1"/>
          <p:nvPr/>
        </p:nvSpPr>
        <p:spPr>
          <a:xfrm>
            <a:off x="4267047" y="4282948"/>
            <a:ext cx="5669280" cy="457200"/>
          </a:xfrm>
          <a:prstGeom prst="rect">
            <a:avLst/>
          </a:prstGeom>
          <a:noFill/>
        </p:spPr>
        <p:txBody>
          <a:bodyPr wrap="square" lIns="0" rIns="0" tIns="0" bIns="0" anchor="ctr">
            <a:noAutofit/>
          </a:bodyPr>
          <a:lstStyle/>
          <a:p>
            <a:r>
              <a:rPr sz="1400">
                <a:solidFill>
                  <a:srgbClr val="33221E"/>
                </a:solidFill>
                <a:latin typeface="Avenir Next"/>
                <a:ea typeface="Hiragino Sans"/>
                <a:cs typeface="Hiragino Sans"/>
              </a:rPr>
              <a:t>収束判定。max |ΔP|, |ΔQ| が ε（既定 10⁻⁶ p.u.）を下回ったら終了。3〜5 回で着く</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14 母線のヤコビアンは 22×22</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読み方｜IEEE 14 母線を pandapower で解いた点でのヤコビアン。色の濃さが要素の絶対値</a:t>
            </a:r>
          </a:p>
        </p:txBody>
      </p:sp>
      <p:pic>
        <p:nvPicPr>
          <p:cNvPr id="4" name="Picture 3" descr="ch05_jacobian_blocks.png"/>
          <p:cNvPicPr>
            <a:picLocks noChangeAspect="1"/>
          </p:cNvPicPr>
          <p:nvPr/>
        </p:nvPicPr>
        <p:blipFill>
          <a:blip r:embed="rId2"/>
          <a:stretch>
            <a:fillRect/>
          </a:stretch>
        </p:blipFill>
        <p:spPr>
          <a:xfrm>
            <a:off x="566928" y="1683512"/>
            <a:ext cx="4214824" cy="2933700"/>
          </a:xfrm>
          <a:prstGeom prst="rect">
            <a:avLst/>
          </a:prstGeom>
        </p:spPr>
      </p:pic>
      <p:sp>
        <p:nvSpPr>
          <p:cNvPr id="5" name="TextBox 4"/>
          <p:cNvSpPr txBox="1"/>
          <p:nvPr/>
        </p:nvSpPr>
        <p:spPr>
          <a:xfrm>
            <a:off x="566928" y="4672076"/>
            <a:ext cx="4214824"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出典｜コード/fig_ch05.py</a:t>
            </a:r>
          </a:p>
        </p:txBody>
      </p:sp>
      <p:sp>
        <p:nvSpPr>
          <p:cNvPr id="6" name="TextBox 5"/>
          <p:cNvSpPr txBox="1"/>
          <p:nvPr/>
        </p:nvSpPr>
        <p:spPr>
          <a:xfrm>
            <a:off x="5165800" y="2510663"/>
            <a:ext cx="6458967"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PV 4・PQ 9 → 13 + 9 = 22 行</a:t>
            </a:r>
          </a:p>
          <a:p>
            <a:pPr>
              <a:spcBef>
                <a:spcPts val="400"/>
              </a:spcBef>
              <a:buChar char="•"/>
            </a:pPr>
            <a:r>
              <a:rPr sz="2000">
                <a:solidFill>
                  <a:srgbClr val="33221E"/>
                </a:solidFill>
                <a:latin typeface="Avenir Next"/>
                <a:ea typeface="Hiragino Sans"/>
                <a:cs typeface="Hiragino Sans"/>
              </a:rPr>
              <a:t>非零は 29%（疎行列）</a:t>
            </a:r>
          </a:p>
          <a:p>
            <a:pPr>
              <a:spcBef>
                <a:spcPts val="400"/>
              </a:spcBef>
              <a:buChar char="•"/>
            </a:pPr>
            <a:r>
              <a:rPr sz="2000">
                <a:solidFill>
                  <a:srgbClr val="33221E"/>
                </a:solidFill>
                <a:latin typeface="Avenir Next"/>
                <a:ea typeface="Hiragino Sans"/>
                <a:cs typeface="Hiragino Sans"/>
              </a:rPr>
              <a:t>‖H‖ 92、‖L‖ 80 が大きい</a:t>
            </a:r>
          </a:p>
          <a:p>
            <a:pPr>
              <a:spcBef>
                <a:spcPts val="400"/>
              </a:spcBef>
              <a:buChar char="•"/>
            </a:pPr>
            <a:r>
              <a:rPr sz="2000">
                <a:solidFill>
                  <a:srgbClr val="33221E"/>
                </a:solidFill>
                <a:latin typeface="Avenir Next"/>
                <a:ea typeface="Hiragino Sans"/>
                <a:cs typeface="Hiragino Sans"/>
              </a:rPr>
              <a:t>‖N‖ 24、‖M‖ 25 は 1/3〜1/4</a:t>
            </a:r>
          </a:p>
        </p:txBody>
      </p:sp>
      <p:sp>
        <p:nvSpPr>
          <p:cNvPr id="7" name="Rounded Rectangle 6"/>
          <p:cNvSpPr/>
          <p:nvPr/>
        </p:nvSpPr>
        <p:spPr>
          <a:xfrm>
            <a:off x="566928" y="5244846"/>
            <a:ext cx="11057839" cy="863346"/>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4846"/>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371846"/>
            <a:ext cx="10600639" cy="609346"/>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対角ブロック H, L が濃く、非対角 N, M は薄い。第3回の「P は θ、Q は V」の分離がヤコビアンに現れている。これが Ⅲ章の高速デカップル法の根拠。</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2 — 3 母線の最初の 1 反復</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フラットスタート</a:t>
            </a:r>
          </a:p>
          <a:p>
            <a:pPr>
              <a:spcBef>
                <a:spcPts val="600"/>
              </a:spcBef>
            </a:pPr>
            <a:r>
              <a:rPr sz="1500">
                <a:solidFill>
                  <a:srgbClr val="33221E"/>
                </a:solidFill>
                <a:latin typeface="Avenir Next"/>
                <a:ea typeface="Hiragino Sans"/>
                <a:cs typeface="Hiragino Sans"/>
              </a:rPr>
              <a:t>V = (1.05, 1.02, 1.00)、θ = 0。電力方程式で P₂ = −0.119、P₃ = −0.096、Q₂ = −0.409、Q₃ = −0.333</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ミスマッチ</a:t>
            </a:r>
          </a:p>
          <a:p>
            <a:pPr>
              <a:spcBef>
                <a:spcPts val="600"/>
              </a:spcBef>
            </a:pPr>
            <a:r>
              <a:rPr sz="1500">
                <a:solidFill>
                  <a:srgbClr val="33221E"/>
                </a:solidFill>
                <a:latin typeface="Avenir Next"/>
                <a:ea typeface="Hiragino Sans"/>
                <a:cs typeface="Hiragino Sans"/>
              </a:rPr>
              <a:t>ΔP₂ = 0.5 − (−0.119) = 0.619、ΔP₃ = −1.0 − (−0.096) = −0.904、ΔQ₃ = −0.4 − (−0.333) = −0.068</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ヤコビアン</a:t>
            </a:r>
          </a:p>
          <a:p>
            <a:pPr>
              <a:spcBef>
                <a:spcPts val="600"/>
              </a:spcBef>
            </a:pPr>
            <a:r>
              <a:rPr sz="1500">
                <a:solidFill>
                  <a:srgbClr val="33221E"/>
                </a:solidFill>
                <a:latin typeface="Avenir Next"/>
                <a:ea typeface="Hiragino Sans"/>
                <a:cs typeface="Hiragino Sans"/>
              </a:rPr>
              <a:t>H₂₂ = −Q₂ − B₂₂V₂² = 0.409 + 19.95 × 1.040 = 21.17。H₂₃ = −5.10、H₃₃ = 9.04、L₃₃ = 8.37。N, M は ±1.7〜3.0</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解いて更新</a:t>
            </a:r>
          </a:p>
          <a:p>
            <a:pPr>
              <a:spcBef>
                <a:spcPts val="600"/>
              </a:spcBef>
            </a:pPr>
            <a:r>
              <a:rPr sz="1500">
                <a:solidFill>
                  <a:srgbClr val="33221E"/>
                </a:solidFill>
                <a:latin typeface="Avenir Next"/>
                <a:ea typeface="Hiragino Sans"/>
                <a:cs typeface="Hiragino Sans"/>
              </a:rPr>
              <a:t>Δθ₂ = 0.33°、Δθ₃ = −4.84°、ΔV₃/V₃ = −0.040 → V₃ = 0.960。次のミスマッチ 0.048。真の解は θ₃ = −5.12°、V₃ = 0.954</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結果 — 反復回数は桁が違う</a:t>
            </a:r>
          </a:p>
        </p:txBody>
      </p:sp>
      <p:sp>
        <p:nvSpPr>
          <p:cNvPr id="3" name="Rounded Rectangle 2"/>
          <p:cNvSpPr/>
          <p:nvPr/>
        </p:nvSpPr>
        <p:spPr>
          <a:xfrm>
            <a:off x="566928"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4回</a:t>
            </a:r>
          </a:p>
          <a:p>
            <a:pPr algn="ctr">
              <a:spcBef>
                <a:spcPts val="600"/>
              </a:spcBef>
              <a:defRPr sz="1350" b="1">
                <a:solidFill>
                  <a:srgbClr val="71635B"/>
                </a:solidFill>
                <a:latin typeface="Avenir Next"/>
                <a:ea typeface="Hiragino Sans"/>
                <a:cs typeface="Hiragino Sans"/>
              </a:defRPr>
            </a:pPr>
            <a:r>
              <a:rPr spc="40">
                <a:ea typeface="Hiragino Sans"/>
                <a:cs typeface="Hiragino Sans"/>
              </a:rPr>
              <a:t>ニュートン・ラフソン法（10⁻⁸ まで）</a:t>
            </a:r>
          </a:p>
        </p:txBody>
      </p:sp>
      <p:sp>
        <p:nvSpPr>
          <p:cNvPr id="6" name="Rounded Rectangle 5"/>
          <p:cNvSpPr/>
          <p:nvPr/>
        </p:nvSpPr>
        <p:spPr>
          <a:xfrm>
            <a:off x="4344314"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4314"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13回</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ガウス・ザイデル法 α = 1.0</a:t>
            </a:r>
          </a:p>
        </p:txBody>
      </p:sp>
      <p:sp>
        <p:nvSpPr>
          <p:cNvPr id="9" name="Rounded Rectangle 8"/>
          <p:cNvSpPr/>
          <p:nvPr/>
        </p:nvSpPr>
        <p:spPr>
          <a:xfrm>
            <a:off x="8121700"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1700"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0300"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31回</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ガウス・ザイデル法 α = 1.6</a:t>
            </a:r>
          </a:p>
        </p:txBody>
      </p:sp>
      <p:sp>
        <p:nvSpPr>
          <p:cNvPr id="12" name="TextBox 11"/>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03</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03</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Ⅲ. 高速デカップル法</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N と M を捨て、係数行列を定数にして LU 分解を 1 回で済ませる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X ≫ R ほど N, M が消える</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読み方｜3 母線系統の X/R を 1 → 15 に変え、解での ‖N‖/‖H‖ と ‖M‖/‖L‖ を描いた</a:t>
            </a:r>
          </a:p>
        </p:txBody>
      </p:sp>
      <p:pic>
        <p:nvPicPr>
          <p:cNvPr id="4" name="Picture 3" descr="ch05_xr_ratio.png"/>
          <p:cNvPicPr>
            <a:picLocks noChangeAspect="1"/>
          </p:cNvPicPr>
          <p:nvPr/>
        </p:nvPicPr>
        <p:blipFill>
          <a:blip r:embed="rId2"/>
          <a:stretch>
            <a:fillRect/>
          </a:stretch>
        </p:blipFill>
        <p:spPr>
          <a:xfrm>
            <a:off x="566928" y="1683512"/>
            <a:ext cx="5379095" cy="2933700"/>
          </a:xfrm>
          <a:prstGeom prst="rect">
            <a:avLst/>
          </a:prstGeom>
        </p:spPr>
      </p:pic>
      <p:sp>
        <p:nvSpPr>
          <p:cNvPr id="5" name="TextBox 4"/>
          <p:cNvSpPr txBox="1"/>
          <p:nvPr/>
        </p:nvSpPr>
        <p:spPr>
          <a:xfrm>
            <a:off x="566928" y="4672076"/>
            <a:ext cx="5379095"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出典｜コード/fig_ch05.py</a:t>
            </a:r>
          </a:p>
        </p:txBody>
      </p:sp>
      <p:sp>
        <p:nvSpPr>
          <p:cNvPr id="6" name="TextBox 5"/>
          <p:cNvSpPr txBox="1"/>
          <p:nvPr/>
        </p:nvSpPr>
        <p:spPr>
          <a:xfrm>
            <a:off x="6330071" y="2510663"/>
            <a:ext cx="5294696"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X/R = 3：‖N‖/‖H‖ 0.09</a:t>
            </a:r>
          </a:p>
          <a:p>
            <a:pPr>
              <a:spcBef>
                <a:spcPts val="400"/>
              </a:spcBef>
              <a:buChar char="•"/>
            </a:pPr>
            <a:r>
              <a:rPr sz="2000">
                <a:solidFill>
                  <a:srgbClr val="33221E"/>
                </a:solidFill>
                <a:latin typeface="Avenir Next"/>
                <a:ea typeface="Hiragino Sans"/>
                <a:cs typeface="Hiragino Sans"/>
              </a:rPr>
              <a:t>同じく ‖M‖/‖L‖ は 0.56</a:t>
            </a:r>
          </a:p>
          <a:p>
            <a:pPr>
              <a:spcBef>
                <a:spcPts val="400"/>
              </a:spcBef>
              <a:buChar char="•"/>
            </a:pPr>
            <a:r>
              <a:rPr sz="2000">
                <a:solidFill>
                  <a:srgbClr val="33221E"/>
                </a:solidFill>
                <a:latin typeface="Avenir Next"/>
                <a:ea typeface="Hiragino Sans"/>
                <a:cs typeface="Hiragino Sans"/>
              </a:rPr>
              <a:t>X/R = 10：0.00 / 0.25</a:t>
            </a:r>
          </a:p>
          <a:p>
            <a:pPr>
              <a:spcBef>
                <a:spcPts val="400"/>
              </a:spcBef>
              <a:buChar char="•"/>
            </a:pPr>
            <a:r>
              <a:rPr sz="2000">
                <a:solidFill>
                  <a:srgbClr val="33221E"/>
                </a:solidFill>
                <a:latin typeface="Avenir Next"/>
                <a:ea typeface="Hiragino Sans"/>
                <a:cs typeface="Hiragino Sans"/>
              </a:rPr>
              <a:t>配電線（X/R ≈ 1）は分離が崩れる</a:t>
            </a:r>
          </a:p>
        </p:txBody>
      </p:sp>
      <p:sp>
        <p:nvSpPr>
          <p:cNvPr id="7" name="Rounded Rectangle 6"/>
          <p:cNvSpPr/>
          <p:nvPr/>
        </p:nvSpPr>
        <p:spPr>
          <a:xfrm>
            <a:off x="566928" y="5244846"/>
            <a:ext cx="11057839" cy="863346"/>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4846"/>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371846"/>
            <a:ext cx="10600639" cy="609346"/>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第3回の P–δ / Q–V 分離は「X ≫ R」の帰結。架空送電線（X/R = 5〜15）では N ≈ 0、M ≈ 0 と置いてよいが、R の大きい配電線では置けない。</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高速デカップル法 — LU 分解は 1 回</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読み方｜左が NR 法、右が高速デカップル法の 1 周。赤の箱が毎回やり直す重い処理</a:t>
            </a:r>
          </a:p>
        </p:txBody>
      </p:sp>
      <p:pic>
        <p:nvPicPr>
          <p:cNvPr id="4" name="Picture 3" descr="ch05_fdlf_flow.png"/>
          <p:cNvPicPr>
            <a:picLocks noChangeAspect="1"/>
          </p:cNvPicPr>
          <p:nvPr/>
        </p:nvPicPr>
        <p:blipFill>
          <a:blip r:embed="rId2"/>
          <a:stretch>
            <a:fillRect/>
          </a:stretch>
        </p:blipFill>
        <p:spPr>
          <a:xfrm>
            <a:off x="566928" y="1758787"/>
            <a:ext cx="6413546" cy="2783150"/>
          </a:xfrm>
          <a:prstGeom prst="rect">
            <a:avLst/>
          </a:prstGeom>
        </p:spPr>
      </p:pic>
      <p:sp>
        <p:nvSpPr>
          <p:cNvPr id="5" name="TextBox 4"/>
          <p:cNvSpPr txBox="1"/>
          <p:nvPr/>
        </p:nvSpPr>
        <p:spPr>
          <a:xfrm>
            <a:off x="566928" y="4596801"/>
            <a:ext cx="6413546"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出典｜コード/fig_ch05.py</a:t>
            </a:r>
          </a:p>
        </p:txBody>
      </p:sp>
      <p:sp>
        <p:nvSpPr>
          <p:cNvPr id="6" name="TextBox 5"/>
          <p:cNvSpPr txBox="1"/>
          <p:nvPr/>
        </p:nvSpPr>
        <p:spPr>
          <a:xfrm>
            <a:off x="7364522" y="2510663"/>
            <a:ext cx="4260245"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NR：J を毎回作り LU 分解</a:t>
            </a:r>
          </a:p>
          <a:p>
            <a:pPr>
              <a:spcBef>
                <a:spcPts val="400"/>
              </a:spcBef>
              <a:buChar char="•"/>
            </a:pPr>
            <a:r>
              <a:rPr sz="2000">
                <a:solidFill>
                  <a:srgbClr val="33221E"/>
                </a:solidFill>
                <a:latin typeface="Avenir Next"/>
                <a:ea typeface="Hiragino Sans"/>
                <a:cs typeface="Hiragino Sans"/>
              </a:rPr>
              <a:t>FDLF：B′, B″ は定数で LU 1 回</a:t>
            </a:r>
          </a:p>
          <a:p>
            <a:pPr>
              <a:spcBef>
                <a:spcPts val="400"/>
              </a:spcBef>
              <a:buChar char="•"/>
            </a:pPr>
            <a:r>
              <a:rPr sz="2000">
                <a:solidFill>
                  <a:srgbClr val="33221E"/>
                </a:solidFill>
                <a:latin typeface="Avenir Next"/>
                <a:ea typeface="Hiragino Sans"/>
                <a:cs typeface="Hiragino Sans"/>
              </a:rPr>
              <a:t>反復は代入だけ（前進・後退）</a:t>
            </a:r>
          </a:p>
          <a:p>
            <a:pPr>
              <a:spcBef>
                <a:spcPts val="400"/>
              </a:spcBef>
              <a:buChar char="•"/>
            </a:pPr>
            <a:r>
              <a:rPr sz="2000">
                <a:solidFill>
                  <a:srgbClr val="33221E"/>
                </a:solidFill>
                <a:latin typeface="Avenir Next"/>
                <a:ea typeface="Hiragino Sans"/>
                <a:cs typeface="Hiragino Sans"/>
              </a:rPr>
              <a:t>この系統：NR 4 回、FDLF 7 回</a:t>
            </a:r>
          </a:p>
        </p:txBody>
      </p:sp>
      <p:sp>
        <p:nvSpPr>
          <p:cNvPr id="7" name="Rounded Rectangle 6"/>
          <p:cNvSpPr/>
          <p:nvPr/>
        </p:nvSpPr>
        <p:spPr>
          <a:xfrm>
            <a:off x="566928" y="5244846"/>
            <a:ext cx="11057839" cy="863346"/>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4846"/>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371846"/>
            <a:ext cx="10600639" cy="609346"/>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N = M = 0 に加えて cos θ ≈ 1、G sin θ ≪ B、Q ≪ BV² と近似すると H → B′、L → B″ が定数になる。回数は増えるが 1 回が軽く、N-1 の数千ケースで効く。</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26 /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3 — B′ の要素を手で作る</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直列リアクタンスだけ残す</a:t>
            </a:r>
          </a:p>
          <a:p>
            <a:pPr>
              <a:spcBef>
                <a:spcPts val="600"/>
              </a:spcBef>
            </a:pPr>
            <a:r>
              <a:rPr sz="1500">
                <a:solidFill>
                  <a:srgbClr val="33221E"/>
                </a:solidFill>
                <a:latin typeface="Avenir Next"/>
                <a:ea typeface="Hiragino Sans"/>
                <a:cs typeface="Hiragino Sans"/>
              </a:rPr>
              <a:t>x₁₂ = 0.06、x₁₃ = 0.24、x₂₃ = 0.18。R と充電容量は捨てる。未知の θ は母線 2, 3 なので B′ は 2×2</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対角</a:t>
            </a:r>
          </a:p>
          <a:p>
            <a:pPr>
              <a:spcBef>
                <a:spcPts val="600"/>
              </a:spcBef>
            </a:pPr>
            <a:r>
              <a:rPr sz="1500">
                <a:solidFill>
                  <a:srgbClr val="33221E"/>
                </a:solidFill>
                <a:latin typeface="Avenir Next"/>
                <a:ea typeface="Hiragino Sans"/>
                <a:cs typeface="Hiragino Sans"/>
              </a:rPr>
              <a:t>B′₂₂ = 1/0.06 + 1/0.18 = 16.67 + 5.56 = 22.22。B′₃₃ = 1/0.24 + 1/0.18 = 4.17 + 5.56 = 9.72</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非対角と B″</a:t>
            </a:r>
          </a:p>
          <a:p>
            <a:pPr>
              <a:spcBef>
                <a:spcPts val="600"/>
              </a:spcBef>
            </a:pPr>
            <a:r>
              <a:rPr sz="1500">
                <a:solidFill>
                  <a:srgbClr val="33221E"/>
                </a:solidFill>
                <a:latin typeface="Avenir Next"/>
                <a:ea typeface="Hiragino Sans"/>
                <a:cs typeface="Hiragino Sans"/>
              </a:rPr>
              <a:t>B′₂₃ = −1/0.18 = −5.56。B″ は PQ 母線 3 だけの 1×1 で B″₃₃ = −B₃₃ = 8.705（Y_bus の虚部そのまま）</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H と比べる</a:t>
            </a:r>
          </a:p>
          <a:p>
            <a:pPr>
              <a:spcBef>
                <a:spcPts val="600"/>
              </a:spcBef>
            </a:pPr>
            <a:r>
              <a:rPr sz="1500">
                <a:solidFill>
                  <a:srgbClr val="33221E"/>
                </a:solidFill>
                <a:latin typeface="Avenir Next"/>
                <a:ea typeface="Hiragino Sans"/>
                <a:cs typeface="Hiragino Sans"/>
              </a:rPr>
              <a:t>フラットスタートの H₂₂ = 21.17、H₃₃ = 9.04、L₃₃ = 8.37 とほぼ同じ。B′, B″ は反復中に変わらないので LU 分解は 1 回</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27 /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閾値を厳しくしても NR は 4 回</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読み方｜収束判定 ε を 10⁻² から 10⁻¹² まで変え、3 手法の必要反復回数を数えた</a:t>
            </a:r>
          </a:p>
        </p:txBody>
      </p:sp>
      <p:pic>
        <p:nvPicPr>
          <p:cNvPr id="4" name="Picture 3" descr="ch05_tolerance.png"/>
          <p:cNvPicPr>
            <a:picLocks noChangeAspect="1"/>
          </p:cNvPicPr>
          <p:nvPr/>
        </p:nvPicPr>
        <p:blipFill>
          <a:blip r:embed="rId2"/>
          <a:stretch>
            <a:fillRect/>
          </a:stretch>
        </p:blipFill>
        <p:spPr>
          <a:xfrm>
            <a:off x="566928" y="1683512"/>
            <a:ext cx="4833107" cy="2933700"/>
          </a:xfrm>
          <a:prstGeom prst="rect">
            <a:avLst/>
          </a:prstGeom>
        </p:spPr>
      </p:pic>
      <p:sp>
        <p:nvSpPr>
          <p:cNvPr id="5" name="TextBox 4"/>
          <p:cNvSpPr txBox="1"/>
          <p:nvPr/>
        </p:nvSpPr>
        <p:spPr>
          <a:xfrm>
            <a:off x="566928" y="4672076"/>
            <a:ext cx="4833107"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出典｜コード/fig_ch05.py</a:t>
            </a:r>
          </a:p>
        </p:txBody>
      </p:sp>
      <p:sp>
        <p:nvSpPr>
          <p:cNvPr id="6" name="TextBox 5"/>
          <p:cNvSpPr txBox="1"/>
          <p:nvPr/>
        </p:nvSpPr>
        <p:spPr>
          <a:xfrm>
            <a:off x="5784083" y="2510663"/>
            <a:ext cx="5840684"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ε = 10⁻² で NR 2 回、GS 4 回</a:t>
            </a:r>
          </a:p>
          <a:p>
            <a:pPr>
              <a:spcBef>
                <a:spcPts val="400"/>
              </a:spcBef>
              <a:buChar char="•"/>
            </a:pPr>
            <a:r>
              <a:rPr sz="2000">
                <a:solidFill>
                  <a:srgbClr val="33221E"/>
                </a:solidFill>
                <a:latin typeface="Avenir Next"/>
                <a:ea typeface="Hiragino Sans"/>
                <a:cs typeface="Hiragino Sans"/>
              </a:rPr>
              <a:t>ε = 10⁻⁸ で NR 4 回、GS 13 回</a:t>
            </a:r>
          </a:p>
          <a:p>
            <a:pPr>
              <a:spcBef>
                <a:spcPts val="400"/>
              </a:spcBef>
              <a:buChar char="•"/>
            </a:pPr>
            <a:r>
              <a:rPr sz="2000">
                <a:solidFill>
                  <a:srgbClr val="33221E"/>
                </a:solidFill>
                <a:latin typeface="Avenir Next"/>
                <a:ea typeface="Hiragino Sans"/>
                <a:cs typeface="Hiragino Sans"/>
              </a:rPr>
              <a:t>ε = 10⁻¹² で NR 4 回、GS 19 回</a:t>
            </a:r>
          </a:p>
          <a:p>
            <a:pPr>
              <a:spcBef>
                <a:spcPts val="400"/>
              </a:spcBef>
              <a:buChar char="•"/>
            </a:pPr>
            <a:r>
              <a:rPr sz="2000">
                <a:solidFill>
                  <a:srgbClr val="33221E"/>
                </a:solidFill>
                <a:latin typeface="Avenir Next"/>
                <a:ea typeface="Hiragino Sans"/>
                <a:cs typeface="Hiragino Sans"/>
              </a:rPr>
              <a:t>FDLF は 2 → 10 回で中間</a:t>
            </a:r>
          </a:p>
        </p:txBody>
      </p:sp>
      <p:sp>
        <p:nvSpPr>
          <p:cNvPr id="7" name="Rounded Rectangle 6"/>
          <p:cNvSpPr/>
          <p:nvPr/>
        </p:nvSpPr>
        <p:spPr>
          <a:xfrm>
            <a:off x="566928" y="5244846"/>
            <a:ext cx="11057839" cy="863346"/>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4846"/>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371846"/>
            <a:ext cx="10600639" cy="609346"/>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1 次収束は ε を 1 桁厳しくするごとに一定回数ずつ増える。2 次収束は桁が倍々なので、ε をどれだけ厳しくしても数回で済む。既定の 10⁻⁶ は実用上十分。</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04</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04</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Ⅳ. 初期値と Q 限界</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「解けない」には 2 種類ある — 出発点が悪いか、解が無いか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初期値 — 正しい解の近くから出発</a:t>
            </a:r>
          </a:p>
        </p:txBody>
      </p:sp>
      <p:pic>
        <p:nvPicPr>
          <p:cNvPr id="3" name="Picture 2" descr="ch05_initial_guess.png"/>
          <p:cNvPicPr>
            <a:picLocks noChangeAspect="1"/>
          </p:cNvPicPr>
          <p:nvPr/>
        </p:nvPicPr>
        <p:blipFill>
          <a:blip r:embed="rId2"/>
          <a:stretch>
            <a:fillRect/>
          </a:stretch>
        </p:blipFill>
        <p:spPr>
          <a:xfrm>
            <a:off x="228600" y="875303"/>
            <a:ext cx="11734495" cy="4998173"/>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正常運転の解は V ≈ 1、θ ≈ 0 のすぐ近くにある。これは単位法の恩恵で、だから V = 1、θ = 0 から始めれば 3〜4 回で着く。重負荷や逆潮流でそこから外れる系統では、負荷を段階的に増やす継続法や GS の 1〜2 反復で初期値を作る。　出典｜コード/fig_ch05.py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Q 限界 — 電圧を保てなくなる瞬間</a:t>
            </a:r>
          </a:p>
        </p:txBody>
      </p:sp>
      <p:pic>
        <p:nvPicPr>
          <p:cNvPr id="3" name="Picture 2" descr="ch05_qlimit.png"/>
          <p:cNvPicPr>
            <a:picLocks noChangeAspect="1"/>
          </p:cNvPicPr>
          <p:nvPr/>
        </p:nvPicPr>
        <p:blipFill>
          <a:blip r:embed="rId2"/>
          <a:stretch>
            <a:fillRect/>
          </a:stretch>
        </p:blipFill>
        <p:spPr>
          <a:xfrm>
            <a:off x="228600" y="882710"/>
            <a:ext cx="11734495" cy="4983360"/>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反復の各段階で PV 母線の Q を計算し、上限を超えたら Q を上限に固定して PQ 母線に切り替える。この切替が多発する系統は無効電力の余裕が乏しく、電圧崩壊の前兆と読める。　出典｜コード/fig_ch05.py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3 手法の比較 — 使い分け</a:t>
            </a:r>
          </a:p>
        </p:txBody>
      </p:sp>
      <p:sp>
        <p:nvSpPr>
          <p:cNvPr id="3" name="TextBox 2"/>
          <p:cNvSpPr txBox="1"/>
          <p:nvPr/>
        </p:nvSpPr>
        <p:spPr>
          <a:xfrm>
            <a:off x="566928" y="1642237"/>
            <a:ext cx="11057839" cy="365760"/>
          </a:xfrm>
          <a:prstGeom prst="rect">
            <a:avLst/>
          </a:prstGeom>
          <a:noFill/>
        </p:spPr>
        <p:txBody>
          <a:bodyPr wrap="none" lIns="0" rIns="0" tIns="0" bIns="0">
            <a:noAutofit/>
          </a:bodyPr>
          <a:lstStyle/>
          <a:p>
            <a:pPr>
              <a:defRPr sz="1600" b="1">
                <a:solidFill>
                  <a:srgbClr val="5C7268"/>
                </a:solidFill>
                <a:latin typeface="Avenir Next"/>
                <a:ea typeface="Hiragino Sans"/>
                <a:cs typeface="Hiragino Sans"/>
              </a:defRPr>
            </a:pPr>
            <a:r>
              <a:rPr>
                <a:ea typeface="Hiragino Sans"/>
                <a:cs typeface="Hiragino Sans"/>
              </a:rPr>
              <a:t>同じ 3 母線系統・同じ判定 ε = 10⁻⁸ での実測</a:t>
            </a:r>
          </a:p>
        </p:txBody>
      </p:sp>
      <p:graphicFrame>
        <p:nvGraphicFramePr>
          <p:cNvPr id="4" name="Table 3"/>
          <p:cNvGraphicFramePr>
            <a:graphicFrameLocks noGrp="1"/>
          </p:cNvGraphicFramePr>
          <p:nvPr/>
        </p:nvGraphicFramePr>
        <p:xfrm>
          <a:off x="1775993" y="2190877"/>
          <a:ext cx="8639708" cy="2622550"/>
        </p:xfrm>
        <a:graphic>
          <a:graphicData uri="http://schemas.openxmlformats.org/drawingml/2006/table">
            <a:tbl>
              <a:tblPr/>
              <a:tblGrid>
                <a:gridCol w="1676400"/>
                <a:gridCol w="2032000"/>
                <a:gridCol w="2387600"/>
                <a:gridCol w="2543708"/>
              </a:tblGrid>
              <a:tr h="374650">
                <a:tc>
                  <a:txBody>
                    <a:bodyPr/>
                    <a:lstStyle/>
                    <a:p>
                      <a:pPr algn="l"/>
                      <a:r>
                        <a:rPr sz="1400" b="1">
                          <a:solidFill>
                            <a:srgbClr val="33221E"/>
                          </a:solidFill>
                          <a:latin typeface="Avenir Next"/>
                          <a:ea typeface="Hiragino Sans"/>
                          <a:cs typeface="Hiragino Sans"/>
                        </a:rPr>
                        <a:t>項目</a:t>
                      </a:r>
                    </a:p>
                  </a:txBody>
                  <a:tcPr anchor="ctr" marL="127000" marR="127000" marT="76200" marB="76200">
                    <a:lnB w="12700" cap="flat" cmpd="sng" algn="ctr">
                      <a:solidFill>
                        <a:srgbClr val="7C332A"/>
                      </a:solidFill>
                      <a:prstDash val="solid"/>
                    </a:lnB>
                    <a:lnT w="15875" cap="flat" cmpd="sng" algn="ctr">
                      <a:solidFill>
                        <a:srgbClr val="7C332A"/>
                      </a:solidFill>
                      <a:prstDash val="solid"/>
                    </a:lnT>
                    <a:lnR>
                      <a:noFill/>
                    </a:lnR>
                    <a:lnL>
                      <a:noFill/>
                    </a:lnL>
                    <a:noFill/>
                  </a:tcPr>
                </a:tc>
                <a:tc>
                  <a:txBody>
                    <a:bodyPr/>
                    <a:lstStyle/>
                    <a:p>
                      <a:pPr algn="l"/>
                      <a:r>
                        <a:rPr sz="1400" b="1">
                          <a:solidFill>
                            <a:srgbClr val="33221E"/>
                          </a:solidFill>
                          <a:latin typeface="Avenir Next"/>
                          <a:ea typeface="Hiragino Sans"/>
                          <a:cs typeface="Hiragino Sans"/>
                        </a:rPr>
                        <a:t>ガウス・ザイデル</a:t>
                      </a:r>
                    </a:p>
                  </a:txBody>
                  <a:tcPr anchor="ctr" marL="127000" marR="127000" marT="76200" marB="76200">
                    <a:lnB w="12700" cap="flat" cmpd="sng" algn="ctr">
                      <a:solidFill>
                        <a:srgbClr val="7C332A"/>
                      </a:solidFill>
                      <a:prstDash val="solid"/>
                    </a:lnB>
                    <a:lnT w="15875" cap="flat" cmpd="sng" algn="ctr">
                      <a:solidFill>
                        <a:srgbClr val="7C332A"/>
                      </a:solidFill>
                      <a:prstDash val="solid"/>
                    </a:lnT>
                    <a:lnR>
                      <a:noFill/>
                    </a:lnR>
                    <a:lnL>
                      <a:noFill/>
                    </a:lnL>
                    <a:noFill/>
                  </a:tcPr>
                </a:tc>
                <a:tc>
                  <a:txBody>
                    <a:bodyPr/>
                    <a:lstStyle/>
                    <a:p>
                      <a:pPr algn="l"/>
                      <a:r>
                        <a:rPr sz="1400" b="1">
                          <a:solidFill>
                            <a:srgbClr val="33221E"/>
                          </a:solidFill>
                          <a:latin typeface="Avenir Next"/>
                          <a:ea typeface="Hiragino Sans"/>
                          <a:cs typeface="Hiragino Sans"/>
                        </a:rPr>
                        <a:t>ニュートン・ラフソン</a:t>
                      </a:r>
                    </a:p>
                  </a:txBody>
                  <a:tcPr anchor="ctr" marL="127000" marR="127000" marT="76200" marB="76200">
                    <a:lnB w="12700" cap="flat" cmpd="sng" algn="ctr">
                      <a:solidFill>
                        <a:srgbClr val="7C332A"/>
                      </a:solidFill>
                      <a:prstDash val="solid"/>
                    </a:lnB>
                    <a:lnT w="15875" cap="flat" cmpd="sng" algn="ctr">
                      <a:solidFill>
                        <a:srgbClr val="7C332A"/>
                      </a:solidFill>
                      <a:prstDash val="solid"/>
                    </a:lnT>
                    <a:lnR>
                      <a:noFill/>
                    </a:lnR>
                    <a:lnL>
                      <a:noFill/>
                    </a:lnL>
                    <a:noFill/>
                  </a:tcPr>
                </a:tc>
                <a:tc>
                  <a:txBody>
                    <a:bodyPr/>
                    <a:lstStyle/>
                    <a:p>
                      <a:pPr algn="l"/>
                      <a:r>
                        <a:rPr sz="1400" b="1">
                          <a:solidFill>
                            <a:srgbClr val="33221E"/>
                          </a:solidFill>
                          <a:latin typeface="Avenir Next"/>
                          <a:ea typeface="Hiragino Sans"/>
                          <a:cs typeface="Hiragino Sans"/>
                        </a:rPr>
                        <a:t>高速デカップル</a:t>
                      </a:r>
                    </a:p>
                  </a:txBody>
                  <a:tcPr anchor="ctr" marL="127000" marR="127000" marT="76200" marB="76200">
                    <a:lnB w="12700" cap="flat" cmpd="sng" algn="ctr">
                      <a:solidFill>
                        <a:srgbClr val="7C332A"/>
                      </a:solidFill>
                      <a:prstDash val="solid"/>
                    </a:lnB>
                    <a:lnT w="15875" cap="flat" cmpd="sng" algn="ctr">
                      <a:solidFill>
                        <a:srgbClr val="7C332A"/>
                      </a:solidFill>
                      <a:prstDash val="solid"/>
                    </a:lnT>
                    <a:lnR>
                      <a:noFill/>
                    </a:lnR>
                    <a:lnL>
                      <a:noFill/>
                    </a:lnL>
                    <a:noFill/>
                  </a:tcPr>
                </a:tc>
              </a:tr>
              <a:tr h="374650">
                <a:tc>
                  <a:txBody>
                    <a:bodyPr/>
                    <a:lstStyle/>
                    <a:p>
                      <a:pPr algn="l"/>
                      <a:r>
                        <a:rPr sz="1400" b="1">
                          <a:solidFill>
                            <a:srgbClr val="5C7268"/>
                          </a:solidFill>
                          <a:latin typeface="Avenir Next"/>
                          <a:ea typeface="Hiragino Sans"/>
                          <a:cs typeface="Hiragino Sans"/>
                        </a:rPr>
                        <a:t>収束次数</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1 次</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b="1">
                          <a:solidFill>
                            <a:srgbClr val="A03A2E"/>
                          </a:solidFill>
                          <a:latin typeface="Avenir Next"/>
                          <a:ea typeface="Hiragino Sans"/>
                          <a:cs typeface="Hiragino Sans"/>
                        </a:rPr>
                        <a:t>2 次</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1 次（比率が小さい）</a:t>
                      </a:r>
                    </a:p>
                  </a:txBody>
                  <a:tcPr anchor="ctr" marL="127000" marR="127000" marT="76200" marB="76200">
                    <a:lnB w="6350" cap="flat" cmpd="sng" algn="ctr">
                      <a:solidFill>
                        <a:srgbClr val="E5DCCE"/>
                      </a:solidFill>
                      <a:prstDash val="solid"/>
                    </a:lnB>
                    <a:lnT>
                      <a:noFill/>
                    </a:lnT>
                    <a:lnR>
                      <a:noFill/>
                    </a:lnR>
                    <a:lnL>
                      <a:noFill/>
                    </a:lnL>
                    <a:noFill/>
                  </a:tcPr>
                </a:tc>
              </a:tr>
              <a:tr h="374650">
                <a:tc>
                  <a:txBody>
                    <a:bodyPr/>
                    <a:lstStyle/>
                    <a:p>
                      <a:pPr algn="l"/>
                      <a:r>
                        <a:rPr sz="1400" b="1">
                          <a:solidFill>
                            <a:srgbClr val="5C7268"/>
                          </a:solidFill>
                          <a:latin typeface="Avenir Next"/>
                          <a:ea typeface="Hiragino Sans"/>
                          <a:cs typeface="Hiragino Sans"/>
                        </a:rPr>
                        <a:t>この系統での回数</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13 回（α = 1.0）</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b="1">
                          <a:solidFill>
                            <a:srgbClr val="A03A2E"/>
                          </a:solidFill>
                          <a:latin typeface="Avenir Next"/>
                          <a:ea typeface="Hiragino Sans"/>
                          <a:cs typeface="Hiragino Sans"/>
                        </a:rPr>
                        <a:t>4 回</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7 回</a:t>
                      </a:r>
                    </a:p>
                  </a:txBody>
                  <a:tcPr anchor="ctr" marL="127000" marR="127000" marT="76200" marB="76200">
                    <a:lnB w="6350" cap="flat" cmpd="sng" algn="ctr">
                      <a:solidFill>
                        <a:srgbClr val="E5DCCE"/>
                      </a:solidFill>
                      <a:prstDash val="solid"/>
                    </a:lnB>
                    <a:lnT>
                      <a:noFill/>
                    </a:lnT>
                    <a:lnR>
                      <a:noFill/>
                    </a:lnR>
                    <a:lnL>
                      <a:noFill/>
                    </a:lnL>
                    <a:noFill/>
                  </a:tcPr>
                </a:tc>
              </a:tr>
              <a:tr h="374650">
                <a:tc>
                  <a:txBody>
                    <a:bodyPr/>
                    <a:lstStyle/>
                    <a:p>
                      <a:pPr algn="l"/>
                      <a:r>
                        <a:rPr sz="1400" b="1">
                          <a:solidFill>
                            <a:srgbClr val="5C7268"/>
                          </a:solidFill>
                          <a:latin typeface="Avenir Next"/>
                          <a:ea typeface="Hiragino Sans"/>
                          <a:cs typeface="Hiragino Sans"/>
                        </a:rPr>
                        <a:t>1 反復のコスト</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低い</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高い（J を作り LU 分解）</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低い（代入だけ）</a:t>
                      </a:r>
                    </a:p>
                  </a:txBody>
                  <a:tcPr anchor="ctr" marL="127000" marR="127000" marT="76200" marB="76200">
                    <a:lnB w="6350" cap="flat" cmpd="sng" algn="ctr">
                      <a:solidFill>
                        <a:srgbClr val="E5DCCE"/>
                      </a:solidFill>
                      <a:prstDash val="solid"/>
                    </a:lnB>
                    <a:lnT>
                      <a:noFill/>
                    </a:lnT>
                    <a:lnR>
                      <a:noFill/>
                    </a:lnR>
                    <a:lnL>
                      <a:noFill/>
                    </a:lnL>
                    <a:noFill/>
                  </a:tcPr>
                </a:tc>
              </a:tr>
              <a:tr h="374650">
                <a:tc>
                  <a:txBody>
                    <a:bodyPr/>
                    <a:lstStyle/>
                    <a:p>
                      <a:pPr algn="l"/>
                      <a:r>
                        <a:rPr sz="1400" b="1">
                          <a:solidFill>
                            <a:srgbClr val="5C7268"/>
                          </a:solidFill>
                          <a:latin typeface="Avenir Next"/>
                          <a:ea typeface="Hiragino Sans"/>
                          <a:cs typeface="Hiragino Sans"/>
                        </a:rPr>
                        <a:t>母線数が増えると</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回数が比例して増える</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b="1">
                          <a:solidFill>
                            <a:srgbClr val="A03A2E"/>
                          </a:solidFill>
                          <a:latin typeface="Avenir Next"/>
                          <a:ea typeface="Hiragino Sans"/>
                          <a:cs typeface="Hiragino Sans"/>
                        </a:rPr>
                        <a:t>回数は変わらない</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回数はほぼ変わらない</a:t>
                      </a:r>
                    </a:p>
                  </a:txBody>
                  <a:tcPr anchor="ctr" marL="127000" marR="127000" marT="76200" marB="76200">
                    <a:lnB w="6350" cap="flat" cmpd="sng" algn="ctr">
                      <a:solidFill>
                        <a:srgbClr val="E5DCCE"/>
                      </a:solidFill>
                      <a:prstDash val="solid"/>
                    </a:lnB>
                    <a:lnT>
                      <a:noFill/>
                    </a:lnT>
                    <a:lnR>
                      <a:noFill/>
                    </a:lnR>
                    <a:lnL>
                      <a:noFill/>
                    </a:lnL>
                    <a:noFill/>
                  </a:tcPr>
                </a:tc>
              </a:tr>
              <a:tr h="374650">
                <a:tc>
                  <a:txBody>
                    <a:bodyPr/>
                    <a:lstStyle/>
                    <a:p>
                      <a:pPr algn="l"/>
                      <a:r>
                        <a:rPr sz="1400" b="1">
                          <a:solidFill>
                            <a:srgbClr val="5C7268"/>
                          </a:solidFill>
                          <a:latin typeface="Avenir Next"/>
                          <a:ea typeface="Hiragino Sans"/>
                          <a:cs typeface="Hiragino Sans"/>
                        </a:rPr>
                        <a:t>初期値</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鈍感</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敏感（フラットスタート）</a:t>
                      </a:r>
                    </a:p>
                  </a:txBody>
                  <a:tcPr anchor="ctr" marL="127000" marR="127000" marT="76200" marB="76200">
                    <a:lnB w="6350" cap="flat" cmpd="sng" algn="ctr">
                      <a:solidFill>
                        <a:srgbClr val="E5DCCE"/>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敏感</a:t>
                      </a:r>
                    </a:p>
                  </a:txBody>
                  <a:tcPr anchor="ctr" marL="127000" marR="127000" marT="76200" marB="76200">
                    <a:lnB w="6350" cap="flat" cmpd="sng" algn="ctr">
                      <a:solidFill>
                        <a:srgbClr val="E5DCCE"/>
                      </a:solidFill>
                      <a:prstDash val="solid"/>
                    </a:lnB>
                    <a:lnT>
                      <a:noFill/>
                    </a:lnT>
                    <a:lnR>
                      <a:noFill/>
                    </a:lnR>
                    <a:lnL>
                      <a:noFill/>
                    </a:lnL>
                    <a:noFill/>
                  </a:tcPr>
                </a:tc>
              </a:tr>
              <a:tr h="374650">
                <a:tc>
                  <a:txBody>
                    <a:bodyPr/>
                    <a:lstStyle/>
                    <a:p>
                      <a:pPr algn="l"/>
                      <a:r>
                        <a:rPr sz="1400" b="1">
                          <a:solidFill>
                            <a:srgbClr val="5C7268"/>
                          </a:solidFill>
                          <a:latin typeface="Avenir Next"/>
                          <a:ea typeface="Hiragino Sans"/>
                          <a:cs typeface="Hiragino Sans"/>
                        </a:rPr>
                        <a:t>使いどころ</a:t>
                      </a:r>
                    </a:p>
                  </a:txBody>
                  <a:tcPr anchor="ctr" marL="127000" marR="127000" marT="76200" marB="76200">
                    <a:lnB w="15875" cap="flat" cmpd="sng" algn="ctr">
                      <a:solidFill>
                        <a:srgbClr val="7C332A"/>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NR の初期値づくり</a:t>
                      </a:r>
                    </a:p>
                  </a:txBody>
                  <a:tcPr anchor="ctr" marL="127000" marR="127000" marT="76200" marB="76200">
                    <a:lnB w="15875" cap="flat" cmpd="sng" algn="ctr">
                      <a:solidFill>
                        <a:srgbClr val="7C332A"/>
                      </a:solidFill>
                      <a:prstDash val="solid"/>
                    </a:lnB>
                    <a:lnT>
                      <a:noFill/>
                    </a:lnT>
                    <a:lnR>
                      <a:noFill/>
                    </a:lnR>
                    <a:lnL>
                      <a:noFill/>
                    </a:lnL>
                    <a:noFill/>
                  </a:tcPr>
                </a:tc>
                <a:tc>
                  <a:txBody>
                    <a:bodyPr/>
                    <a:lstStyle/>
                    <a:p>
                      <a:pPr algn="l"/>
                      <a:r>
                        <a:rPr sz="1400" b="1">
                          <a:solidFill>
                            <a:srgbClr val="A03A2E"/>
                          </a:solidFill>
                          <a:latin typeface="Avenir Next"/>
                          <a:ea typeface="Hiragino Sans"/>
                          <a:cs typeface="Hiragino Sans"/>
                        </a:rPr>
                        <a:t>標準</a:t>
                      </a:r>
                    </a:p>
                  </a:txBody>
                  <a:tcPr anchor="ctr" marL="127000" marR="127000" marT="76200" marB="76200">
                    <a:lnB w="15875" cap="flat" cmpd="sng" algn="ctr">
                      <a:solidFill>
                        <a:srgbClr val="7C332A"/>
                      </a:solidFill>
                      <a:prstDash val="solid"/>
                    </a:lnB>
                    <a:lnT>
                      <a:noFill/>
                    </a:lnT>
                    <a:lnR>
                      <a:noFill/>
                    </a:lnR>
                    <a:lnL>
                      <a:noFill/>
                    </a:lnL>
                    <a:noFill/>
                  </a:tcPr>
                </a:tc>
                <a:tc>
                  <a:txBody>
                    <a:bodyPr/>
                    <a:lstStyle/>
                    <a:p>
                      <a:pPr algn="l"/>
                      <a:r>
                        <a:rPr sz="1400">
                          <a:solidFill>
                            <a:srgbClr val="33221E"/>
                          </a:solidFill>
                          <a:latin typeface="Avenir Next"/>
                          <a:ea typeface="Hiragino Sans"/>
                          <a:cs typeface="Hiragino Sans"/>
                        </a:rPr>
                        <a:t>N-1 の大量ケース（X ≫ R）</a:t>
                      </a:r>
                    </a:p>
                  </a:txBody>
                  <a:tcPr anchor="ctr" marL="127000" marR="127000" marT="76200" marB="76200">
                    <a:lnB w="15875" cap="flat" cmpd="sng" algn="ctr">
                      <a:solidFill>
                        <a:srgbClr val="7C332A"/>
                      </a:solidFill>
                      <a:prstDash val="solid"/>
                    </a:lnB>
                    <a:lnT>
                      <a:noFill/>
                    </a:lnT>
                    <a:lnR>
                      <a:noFill/>
                    </a:lnR>
                    <a:lnL>
                      <a:noFill/>
                    </a:lnL>
                    <a:noFill/>
                  </a:tcPr>
                </a:tc>
              </a:tr>
            </a:tbl>
          </a:graphicData>
        </a:graphic>
      </p:graphicFrame>
      <p:sp>
        <p:nvSpPr>
          <p:cNvPr id="5" name="Rounded Rectangle 4"/>
          <p:cNvSpPr/>
          <p:nvPr/>
        </p:nvSpPr>
        <p:spPr>
          <a:xfrm>
            <a:off x="566928" y="4996307"/>
            <a:ext cx="11057839" cy="822960"/>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4996307"/>
            <a:ext cx="50800" cy="82296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5097907"/>
            <a:ext cx="10626039" cy="619760"/>
          </a:xfrm>
          <a:prstGeom prst="rect">
            <a:avLst/>
          </a:prstGeom>
          <a:noFill/>
        </p:spPr>
        <p:txBody>
          <a:bodyPr wrap="square" lIns="0" rIns="0" tIns="0" bIns="0" anchor="ctr">
            <a:noAutofit/>
          </a:bodyPr>
          <a:lstStyle/>
          <a:p>
            <a:pPr>
              <a:spcBef>
                <a:spcPts val="400"/>
              </a:spcBef>
            </a:pPr>
            <a:r>
              <a:rPr sz="1500" b="1">
                <a:solidFill>
                  <a:srgbClr val="33221E"/>
                </a:solidFill>
                <a:latin typeface="Avenir Next"/>
                <a:ea typeface="Hiragino Sans"/>
                <a:cs typeface="Hiragino Sans"/>
              </a:rPr>
              <a:t>実務の標準は NR 法。</a:t>
            </a:r>
            <a:r>
              <a:rPr sz="1500">
                <a:solidFill>
                  <a:srgbClr val="33221E"/>
                </a:solidFill>
                <a:latin typeface="Avenir Next"/>
                <a:ea typeface="Hiragino Sans"/>
                <a:cs typeface="Hiragino Sans"/>
              </a:rPr>
              <a:t> 速さが要る場面では高速デカップル法、配電系統（R ≈ X）には別の手法（後退前進法）。</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動く図で試す — viz/newton.html</a:t>
            </a:r>
          </a:p>
        </p:txBody>
      </p:sp>
      <p:pic>
        <p:nvPicPr>
          <p:cNvPr id="3" name="Picture 2" descr="ch05_viz.png"/>
          <p:cNvPicPr>
            <a:picLocks noChangeAspect="1"/>
          </p:cNvPicPr>
          <p:nvPr/>
        </p:nvPicPr>
        <p:blipFill>
          <a:blip r:embed="rId2"/>
          <a:stretch>
            <a:fillRect/>
          </a:stretch>
        </p:blipFill>
        <p:spPr>
          <a:xfrm>
            <a:off x="3682217" y="1353312"/>
            <a:ext cx="4827260" cy="3242310"/>
          </a:xfrm>
          <a:prstGeom prst="rect">
            <a:avLst/>
          </a:prstGeom>
        </p:spPr>
      </p:pic>
      <p:sp>
        <p:nvSpPr>
          <p:cNvPr id="4" name="TextBox 3"/>
          <p:cNvSpPr txBox="1"/>
          <p:nvPr/>
        </p:nvSpPr>
        <p:spPr>
          <a:xfrm>
            <a:off x="566928" y="4732782"/>
            <a:ext cx="11057839" cy="29845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動く図 1 変数の接線と、3 母線系統の GS 法・NR 法を本当に反復し、ヤコビアンの値まで表示する。</a:t>
            </a:r>
          </a:p>
        </p:txBody>
      </p:sp>
      <p:sp>
        <p:nvSpPr>
          <p:cNvPr id="5" name="TextBox 4"/>
          <p:cNvSpPr txBox="1"/>
          <p:nvPr/>
        </p:nvSpPr>
        <p:spPr>
          <a:xfrm>
            <a:off x="566928" y="5214112"/>
            <a:ext cx="11057839" cy="939800"/>
          </a:xfrm>
          <a:prstGeom prst="rect">
            <a:avLst/>
          </a:prstGeom>
          <a:noFill/>
        </p:spPr>
        <p:txBody>
          <a:bodyPr wrap="square" lIns="0" rIns="0" tIns="0" bIns="0">
            <a:spAutoFit/>
          </a:bodyPr>
          <a:lstStyle/>
          <a:p>
            <a:pPr>
              <a:spcBef>
                <a:spcPts val="400"/>
              </a:spcBef>
              <a:buChar char="•"/>
            </a:pPr>
            <a:r>
              <a:rPr sz="1600">
                <a:solidFill>
                  <a:srgbClr val="33221E"/>
                </a:solidFill>
                <a:latin typeface="Avenir Next"/>
                <a:ea typeface="Hiragino Sans"/>
                <a:cs typeface="Hiragino Sans"/>
              </a:rPr>
              <a:t>反復 ν のスライダを 0 → 1 → 2 と進め、最大ミスマッチが 0.90 → 0.048 → 4e-4 と桁を倍々に減らすのを読む</a:t>
            </a:r>
          </a:p>
          <a:p>
            <a:pPr>
              <a:spcBef>
                <a:spcPts val="400"/>
              </a:spcBef>
              <a:buChar char="•"/>
            </a:pPr>
            <a:r>
              <a:rPr sz="1600">
                <a:solidFill>
                  <a:srgbClr val="33221E"/>
                </a:solidFill>
                <a:latin typeface="Avenir Next"/>
                <a:ea typeface="Hiragino Sans"/>
                <a:cs typeface="Hiragino Sans"/>
              </a:rPr>
              <a:t>ヤコビアンの表で H₂₂ = 21.17 と例題 2 の手計算を照合し、N, M が H, L より小さいのを確かめる</a:t>
            </a:r>
          </a:p>
          <a:p>
            <a:pPr>
              <a:spcBef>
                <a:spcPts val="400"/>
              </a:spcBef>
              <a:buChar char="•"/>
            </a:pPr>
            <a:r>
              <a:rPr sz="1600">
                <a:solidFill>
                  <a:srgbClr val="33221E"/>
                </a:solidFill>
                <a:latin typeface="Avenir Next"/>
                <a:ea typeface="Hiragino Sans"/>
                <a:cs typeface="Hiragino Sans"/>
              </a:rPr>
              <a:t>GS の加速係数を 1.0 と 1.6 で切り替え、この系統では 1.6 が逆に遅いことを見る</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なぜそう考えるか — 2 次・分離・Q 限界</a:t>
            </a:r>
          </a:p>
        </p:txBody>
      </p:sp>
      <p:sp>
        <p:nvSpPr>
          <p:cNvPr id="3" name="Rectangle 2"/>
          <p:cNvSpPr/>
          <p:nvPr/>
        </p:nvSpPr>
        <p:spPr>
          <a:xfrm>
            <a:off x="566928" y="1994916"/>
            <a:ext cx="11057839" cy="310896"/>
          </a:xfrm>
          <a:prstGeom prst="rect">
            <a:avLst/>
          </a:prstGeom>
          <a:solidFill>
            <a:srgbClr val="5C72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9491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 2 次収束なのか</a:t>
            </a:r>
          </a:p>
        </p:txBody>
      </p:sp>
      <p:sp>
        <p:nvSpPr>
          <p:cNvPr id="5" name="Rectangle 4"/>
          <p:cNvSpPr/>
          <p:nvPr/>
        </p:nvSpPr>
        <p:spPr>
          <a:xfrm>
            <a:off x="566928" y="2305812"/>
            <a:ext cx="11057839" cy="712216"/>
          </a:xfrm>
          <a:prstGeom prst="rect">
            <a:avLst/>
          </a:prstGeom>
          <a:solidFill>
            <a:srgbClr val="F3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35153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接線近似で捨てたのは 2 次以降の項だから、次の誤差は今の誤差の 2 乗に比例する。0.90 → 0.048 → 4e-4 → 3e-8 と桁が倍々で増え、母線数は式に出てこない。</a:t>
            </a:r>
          </a:p>
        </p:txBody>
      </p:sp>
      <p:sp>
        <p:nvSpPr>
          <p:cNvPr id="7" name="Rectangle 6"/>
          <p:cNvSpPr/>
          <p:nvPr/>
        </p:nvSpPr>
        <p:spPr>
          <a:xfrm>
            <a:off x="566928" y="3219196"/>
            <a:ext cx="11057839" cy="310896"/>
          </a:xfrm>
          <a:prstGeom prst="rect">
            <a:avLst/>
          </a:prstGeom>
          <a:solidFill>
            <a:srgbClr val="146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1919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 N と M を落とせるのか</a:t>
            </a:r>
          </a:p>
        </p:txBody>
      </p:sp>
      <p:sp>
        <p:nvSpPr>
          <p:cNvPr id="9" name="Rectangle 8"/>
          <p:cNvSpPr/>
          <p:nvPr/>
        </p:nvSpPr>
        <p:spPr>
          <a:xfrm>
            <a:off x="566928" y="3530092"/>
            <a:ext cx="11057839" cy="712216"/>
          </a:xfrm>
          <a:prstGeom prst="rect">
            <a:avLst/>
          </a:prstGeom>
          <a:solidFill>
            <a:srgbClr val="E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57581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送電線は X ≫ R なので ∂P/∂V と ∂Q/∂θ が小さい（X/R = 10 で ‖N‖/‖H‖ ≈ 0、‖M‖/‖L‖ 0.25）。落としても跳ぶ方向は大きく狂わず、反復を増やせば同じ解に着く。</a:t>
            </a:r>
          </a:p>
        </p:txBody>
      </p:sp>
      <p:sp>
        <p:nvSpPr>
          <p:cNvPr id="11" name="Rectangle 10"/>
          <p:cNvSpPr/>
          <p:nvPr/>
        </p:nvSpPr>
        <p:spPr>
          <a:xfrm>
            <a:off x="566928" y="4443476"/>
            <a:ext cx="11057839" cy="310896"/>
          </a:xfrm>
          <a:prstGeom prst="rect">
            <a:avLst/>
          </a:prstGeom>
          <a:solidFill>
            <a:srgbClr val="9F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4347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PV 母線の Q 限界</a:t>
            </a:r>
          </a:p>
        </p:txBody>
      </p:sp>
      <p:sp>
        <p:nvSpPr>
          <p:cNvPr id="13" name="Rectangle 12"/>
          <p:cNvSpPr/>
          <p:nvPr/>
        </p:nvSpPr>
        <p:spPr>
          <a:xfrm>
            <a:off x="566928" y="4754372"/>
            <a:ext cx="11057839" cy="712216"/>
          </a:xfrm>
          <a:prstGeom prst="rect">
            <a:avLst/>
          </a:prstGeom>
          <a:solidFill>
            <a:srgbClr val="F8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80009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発電機は無限に Q を出せない。限界を超えたら Q を上限に固定して PQ 母線に切り替え、電圧は下がる。切替が多発する系統は電圧が苦しく、その先で解が無くなる。</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よくある誤解 — 反復回数と「解けない」の意味</a:t>
            </a:r>
          </a:p>
        </p:txBody>
      </p:sp>
      <p:pic>
        <p:nvPicPr>
          <p:cNvPr id="3" name="Picture 2" descr="ch05_myth.png"/>
          <p:cNvPicPr>
            <a:picLocks noChangeAspect="1"/>
          </p:cNvPicPr>
          <p:nvPr/>
        </p:nvPicPr>
        <p:blipFill>
          <a:blip r:embed="rId2"/>
          <a:stretch>
            <a:fillRect/>
          </a:stretch>
        </p:blipFill>
        <p:spPr>
          <a:xfrm>
            <a:off x="507416" y="713232"/>
            <a:ext cx="11176863"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3 つとも「何が反復回数を決めているか」を取り違えたことから来ている。母線数でも判定の厳しさでもなく、収束の次数が効いている。　出典｜コード/fig_ch05.py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持ち帰る 3 点</a:t>
            </a:r>
          </a:p>
        </p:txBody>
      </p:sp>
      <p:sp>
        <p:nvSpPr>
          <p:cNvPr id="3" name="Rectangle 2"/>
          <p:cNvSpPr/>
          <p:nvPr/>
        </p:nvSpPr>
        <p:spPr>
          <a:xfrm>
            <a:off x="5547207" y="2267204"/>
            <a:ext cx="10972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468372"/>
            <a:ext cx="10143439" cy="96520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接線で跳ぶから速い。ヤコビアンは「今ここの傾き」で、P–δ / Q–V 分離がそれを軽くする</a:t>
            </a:r>
          </a:p>
        </p:txBody>
      </p:sp>
      <p:sp>
        <p:nvSpPr>
          <p:cNvPr id="5" name="TextBox 4"/>
          <p:cNvSpPr txBox="1"/>
          <p:nvPr/>
        </p:nvSpPr>
        <p:spPr>
          <a:xfrm>
            <a:off x="1847088" y="3799332"/>
            <a:ext cx="8497519" cy="1193800"/>
          </a:xfrm>
          <a:prstGeom prst="rect">
            <a:avLst/>
          </a:prstGeom>
          <a:noFill/>
        </p:spPr>
        <p:txBody>
          <a:bodyPr wrap="square" lIns="0" rIns="0" tIns="0" bIns="0">
            <a:noAutofit/>
          </a:bodyPr>
          <a:lstStyle/>
          <a:p>
            <a:pPr>
              <a:spcBef>
                <a:spcPts val="800"/>
              </a:spcBef>
            </a:pPr>
            <a:r>
              <a:rPr sz="1600">
                <a:solidFill>
                  <a:srgbClr val="33221E"/>
                </a:solidFill>
                <a:latin typeface="Avenir Next"/>
                <a:ea typeface="Hiragino Sans"/>
                <a:cs typeface="Hiragino Sans"/>
              </a:rPr>
              <a:t>•  ΔP = P_spec − P_calc をヤコビアンで割って修正。2 次収束で 3〜5 回、規模によらない</a:t>
            </a:r>
          </a:p>
          <a:p>
            <a:pPr>
              <a:spcBef>
                <a:spcPts val="800"/>
              </a:spcBef>
            </a:pPr>
            <a:r>
              <a:rPr sz="1600">
                <a:solidFill>
                  <a:srgbClr val="33221E"/>
                </a:solidFill>
                <a:latin typeface="Avenir Next"/>
                <a:ea typeface="Hiragino Sans"/>
                <a:cs typeface="Hiragino Sans"/>
              </a:rPr>
              <a:t>•  高速デカップル法：N ≈ 0、M ≈ 0、B′ と B″ は定数で LU 分解は 1 回。配電線では使えない</a:t>
            </a:r>
          </a:p>
          <a:p>
            <a:pPr>
              <a:spcBef>
                <a:spcPts val="800"/>
              </a:spcBef>
            </a:pPr>
            <a:r>
              <a:rPr sz="1600">
                <a:solidFill>
                  <a:srgbClr val="33221E"/>
                </a:solidFill>
                <a:latin typeface="Avenir Next"/>
                <a:ea typeface="Hiragino Sans"/>
                <a:cs typeface="Hiragino Sans"/>
              </a:rPr>
              <a:t>•  収束しない＝解が無いかもしれない。PV 母線の Q 限界と PQ への切替は電圧崩壊の前兆</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Rectangle 1"/>
          <p:cNvSpPr/>
          <p:nvPr/>
        </p:nvSpPr>
        <p:spPr>
          <a:xfrm>
            <a:off x="5592927" y="2697480"/>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746252"/>
          </a:xfrm>
          <a:prstGeom prst="rect">
            <a:avLst/>
          </a:prstGeom>
          <a:noFill/>
        </p:spPr>
        <p:txBody>
          <a:bodyPr wrap="square" lIns="0" rIns="0" tIns="0" bIns="0">
            <a:noAutofit/>
          </a:bodyPr>
          <a:lstStyle/>
          <a:p>
            <a:pPr algn="ctr">
              <a:defRPr sz="4520" b="1">
                <a:solidFill>
                  <a:srgbClr val="FFFFFF"/>
                </a:solidFill>
                <a:latin typeface="Avenir Next"/>
                <a:ea typeface="Hiragino Sans"/>
                <a:cs typeface="Hiragino Sans"/>
              </a:defRPr>
            </a:pPr>
            <a:r>
              <a:rPr>
                <a:ea typeface="Hiragino Sans"/>
                <a:cs typeface="Hiragino Sans"/>
              </a:rPr>
              <a:t>次回：第6回 潮流計算の実践</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EBE0DF"/>
                </a:solidFill>
                <a:latin typeface="Avenir Next"/>
                <a:ea typeface="Hiragino Sans"/>
                <a:cs typeface="Hiragino Sans"/>
              </a:defRPr>
            </a:pPr>
            <a:r>
              <a:rPr>
                <a:ea typeface="Hiragino Sans"/>
                <a:cs typeface="Hiragino Sans"/>
              </a:rPr>
              <a:t>演習 ex/ch05.html で数値を変えて確かめる</a:t>
            </a:r>
          </a:p>
          <a:p>
            <a:pPr algn="ctr">
              <a:spcBef>
                <a:spcPts val="400"/>
              </a:spcBef>
              <a:defRPr sz="1800">
                <a:solidFill>
                  <a:srgbClr val="EBE0DF"/>
                </a:solidFill>
                <a:latin typeface="Avenir Next"/>
                <a:ea typeface="Hiragino Sans"/>
                <a:cs typeface="Hiragino Sans"/>
              </a:defRPr>
            </a:pPr>
            <a:r>
              <a:rPr>
                <a:ea typeface="Hiragino Sans"/>
                <a:cs typeface="Hiragino Sans"/>
              </a:rPr>
              <a:t>pandapower で解き、電圧を読み、鼻先を見つける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