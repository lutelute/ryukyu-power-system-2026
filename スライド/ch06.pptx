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第5回で「どう解くか」をやった。今回は「解いた後に何を読むか」。手を動かす回なので、演習の時間を多めに取る。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1 文を最後にもう一度出す。「解く」から「読む」への転換が今日の主題。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右下の 2.2 倍が今日の結論。連系可能量は「系統の性能」ではなく「運転の仕方」でも変わる、という話につながる。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どちらも事前に「PV カーブの余裕」を見ていれば兆候を捉えられた。今日の道具はそのためにある。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5 行は今日の内容を先取りしている。PV カーブ・鼻先・無効電力の補給が、あとで順番に出てくる。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net.bus は pandas の DataFrame。表計算と同じ感覚で列を足したり絞ったりできる、と伝える。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毎年ここで詰まる。「太陽光を入れたのに電圧が下がった」の 9 割は sgen ではなく load に入れている。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実際に手元で打たせる。3 の 2 つの列だけ見れば、系統が安全かどうかは判定できる。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10⁻¹⁶ は倍精度の限界。学生の自作実装が 10⁻⁵ 以下なら合格としてよい。比較に使ったのは 3 母線・シャントなしの純 R+jX 回路である。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具志川はスラック、牧港は PV 母線なので電圧が指定値に固定される。だから動くのは PQ 母線だけ。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②から③へ落とすとき「虚部は位相をずらすだけ」と言う。第3回の P–δ / Q–V 分離と同じ構造。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②から③へ落とすとき「虚部は位相をずらすだけ」と言う。第3回の P–δ / Q–V 分離と同じ構造。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②から③へ落とすとき「虚部は位相をずらすだけ」と言う。第3回の P–δ / Q–V 分離と同じ構造。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= 0.10、X = 0.30 p.u. の配電系統寄りの値。送電線なら XQ 項がもっと支配的になる。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右図の破線が理論の 1/S_sc。実測（点）が破線より下にあるのは、近くの電源母線が電圧を支えるため。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0.919 は運用下限 0.95 を下回っている。この系統は「今のままでは使えない」— 調相設備かタップで直す必要がある。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「解が無い」＝計算機のバグではなく物理。NR 法は無い解を探して発散する。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「解が無い」＝計算機のバグではなく物理。NR 法は無い解を探して発散する。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「解が無い」＝計算機のバグではなく物理。NR 法は無い解を探して発散する。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実務では鼻先まで行かせない。P_max に対する余裕（電圧安定余裕）を 20% 以上取るのが普通。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第9回のインバータ（Volt-Var 制御）は、この表の一番下に「太陽光そのものが Q を出す」という行を足す話。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力率 0.95 は Q を吸収する運転。P が同じでも見かけの電流は 5% 増えるので、損失は少し増える。ただでは無い。フィーダは 6.6 kV・5 km、各区間 200 kW の負荷を想定している。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3 を計算させる。tan(acos 0.95) = 0.329 を使う。X/R が大きいほど少ない Q で打ち消せる。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case14 は 1962 年の米国系統がもと。発電機の電圧設定が高いので、日本の基準（1.05）で見ると超過する。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2.xml"/><Relationship Id="rId5" Type="http://schemas.openxmlformats.org/officeDocument/2006/relationships/slide" Target="slide20.xml"/><Relationship Id="rId6" Type="http://schemas.openxmlformats.org/officeDocument/2006/relationships/slide" Target="slide2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道具で解き、電圧で読む — pandapower と PV カーブ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第6回 潮流計算の実践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2・コマ 6 ／ 教科書 第5章・第6章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55320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809240"/>
            <a:ext cx="9997135" cy="1330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潮流計算は解けたら終わりではない。電圧逸脱と過負荷を読み、負荷を増やしたとき鼻先がどこかを知って初めて使える。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計算が終わった。この系統は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安全なのか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。あと何 MW の負荷に耐えるのか。太陽光はあと何 MW つなげるのか。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06_pv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28" y="3561778"/>
            <a:ext cx="2726841" cy="10882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726213"/>
            <a:ext cx="2726842" cy="7319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負荷を増やすと電圧が落ち、ある点で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解が消える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06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189" y="3561778"/>
            <a:ext cx="2557316" cy="977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pandapower ▶ 感度 ▶ PV カーブ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感度 ΔV/ΔQ を実測する。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2.2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力率を 1 → 0.95 にすると、つなげる太陽光が 2.5 → 5.5 MW。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コード（コード/fig_ch06.py）で計算。系統は沖縄本島 5 母線・IEEE 14 母線・6.6 kV 配電フィーダ。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電圧は静かに崩れる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1987年7月23日 首都圏の電圧崩壊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猛暑でエアコン負荷が昼休み明けに急増。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無効電力が足りず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電圧が下がり続け、約 280 万戸が停電した。周波数は正常だった。「電力が足りない」のではなく「Q が足りない」停電である。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2003年9月 イタリア全土停電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スイスからの連系線が樹木接触で停止し、残る連系線が過負荷で次々に脱落。電圧と周波数が崩れ、ほぼ全土が停電した。潮流の再配分と過負荷判定が要る理由がここにある。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荷物を積むほどしなる橋</a:t>
            </a:r>
          </a:p>
        </p:txBody>
      </p:sp>
      <p:pic>
        <p:nvPicPr>
          <p:cNvPr id="3" name="Picture 2" descr="ch06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" y="713232"/>
            <a:ext cx="11617452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橋は折れる前にきしむが、電圧は数値上「まだ 0.95」でも鼻先が目前ということがある。だから余裕を計算で出す。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pandapower で系統を組み、潮流を回す（符号の規約）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結果の読み方 — 電圧逸脱・過負荷・自作実装との照合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電圧感度と PV カーブ — 鼻先はどこか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太陽光の連系可能量 — 力率 1 と 0.95 で何が変わるか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道具を使う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系統を表で組み、1 行で解く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pandapower は系統を「表の集合」で持つ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読み方｜入力の表（bus・line・load）に、結果の表（res_*）が足される</a:t>
            </a:r>
          </a:p>
        </p:txBody>
      </p:sp>
      <p:pic>
        <p:nvPicPr>
          <p:cNvPr id="4" name="Picture 3" descr="ch06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47154"/>
            <a:ext cx="6413546" cy="3044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846559"/>
            <a:ext cx="641354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出典｜コード/fig_ch06.py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522" y="2629725"/>
            <a:ext cx="4260245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母線・線路・負荷を表に積む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5C7268"/>
                </a:solidFill>
                <a:latin typeface="SF Mono"/>
                <a:ea typeface="Hiragino Sans"/>
                <a:cs typeface="Hiragino Sans"/>
              </a:rPr>
              <a:t>pp.runpp(net)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を 1 行呼ぶ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5C7268"/>
                </a:solidFill>
                <a:latin typeface="SF Mono"/>
                <a:ea typeface="Hiragino Sans"/>
                <a:cs typeface="Hiragino Sans"/>
              </a:rPr>
              <a:t>res_bus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に電圧と位相が入る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5C7268"/>
                </a:solidFill>
                <a:latin typeface="SF Mono"/>
                <a:ea typeface="Hiragino Sans"/>
                <a:cs typeface="Hiragino Sans"/>
              </a:rPr>
              <a:t>res_line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に潮流と利用率が入る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中身は第5回のニュートン・ラフソン法そのもの。道具を使っても、解いている式は変わらない。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符号の規約 — 最も間違えやすい点</a:t>
            </a:r>
          </a:p>
        </p:txBody>
      </p:sp>
      <p:pic>
        <p:nvPicPr>
          <p:cNvPr id="3" name="Picture 2" descr="ch06_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47880"/>
            <a:ext cx="11734495" cy="48530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要素ごとに「どちら向きが正か」が決まっている。取り違えると、電圧が上がるはずの計算で下がる。結果がおかしいときに真っ先に疑うのがここである。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4 手で系統を組んで解く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組む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create_bus / line_from_parameters / load / ext_grid。表に積むだけ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解く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pp.runpp(net)。既定はニュートン・ラフソン法、許容誤差 1e-8 p.u.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読む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res_bus.vm_pu が 0.95〜1.05 か、res_line.loading_percent が 100 未満か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直す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コンデンサ・タップ・力率を変えて、もう一度解く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自作の実装は必ず既存ライブラリと照合する</a:t>
            </a:r>
          </a:p>
        </p:txBody>
      </p:sp>
      <p:pic>
        <p:nvPicPr>
          <p:cNvPr id="3" name="Picture 2" descr="ch06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0680"/>
            <a:ext cx="11734495" cy="45274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第5回の自作ニュートン法と pandapower を同じ系統で解くと、機械精度で一致した。ここまで合えば実装は正しいと言える。合わないときに疑う先は、符号・基準容量・シャントの扱いの 3 つである。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結果を読む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電圧は Q が決める。感度は短絡容量の逆数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電圧プロファイル — 末端ほど動く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読み方｜電源から遠いほど下がり、太陽光を入れると逆に上がる</a:t>
            </a:r>
          </a:p>
        </p:txBody>
      </p:sp>
      <p:pic>
        <p:nvPicPr>
          <p:cNvPr id="4" name="Picture 3" descr="ch06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295002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295002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出典｜コード/fig_ch06.py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5978" y="2312225"/>
            <a:ext cx="4378789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基準：最低 0.919 p.u.（中部）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負荷 1.35 倍：0.875 まで低下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軽負荷＋太陽光 400 MW：北部が上昇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電源（具志川・牧港）は 1.02 / 1.01 で固定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電圧は場所ごとに違う「局所量」。系統全体で 1 つの周波数（第8回）とはここが決定的に違う。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電圧降下の近似式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線路を流れる電流｜受電端で P + jQ を消費する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受電端電圧を V、消費を P + jQ とすると I = (P − jQ)/V*。線路は R + jX。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電圧降下｜ΔV = (R + jX)·I を実部と虚部に分ける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ΔV = (RP + XQ)/V + j(XP − RQ)/V。位相差が小さければ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大きさの変化は実部だけ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で決まる。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実用形｜ΔV ≈ (RP + XQ)/V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送電線は X ≫ R なので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XQ が支配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。配電線は R が大きく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RP も効く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。だから太陽光の逆潮流（P &lt; 0）で電圧が上がる。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電圧降下の近似式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線路を流れる電流｜受電端で P + jQ を消費する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受電端電圧を V、消費を P + jQ とすると I = (P − jQ)/V*。線路は R + jX。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電圧降下｜ΔV = (R + jX)·I を実部と虚部に分ける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ΔV = (RP + XQ)/V + j(XP − RQ)/V。位相差が小さければ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大きさの変化は実部だけ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で決まる。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実用形｜ΔV ≈ (RP + XQ)/V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送電線は X ≫ R なので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XQ が支配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。配電線は R が大きく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RP も効く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。だから太陽光の逆潮流（P &lt; 0）で電圧が上がる。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電圧降下の近似式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線路を流れる電流｜受電端で P + jQ を消費する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受電端電圧を V、消費を P + jQ とすると I = (P − jQ)/V*。線路は R + jX。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電圧降下｜ΔV = (R + jX)·I を実部と虚部に分ける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ΔV = (RP + XQ)/V + j(XP − RQ)/V。位相差が小さければ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大きさの変化は実部だけ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で決まる。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実用形｜ΔV ≈ (RP + XQ)/V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送電線は X ≫ R なので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XQ が支配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。配電線は R が大きく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RP も効く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。だから太陽光の逆潮流（P &lt; 0）で電圧が上がる。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近似式は実用十分 — 逆潮流では符号が反転する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読み方｜灰色が近似、赤が厳密（2 次方程式を解いた値）</a:t>
            </a:r>
          </a:p>
        </p:txBody>
      </p:sp>
      <p:pic>
        <p:nvPicPr>
          <p:cNvPr id="4" name="Picture 3" descr="ch06_appr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324881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324881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出典｜コード/fig_ch06.py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5857" y="2312225"/>
            <a:ext cx="4348910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重負荷：+0.100 と +0.120（誤差 0.02）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軽負荷：+0.025 と +0.026（ほぼ一致）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PV 逆潮流：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−0.040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（電圧が上がる）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0.95：−0.001（打ち消される）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厳密解は潮流計算に任せる。この式は「どちらへ動くか」を頭の中で読むための道具である。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電圧感度は短絡容量の逆数</a:t>
            </a:r>
          </a:p>
        </p:txBody>
      </p:sp>
      <p:pic>
        <p:nvPicPr>
          <p:cNvPr id="3" name="Picture 2" descr="ch06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2250"/>
            <a:ext cx="11734495" cy="448428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 20 Mvar を入れても、短絡容量の小さい弱い母線ほど電圧が大きく動く。感度は ρ ≈ 1/S_sc なので、「どこにつなぐか」が「いくつなげるか」を決める。末端ほど早く限界に当たる。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沖縄 5 母線の実測値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0.919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基準ケースの最低電圧 [p.u.]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17.1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総送電損失 [MW]（負荷の 1.9%）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2.40倍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負荷をこれ以上増やすと解けない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限界を知る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鼻先は「解が消える点」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PV カーブの鼻先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2 母線・R = 0・力率 1｜送電端 V_s、受電端 V_r、リアクタンス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V_sV_r sinδ / X、そして V_r の式を整理すると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V_r⁴ − V_s²V_r² + (XP)² = 0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。V_r² の 2 次方程式になる。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解が 2 つ｜判別式 V_s⁴ − 4(XP)² ≥ 0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上枝（運用点）と下枝（不安定）。同じ P に対して電圧が 2 通りある。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鼻先｜判別式が 0 になる点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P_max = V_s²/(2X)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、そのとき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V_r = V_s/√2 = 0.707 V_s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。これを超えると解が存在しない。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PV カーブの鼻先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2 母線・R = 0・力率 1｜送電端 V_s、受電端 V_r、リアクタンス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V_sV_r sinδ / X、そして V_r の式を整理すると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V_r⁴ − V_s²V_r² + (XP)² = 0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。V_r² の 2 次方程式になる。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解が 2 つ｜判別式 V_s⁴ − 4(XP)² ≥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上枝（運用点）と下枝（不安定）。同じ P に対して電圧が 2 通りある。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鼻先｜判別式が 0 になる点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P_max = V_s²/(2X)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、そのとき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V_r = V_s/√2 = 0.707 V_s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。これを超えると解が存在しない。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PV カーブの鼻先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2 母線・R = 0・力率 1｜送電端 V_s、受電端 V_r、リアクタンス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V_sV_r sinδ / X、そして V_r の式を整理すると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V_r⁴ − V_s²V_r² + (XP)² = 0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。V_r² の 2 次方程式になる。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解が 2 つ｜判別式 V_s⁴ − 4(XP)² ≥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上枝（運用点）と下枝（不安定）。同じ P に対して電圧が 2 通りある。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鼻先｜判別式が 0 になる点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P_max = V_s²/(2X)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、そのとき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V_r = V_s/√2 = 0.707 V_s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。これを超えると解が存在しない。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鼻先 — 理論と実測</a:t>
            </a:r>
          </a:p>
        </p:txBody>
      </p:sp>
      <p:pic>
        <p:nvPicPr>
          <p:cNvPr id="3" name="Picture 2" descr="ch06_pv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32874"/>
            <a:ext cx="11734495" cy="4683032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運用下限 0.95 を割っても、まだ解は存在する。0.95 は機器を守るために人が引いた線、鼻先は解が消える物理の壁で、意味がまったく違う。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無効電力の供給源 — 速さと連続性で選ぶ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読み方｜段階的か連続か、応答が秒か ミリ秒か</a:t>
            </a:r>
          </a:p>
        </p:txBody>
      </p:sp>
      <p:pic>
        <p:nvPicPr>
          <p:cNvPr id="4" name="Picture 3" descr="ch06_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2312"/>
            <a:ext cx="6413546" cy="2914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81401"/>
            <a:ext cx="641354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出典｜コード/fig_ch06.py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522" y="2312225"/>
            <a:ext cx="4260245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コンデンサ・リアクトル：安いが段階的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同期調相機：連続だが回転機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SVC / STATCOM：連続・ミリ秒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LTC タップ：電圧比を変える（1.25%/段）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 は遠くへ運べない。だから電圧が下がる場所の近くに置く。これが調相設備の配置設計。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太陽光をいくつなげるか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答えは「どこに、どんな力率で」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連系可能量 — 力率で 2.2 倍変わる</a:t>
            </a:r>
          </a:p>
        </p:txBody>
      </p:sp>
      <p:pic>
        <p:nvPicPr>
          <p:cNvPr id="3" name="Picture 2" descr="ch06_h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4248"/>
            <a:ext cx="11734495" cy="4600284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同じ系統・同じ場所でも、インバータを力率 1 で運転するか進み力率で運転するかで、連系できる量が 2.2 倍変わる。設備を増やさずに効く対策である。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2 — 逆潮流で電圧はどう動くか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R = 0.10、X = 0.30 p.u.、送電端 1.00 p.u.、太陽光 0.4 p.u. が逆潮流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力率 1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−0.4、Q = 0 → ΔV = (0.1×(−0.4) + 0)/1 = −0.040 → 1.040 p.u.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力率 0.95 で Q を吸う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 = +0.4×tan(18.2°) = +0.131 → ΔV = (−0.04 + 0.30×0.131)/1 = −0.001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意味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RP の上昇分を XQ で打ち消した。X が大きい系統ほどこの対策が効く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IEEE 14 母線 — 標準ケースで練習する</a:t>
            </a:r>
          </a:p>
        </p:txBody>
      </p:sp>
      <p:pic>
        <p:nvPicPr>
          <p:cNvPr id="3" name="Picture 2" descr="ch06_iee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3267"/>
            <a:ext cx="11734495" cy="4502245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標準データは電圧が高めに設定されていて、そのまま運用できる値とは限らない。教科書のケースであっても、データを鵜呑みにせず運用基準と照らす習慣をつける。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viz/voltage.html</a:t>
            </a:r>
          </a:p>
        </p:txBody>
      </p:sp>
      <p:pic>
        <p:nvPicPr>
          <p:cNvPr id="3" name="Picture 2" descr="ch06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PV カーブ・電圧感度・太陽光の連系可能量をブラウザ内で実計算する 14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負荷を増やして PV カーブを描き、鼻先で解けなくなるのを見る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短絡容量の大きい母線と小さい母線で、同じ Q に対する ΔV を比べる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力率を 1 → 0.95 に切り替え、連系可能量がどれだけ伸びるか見る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符号・鼻先・照合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21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1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pandapower は「消費が正」なのか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78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負荷を主役に見る配電の慣習。発電は負の負荷として扱う。教科書（発電が正）と逆なので、Q の符号を読み違えやすい。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46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46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なぜ鼻先で収束しなくなるのか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2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鼻先を越えると方程式の解が存在しない。NR 法は無い解を探して発散する。収束しないのはバグではなく、系統が限界に近いという情報である。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70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0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自作は必ず照合する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81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927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同じ系統を自作 NR と pandapower で解き、差が 10⁻⁵ 以下なら実装は正しい。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 — 電圧は P ではなく Q が決める</a:t>
            </a:r>
          </a:p>
        </p:txBody>
      </p:sp>
      <p:pic>
        <p:nvPicPr>
          <p:cNvPr id="3" name="Picture 2" descr="ch06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3 つとも「何が電圧を動かしているか」を取り違えたことから来ている。有効電力ではなく無効電力、収束しないことはバグではなく限界の兆候。　出典｜コード/fig_ch06.py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解いたら読む。電圧は Q が決め、鼻先は解の消える点。つなぐ場所と力率が連系可能量を決める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ΔV ≈ (RP + XQ)/V。配電線は R も効き、逆潮流は電圧を上げる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電圧感度 ρ ≈ 1/S_sc。末端ほど柔らかく、早く限界に当たる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PV カーブの鼻先 P_max = V²/2X。力率 0.95 で連系可能量が 2.2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次回：第7回 電力系統の安定度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ex/ch06.html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短絡の瞬間、発電機に何が起きるか — 等面積法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