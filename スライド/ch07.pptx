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この回だけは「力学」の回。電気の式より、回転体の運動方程式として捉えると腑に落ちる。</a:t>
            </a:r>
          </a:p>
          <a:p/>
          <a:p>
            <a:r>
              <a:t>_class: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「貯める・吐き出す」という言葉を今日は繰り返す。面積はそのエネルギーの絵。</a:t>
            </a:r>
          </a:p>
          <a:p/>
          <a:p>
            <a:r>
              <a:t>_class: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手計算（等面積法）と数値積分（RK4）が一致することを示すのが今日の骨格。理論が使える、という体験。</a:t>
            </a:r>
          </a:p>
          <a:p/>
          <a:p>
            <a:r>
              <a:t>_class: graphical-abstract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同じ「大停電」でも機序が違う。安定度の 3 分類（同期・電圧・周波数）を最初に区別させる。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崩れる点：ゴムの張力は伸びに比例して増え続けるが、同期化力は sinδ なので 90° を過ぎると弱くなる。だから「戻れない角度」が存在する。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現場では「電圧が下がった」「周波数が落ちた」「発電機が外れた」のどれかがまず観測される。時間スケールが診断の入口。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無限大母線＝本土の大系統。沖縄には無いが、まずこの理想化で考える。多機系統は第13回の GNN の話につながる。　図の要点：タービンは事故を知らず押し続ける／短絡すると電気を送り出せない／入る 0.8 と出る 0 の差が加速電力／無限大母線は電圧・周波数が不変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③で H の意味を強調する。H = 4 s なら、入力が止まっても運動エネルギーだけで 4 秒間は定格出力を出せる、という貯金の大きさ。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②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③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 は本来小さい。だから事故後の振動はなかなか収まらない。PSS の効果は後で図で見せる。</a:t>
            </a:r>
          </a:p>
          <a:p/>
          <a:p>
            <a:r>
              <a:t>_class: equation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右図の 0 が第9回（合成慣性）と第15回（連系可能量の安定度制約）につながる。ここで伏線を張る。　図の要点：t_cr ∝ √H（左図の曲線）／H = 4 s → 247 ms、H = 2 s → 175 ms／火力 3〜6 s、水力 2〜4 s／インバータ電源は H = 0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「面積＝エネルギー」は②で出る。ここが等面積法の核心なので、板書で δ' を掛ける操作を見せる。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②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③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δ_max より右では P_e &lt; P_m に戻ってしまうので、そこを速度を持ったまま越えたら二度と戻れない。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度のまま代入する誤りが毎年出る。ω₀ = 2π×60 = 377 rad/s も確認させる。</a:t>
            </a:r>
          </a:p>
          <a:p/>
          <a:p>
            <a:r>
              <a:t>_class: equation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学生に 2 と 3 を計算させる。電卓のラジアンモードを確認すること。</a:t>
            </a:r>
          </a:p>
          <a:p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脱調した曲線は δ が増え続ける。実際には保護が発電機を系統から切り離す（脱調分離）。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この鋭さが安定度計算の怖さ。実系統では想定事故を数百ケース計算して最悪を探す。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実測が 2 ms 短いのは掃引の刻み幅（5 ms）のため。理論と数値が合うことを確認したので、以後は理論式で議論できる。</a:t>
            </a:r>
          </a:p>
          <a:p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位相面は制御工学の言葉。安定平衡点と鞍点（不安定平衡点）という見方を紹介しておく。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事故中の P_max はＹ–Δ 変換で求める。事故点が発電機に近いほど小さくなり、厳しくなる。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FACTS（直列コンデンサ・SVC）は P_max を上げる装置。再閉路は事故を早く消す装置。両方が使われている。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PSS = 電力系統安定化装置。励磁系に速度偏差の信号を足して、電気トルクに制動成分を作る。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blocks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7.xml"/><Relationship Id="rId4" Type="http://schemas.openxmlformats.org/officeDocument/2006/relationships/slide" Target="slide10.xml"/><Relationship Id="rId5" Type="http://schemas.openxmlformats.org/officeDocument/2006/relationships/slide" Target="slide16.xml"/><Relationship Id="rId6" Type="http://schemas.openxmlformats.org/officeDocument/2006/relationships/slide" Target="slide2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臨界時間より早く切れば、発電機は戻ってくる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2927" y="2889504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54096"/>
            <a:ext cx="10728655" cy="1817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defRPr sz="54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第7回 電力系統の安定度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00066"/>
            <a:ext cx="9997135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重信颯人（福井大学）／ Day 2・コマ 7 ／ 教科書 第5章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8647" y="2553208"/>
            <a:ext cx="91440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809240"/>
            <a:ext cx="9997135" cy="1330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短絡中に貯まった加速エネルギーを、事故除去後の減速エネルギーで吐き出しきれれば同期は保たれる。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一枚で｜問い → 課題 → 道具 → 到達点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29232"/>
            <a:ext cx="11057839" cy="112845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4728" y="1907032"/>
            <a:ext cx="10702239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問い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4728" y="2268728"/>
            <a:ext cx="10702239" cy="4111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送電線で短絡が起きた。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何ミリ秒以内に切れば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発電機は元に戻るのか。切るのが遅いと何が起きるのか。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728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課題</a:t>
            </a:r>
          </a:p>
        </p:txBody>
      </p:sp>
      <p:pic>
        <p:nvPicPr>
          <p:cNvPr id="9" name="Picture 8" descr="ch07_sw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983" y="3561778"/>
            <a:ext cx="2000331" cy="11249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4728" y="4762881"/>
            <a:ext cx="2726842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240 ms で切れば戻り、260 ms では戻らない。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3850538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4626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19050">
            <a:solidFill>
              <a:srgbClr val="B85042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2426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道具</a:t>
            </a:r>
          </a:p>
        </p:txBody>
      </p:sp>
      <p:pic>
        <p:nvPicPr>
          <p:cNvPr id="14" name="Picture 13" descr="ch07_equal_ar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346" y="3561778"/>
            <a:ext cx="1645002" cy="9772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32426" y="4615244"/>
            <a:ext cx="2726842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25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動揺方程式 ▶ 等面積法 ▶ t_cr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426" y="5072444"/>
            <a:ext cx="2726842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面積の釣り合いで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境目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を出す。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8236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2324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7C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0124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到達点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0124" y="3561778"/>
            <a:ext cx="2726842" cy="8032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5059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247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0124" y="4365052"/>
            <a:ext cx="2726842" cy="10931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等面積法の予測と RK4 積分の実測（245 ms）が一致する。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745734"/>
            <a:ext cx="11057839" cy="426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数値はすべて本資料の Python コード（コード/fig_ch07.py）で計算。P_m = 0.8、P_max = 2.0 p.u.、H = 4 s、60 Hz。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現場で起きたこと — 「遅れ」が系統を割る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57873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1996年8月10日 米国西部大停電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7083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猛暑で送電線が熱で弛み、樹木に接触して停止した。潮流の移動で発電機が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脱調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し、西部系統が 4 つに分裂して約 750 万戸が停電した。相差角が戻れない領域に入った典型例である。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95344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北海道 2018 との違い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87444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北海道ブラックアウトは「周波数」が落ちて止まった事故（第8回）。今日の同期安定度は「相差角 δ」が開きすぎて発電機同士の歩調が崩れる事故である。時間スケールは 0.1〜数秒で、保護リレーの整定が勝負を決める。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4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たとえ話 — ゴム紐でつながれた台車</a:t>
            </a:r>
          </a:p>
        </p:txBody>
      </p:sp>
      <p:pic>
        <p:nvPicPr>
          <p:cNvPr id="3" name="Picture 2" descr="ch07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6" y="713232"/>
            <a:ext cx="111768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この 5 行は今日の全体を先取りしている。P_m・P_max sinδ・δ₀・脱調・t_c が、あとで順番に式になって出てくる。　出典｜コード/fig_ch07.py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この回の地図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2763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4" name="agenda:item:0"/>
          <p:cNvSpPr txBox="1"/>
          <p:nvPr/>
        </p:nvSpPr>
        <p:spPr>
          <a:xfrm>
            <a:off x="1572768" y="162763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3" action="ppaction://hlinksldjump"/>
              </a:rPr>
              <a:t>安定度の 3 分類と時間スケール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66649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67919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agenda:item:1"/>
          <p:cNvSpPr txBox="1"/>
          <p:nvPr/>
        </p:nvSpPr>
        <p:spPr>
          <a:xfrm>
            <a:off x="1572768" y="267919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4" action="ppaction://hlinksldjump"/>
              </a:rPr>
              <a:t>動揺方程式 — 回転体の運動方程式（H の意味）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73075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10" name="agenda:item:2"/>
          <p:cNvSpPr txBox="1"/>
          <p:nvPr/>
        </p:nvSpPr>
        <p:spPr>
          <a:xfrm>
            <a:off x="1572768" y="373075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5" action="ppaction://hlinksldjump"/>
              </a:rPr>
              <a:t>等面積法 — 臨界除去角と臨界除去時間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76961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8231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13" name="agenda:item:3"/>
          <p:cNvSpPr txBox="1"/>
          <p:nvPr/>
        </p:nvSpPr>
        <p:spPr>
          <a:xfrm>
            <a:off x="1572768" y="478231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6" action="ppaction://hlinksldjump"/>
              </a:rPr>
              <a:t>対策と、再エネによる慣性低下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6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Ⅰ. 何が「安定」なのか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安定度は 3 分類 — 時間スケールが違う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読み方｜横軸は対数。使う式も、対策も、時間帯ごとに違う</a:t>
            </a:r>
          </a:p>
        </p:txBody>
      </p:sp>
      <p:pic>
        <p:nvPicPr>
          <p:cNvPr id="4" name="Picture 3" descr="ch07_time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62975"/>
            <a:ext cx="6413546" cy="30128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830738"/>
            <a:ext cx="6413546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出典｜コード/fig_ch07.py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4522" y="2470975"/>
            <a:ext cx="4260245" cy="1968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同期安定度：0.1〜10 秒（今日）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周波数安定度：1 秒〜15 分（第8回）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電圧安定度：1 秒〜1 時間（第6回）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保護＋遮断器は 50〜100 ms で動く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同じ「不安定」でも、何が崩れているかで打つ手が違う。まず時間スケールを見て切り分ける。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8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今日のモデル — 1 機無限大母線</a:t>
            </a:r>
          </a:p>
        </p:txBody>
      </p:sp>
      <p:pic>
        <p:nvPicPr>
          <p:cNvPr id="3" name="Picture 2" descr="ch07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86718"/>
            <a:ext cx="11734495" cy="4175343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発電機 1 台を無限大母線につなぐ、最も単純な系統モデルである。1 台だけを見ても「切るのが遅れると脱調する」という本質は変わらない。　出典｜コード/fig_ch07.py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9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Ⅱ. 動揺方程式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電気の式ではなく、回転体の運動方程式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動揺方程式はニュートンの運動方程式</a:t>
            </a:r>
          </a:p>
        </p:txBody>
      </p:sp>
      <p:pic>
        <p:nvPicPr>
          <p:cNvPr id="3" name="Picture 2" descr="ch07_deriv_swin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98" y="713232"/>
            <a:ext cx="11317498" cy="55321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慣性モーメント J のロータに、機械トルク T_m と電気トルク T_e がかかる。回転版の F = ma そのもの。　出典｜コード/fig_ch07.py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11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動揺方程式はニュートンの運動方程式</a:t>
            </a:r>
          </a:p>
        </p:txBody>
      </p:sp>
      <p:pic>
        <p:nvPicPr>
          <p:cNvPr id="3" name="Picture 2" descr="ch07_deriv_swin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98" y="713232"/>
            <a:ext cx="11317498" cy="55321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定格速度の近くでは ω ≈ ω₀ とみなせるので、(Jω₀) δ'' = P_m − P_e。角度は電気角の相差角 δ に取り直す。　出典｜コード/fig_ch07.py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12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動揺方程式はニュートンの運動方程式</a:t>
            </a:r>
          </a:p>
        </p:txBody>
      </p:sp>
      <p:pic>
        <p:nvPicPr>
          <p:cNvPr id="3" name="Picture 2" descr="ch07_deriv_swin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05" y="713232"/>
            <a:ext cx="10888285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(2H/ω₀) δ'' = P_m − P_e。教科書の M = 2H/ω₀ はこの係数。H は「定格出力で何秒回り続けられるか」で、単位は秒。　出典｜コード/fig_ch07.py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13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動揺方程式 — 今日の主役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91868"/>
            <a:ext cx="11057839" cy="10363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Para xmlns:m="http://schemas.openxmlformats.org/officeDocument/2006/math">
                <m:oMathParaPr>
                  <m:jc m:val="center"/>
                </m:oMathParaPr>
                <m:oMath>
                  <m:f>
                    <m:fPr>
                      <m:type m:val="bar"/>
                    </m:fPr>
                    <m:num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2</m:t>
                      </m:r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H</m:t>
                      </m:r>
                    </m:num>
                    <m:den>
                      <m:sSub>
                        <m:e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ω</m:t>
                          </m:r>
                        </m:e>
                        <m:sub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0</m:t>
                          </m:r>
                        </m:sub>
                      </m:sSub>
                    </m:den>
                  </m:f>
                  <m:r>
                    <ns0:rPr xmlns:ns0="http://schemas.openxmlformats.org/wordprocessingml/2006/main">
                      <ns0:sz ns0:val="68"/>
                      <ns0:szCs ns0:val="68"/>
                    </ns0:rPr>
                    <m:t> </m:t>
                  </m:r>
                  <m:f>
                    <m:fPr>
                      <m:type m:val="bar"/>
                    </m:fPr>
                    <m:num>
                      <m:sSup>
                        <m:e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d</m:t>
                          </m:r>
                        </m:e>
                        <m:sup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2</m:t>
                          </m:r>
                        </m:sup>
                      </m:sSup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δ</m:t>
                      </m:r>
                    </m:num>
                    <m:den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d</m:t>
                      </m:r>
                      <m:sSup>
                        <m:e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t</m:t>
                          </m:r>
                        </m:e>
                        <m:sup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2</m:t>
                          </m:r>
                        </m:sup>
                      </m:sSup>
                    </m:den>
                  </m:f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=</m:t>
                  </m:r>
                  <m:sSub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P</m:t>
                      </m:r>
                    </m:e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m</m:t>
                      </m:r>
                    </m:sub>
                  </m:sSub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−</m:t>
                  </m:r>
                  <m:sSub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P</m:t>
                      </m:r>
                    </m:e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e</m:t>
                      </m:r>
                    </m:sub>
                  </m:sSub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−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D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 </m:t>
                  </m:r>
                  <m:f>
                    <m:fPr>
                      <m:type m:val="bar"/>
                    </m:fPr>
                    <m:num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d</m:t>
                      </m:r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δ</m:t>
                      </m:r>
                    </m:num>
                    <m:den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d</m:t>
                      </m:r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t</m:t>
                      </m:r>
                    </m:den>
                  </m:f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,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  </m:t>
                  </m:r>
                  <m:sSub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P</m:t>
                      </m:r>
                    </m:e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e</m:t>
                      </m:r>
                    </m:sub>
                  </m:sSub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=</m:t>
                  </m:r>
                  <m:sSub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P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max</m:t>
                      </m:r>
                    </m:sub>
                  </m:sSub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sin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δ</m:t>
                  </m:r>
                </m:oMath>
              </m:oMathPara>
            </a14:m>
          </a:p>
        </p:txBody>
      </p:sp>
      <p:sp>
        <p:nvSpPr>
          <p:cNvPr id="4" name="TextBox 3"/>
          <p:cNvSpPr txBox="1"/>
          <p:nvPr/>
        </p:nvSpPr>
        <p:spPr>
          <a:xfrm>
            <a:off x="2255367" y="3055619"/>
            <a:ext cx="155448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2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180">
                <a:ea typeface="Hiragino Sans"/>
                <a:cs typeface="Hiragino Sans"/>
              </a:rPr>
              <a:t>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447" y="3293363"/>
            <a:ext cx="9525" cy="1755648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55367" y="3256787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P</m:t>
                    </m:r>
                  </m:e>
                  <m:sub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m</m:t>
                    </m:r>
                  </m:sub>
                </m:sSub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−</m:t>
                </m:r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P</m:t>
                    </m:r>
                  </m:e>
                  <m:sub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e</m:t>
                    </m:r>
                  </m:sub>
                </m:sSub>
              </m:oMath>
            </a14:m>
          </a:p>
        </p:txBody>
      </p:sp>
      <p:sp>
        <p:nvSpPr>
          <p:cNvPr id="7" name="TextBox 6"/>
          <p:cNvSpPr txBox="1"/>
          <p:nvPr/>
        </p:nvSpPr>
        <p:spPr>
          <a:xfrm>
            <a:off x="4267047" y="3256787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加速電力 P_a。入る力と出る力の差がロータを加速・減速させる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5367" y="3713987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2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H</m:t>
                </m:r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/</m:t>
                </m:r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ω</m:t>
                    </m:r>
                  </m:e>
                  <m:sub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0</m:t>
                    </m:r>
                  </m:sub>
                </m:sSub>
              </m:oMath>
            </a14:m>
          </a:p>
        </p:txBody>
      </p:sp>
      <p:sp>
        <p:nvSpPr>
          <p:cNvPr id="9" name="TextBox 8"/>
          <p:cNvSpPr txBox="1"/>
          <p:nvPr/>
        </p:nvSpPr>
        <p:spPr>
          <a:xfrm>
            <a:off x="4267047" y="3713987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慣性（質量に相当）。教科書の M。大きいほど δ はゆっくり動く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4171187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P</m:t>
                    </m:r>
                  </m:e>
                  <m:sub>
                    <m:r>
                      <m:rPr>
                        <m:nor/>
                        <m:sty m:val="p"/>
                      </m:rPr>
                      <ns0:rPr xmlns:ns0="http://schemas.openxmlformats.org/wordprocessingml/2006/main">
                        <ns0:sz ns0:val="40"/>
                        <ns0:szCs ns0:val="40"/>
                      </ns0:rPr>
                      <m:t>max</m:t>
                    </m:r>
                  </m:sub>
                </m:sSub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sin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δ</m:t>
                </m:r>
              </m:oMath>
            </a14:m>
          </a:p>
        </p:txBody>
      </p:sp>
      <p:sp>
        <p:nvSpPr>
          <p:cNvPr id="11" name="TextBox 10"/>
          <p:cNvSpPr txBox="1"/>
          <p:nvPr/>
        </p:nvSpPr>
        <p:spPr>
          <a:xfrm>
            <a:off x="4267047" y="4171187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7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第3回の送電電力式。三相短絡の間は P_e = 0 になる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5367" y="4628387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D</m:t>
                </m:r>
              </m:oMath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4267047" y="4628387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制動係数。振れを減衰させる。PSS はこれを実質的に増やす装置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慣性 H — 勢いの貯金</a:t>
            </a:r>
          </a:p>
        </p:txBody>
      </p:sp>
      <p:pic>
        <p:nvPicPr>
          <p:cNvPr id="3" name="Picture 2" descr="ch07_inert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86702"/>
            <a:ext cx="11734495" cy="457537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再エネを増やして同期機を止めると、系統全体の H が下がる。角度の余裕（δ_cr）は変わらないが、間に合わせる時間の余裕が縮む。　出典｜コード/fig_ch07.py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Ⅲ. 等面積法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貯めたエネルギーを吐き出せるか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面積がエネルギーになる理由</a:t>
            </a:r>
          </a:p>
        </p:txBody>
      </p:sp>
      <p:pic>
        <p:nvPicPr>
          <p:cNvPr id="3" name="Picture 2" descr="ch07_deriv_are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56" y="713232"/>
            <a:ext cx="11087983" cy="55321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(2H/ω₀) δ'δ'' = (P_m − P_e) δ'。左辺は (H/ω₀) d(δ'²)/dt で、運動エネルギーの時間変化そのもの。　出典｜コード/fig_ch07.py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17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面積がエネルギーになる理由</a:t>
            </a:r>
          </a:p>
        </p:txBody>
      </p:sp>
      <p:pic>
        <p:nvPicPr>
          <p:cNvPr id="3" name="Picture 2" descr="ch07_deriv_are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56" y="713232"/>
            <a:ext cx="11087983" cy="55321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両辺を時間で積分し δ' dt = dδ を使うと (H/ω₀)(δ')² = ∫(P_m − P_e) dδ。右辺は P–δ 平面の面積。　出典｜コード/fig_ch07.py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面積がエネルギーになる理由</a:t>
            </a:r>
          </a:p>
        </p:txBody>
      </p:sp>
      <p:pic>
        <p:nvPicPr>
          <p:cNvPr id="3" name="Picture 2" descr="ch07_deriv_area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56" y="713232"/>
            <a:ext cx="11087983" cy="55321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加速で貯めた面積 A1 を、減速の面積 A2 で使い切れば速度が 0 になり戻ってくる。A1 = A2 が境目。　出典｜コード/fig_ch07.py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等面積法 — A1 と A2 が釣り合う角度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読み方｜赤が事故中に貯める面積、緑が除去後に吐き出せる面積</a:t>
            </a:r>
          </a:p>
        </p:txBody>
      </p:sp>
      <p:pic>
        <p:nvPicPr>
          <p:cNvPr id="4" name="Picture 3" descr="ch07_equal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339036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339036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出典｜コード/fig_ch07.py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0012" y="2629725"/>
            <a:ext cx="5334755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δ₀ = 23.6°（P_m = P_e の運転点）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δ_max = 180° − δ₀ = 156.4°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A1 = A2 となる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δ_cr = 89.4°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ここまでに切れば戻れる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δ_cr の式に H は出てこない。臨界「角」は P–δ 平面の幾何だけで決まる。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臨界除去角と臨界除去時間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91868"/>
            <a:ext cx="11057839" cy="10363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Para xmlns:m="http://schemas.openxmlformats.org/officeDocument/2006/math">
                <m:oMathParaPr>
                  <m:jc m:val="center"/>
                </m:oMathParaPr>
                <m:oMath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cos</m:t>
                  </m:r>
                  <m:sSub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δ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cr</m:t>
                      </m:r>
                    </m:sub>
                  </m:sSub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=</m:t>
                  </m:r>
                  <m:f>
                    <m:fPr>
                      <m:type m:val="bar"/>
                    </m:fPr>
                    <m:num>
                      <m:sSub>
                        <m:e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P</m:t>
                          </m:r>
                        </m:e>
                        <m:sub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(</m:t>
                      </m:r>
                      <m:sSub>
                        <m:e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δ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max</m:t>
                          </m:r>
                        </m:sub>
                      </m:sSub>
                      <m:r>
                        <m:rPr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−</m:t>
                      </m:r>
                      <m:sSub>
                        <m:e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δ</m:t>
                          </m:r>
                        </m:e>
                        <m:sub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)</m:t>
                      </m:r>
                      <m:r>
                        <m:rPr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+</m:t>
                      </m:r>
                      <m:sSub>
                        <m:e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P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max</m:t>
                          </m:r>
                        </m:sub>
                      </m:sSub>
                      <m:r>
                        <m:rPr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cos</m:t>
                      </m:r>
                      <m:sSub>
                        <m:e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δ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max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P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max</m:t>
                          </m:r>
                        </m:sub>
                      </m:sSub>
                    </m:den>
                  </m:f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,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  </m:t>
                  </m:r>
                  <m:sSub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t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cr</m:t>
                      </m:r>
                    </m:sub>
                  </m:sSub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=</m:t>
                  </m:r>
                  <m:rad>
                    <m:radPr>
                      <m:degHide m:val="on"/>
                    </m:radPr>
                    <m:deg/>
                    <m:e>
                      <m:f>
                        <m:fPr>
                          <m:type m:val="bar"/>
                        </m:fPr>
                        <m:num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4</m:t>
                          </m:r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H</m:t>
                          </m:r>
                          <m:r>
                            <m:rPr>
                              <m:sty m:val="p"/>
                            </m:rP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(</m:t>
                          </m:r>
                          <m:sSub>
                            <m:e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δ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cr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−</m:t>
                          </m:r>
                          <m:sSub>
                            <m:e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δ</m:t>
                              </m:r>
                            </m:e>
                            <m:sub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)</m:t>
                          </m:r>
                        </m:num>
                        <m:den>
                          <m:sSub>
                            <m:e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ω</m:t>
                              </m:r>
                            </m:e>
                            <m:sub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0</m:t>
                              </m:r>
                            </m:sub>
                          </m:sSub>
                          <m:sSub>
                            <m:e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P</m:t>
                              </m:r>
                            </m:e>
                            <m:sub>
                              <m:r>
                                <ns0:rPr xmlns:ns0="http://schemas.openxmlformats.org/wordprocessingml/2006/main">
                                  <ns0:sz ns0:val="68"/>
                                  <ns0:szCs ns0:val="68"/>
                                </ns0:rPr>
                                <m:t>m</m:t>
                              </m:r>
                            </m:sub>
                          </m:sSub>
                        </m:den>
                      </m:f>
                    </m:e>
                  </m:rad>
                </m:oMath>
              </m:oMathPara>
            </a14:m>
          </a:p>
        </p:txBody>
      </p:sp>
      <p:sp>
        <p:nvSpPr>
          <p:cNvPr id="4" name="TextBox 3"/>
          <p:cNvSpPr txBox="1"/>
          <p:nvPr/>
        </p:nvSpPr>
        <p:spPr>
          <a:xfrm>
            <a:off x="2255367" y="3055619"/>
            <a:ext cx="155448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2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180">
                <a:ea typeface="Hiragino Sans"/>
                <a:cs typeface="Hiragino Sans"/>
              </a:rPr>
              <a:t>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447" y="3293363"/>
            <a:ext cx="9525" cy="1755648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55367" y="3256787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δ</m:t>
                    </m:r>
                  </m:e>
                  <m:sub>
                    <m:r>
                      <m:rPr>
                        <m:nor/>
                        <m:sty m:val="p"/>
                      </m:rPr>
                      <ns0:rPr xmlns:ns0="http://schemas.openxmlformats.org/wordprocessingml/2006/main">
                        <ns0:sz ns0:val="40"/>
                        <ns0:szCs ns0:val="40"/>
                      </ns0:rPr>
                      <m:t>cr</m:t>
                    </m:r>
                  </m:sub>
                </m:sSub>
              </m:oMath>
            </a14:m>
          </a:p>
        </p:txBody>
      </p:sp>
      <p:sp>
        <p:nvSpPr>
          <p:cNvPr id="7" name="TextBox 6"/>
          <p:cNvSpPr txBox="1"/>
          <p:nvPr/>
        </p:nvSpPr>
        <p:spPr>
          <a:xfrm>
            <a:off x="4267047" y="3256787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臨界除去角。A1 = A2 を解いた結果。角度はラジアンで代入する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5367" y="3713987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t</m:t>
                    </m:r>
                  </m:e>
                  <m:sub>
                    <m:r>
                      <m:rPr>
                        <m:nor/>
                        <m:sty m:val="p"/>
                      </m:rPr>
                      <ns0:rPr xmlns:ns0="http://schemas.openxmlformats.org/wordprocessingml/2006/main">
                        <ns0:sz ns0:val="40"/>
                        <ns0:szCs ns0:val="40"/>
                      </ns0:rPr>
                      <m:t>cr</m:t>
                    </m:r>
                  </m:sub>
                </m:sSub>
              </m:oMath>
            </a14:m>
          </a:p>
        </p:txBody>
      </p:sp>
      <p:sp>
        <p:nvSpPr>
          <p:cNvPr id="9" name="TextBox 8"/>
          <p:cNvSpPr txBox="1"/>
          <p:nvPr/>
        </p:nvSpPr>
        <p:spPr>
          <a:xfrm>
            <a:off x="4267047" y="3713987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5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臨界除去時間。事故中は加速電力が一定なので等加速度運動になる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4171187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ad>
                  <m:radPr>
                    <m:degHide m:val="on"/>
                  </m:radPr>
                  <m:deg/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H</m:t>
                    </m:r>
                  </m:e>
                </m:rad>
              </m:oMath>
            </a14:m>
          </a:p>
        </p:txBody>
      </p:sp>
      <p:sp>
        <p:nvSpPr>
          <p:cNvPr id="11" name="TextBox 10"/>
          <p:cNvSpPr txBox="1"/>
          <p:nvPr/>
        </p:nvSpPr>
        <p:spPr>
          <a:xfrm>
            <a:off x="4267047" y="4171187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H が半分になると t_cr は 0.707 倍。角度は変わらず時間だけ縮む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5367" y="4628387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P</m:t>
                    </m:r>
                  </m:e>
                  <m:sub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e</m:t>
                    </m:r>
                  </m:sub>
                </m:sSub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=</m:t>
                </m:r>
                <m:r>
                  <ns0:rPr xmlns:ns0="http://schemas.openxmlformats.org/wordprocessingml/2006/main">
                    <ns0:sz ns0:val="40"/>
                    <ns0:szCs ns0:val="40"/>
                  </ns0:rPr>
                  <m:t>0</m:t>
                </m:r>
              </m:oMath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4267047" y="4628387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条件：三相短絡（事故中 P_e = 0）で、除去後は元の P_max に戻る場合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1 — t_cr を手で出す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運転点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δ₀ = asin(0.8/2.0) = 0.412 rad = 23.6°、δ_max = π − δ₀ = 2.730 rad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臨界除去角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cos δ_cr = [0.8×(2.730−0.412) + 2.0×cos(2.730)]/2.0 = 0.0107 → δ_cr = 89.4°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臨界除去時間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t_cr = √(4×4×(1.561−0.412)/(377×0.8)) = √0.0610 = 0.247 s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判定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保護＋遮断器は 50〜80 ms。247 ms に対して十分な余裕がある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数値積分で確かめる — 247 ms が境目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読み方｜動揺方程式を RK4 で解いた δ(t)。除去時間だけを変えている</a:t>
            </a:r>
          </a:p>
        </p:txBody>
      </p:sp>
      <p:pic>
        <p:nvPicPr>
          <p:cNvPr id="4" name="Picture 3" descr="ch07_sw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640221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640221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出典｜コード/fig_ch07.py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1197" y="2629725"/>
            <a:ext cx="5033570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200 ms：小さく振れて戻る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240 ms：大きく振れるが戻る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260 ms：δ_max を越えて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脱調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破線が等面積法の予測 247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手計算の予測と数値積分が一致した。等面積法は「近似」ではなく、この条件では厳密な判定になっている。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除去時間を掃引する — 境目は鋭い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読み方｜除去時間を 5 ms 刻みで変え、最大相差角を記録した</a:t>
            </a:r>
          </a:p>
        </p:txBody>
      </p:sp>
      <p:pic>
        <p:nvPicPr>
          <p:cNvPr id="4" name="Picture 3" descr="ch07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469692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469692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出典｜コード/fig_ch07.py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0668" y="2629725"/>
            <a:ext cx="5204099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245 ms までは安定（緑）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250 ms から脱調（赤）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境目は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5 ms</a:t>
            </a: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の幅しかない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等面積法の 247 ms と一致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安定と脱調の間に「だんだん危なくなる」領域はない。だから整定は余裕を持って決める。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24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手計算と数値積分が一致した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921127"/>
            <a:ext cx="3503066" cy="1619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9211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187827"/>
            <a:ext cx="3045866" cy="1123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2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89.4°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臨界除去角（等面積法）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4314" y="2921127"/>
            <a:ext cx="3503066" cy="1619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4314" y="29211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914" y="3187827"/>
            <a:ext cx="3045866" cy="1123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2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247 ms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臨界除去時間（理論）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700" y="2921127"/>
            <a:ext cx="3503066" cy="1619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1700" y="29211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0300" y="3187827"/>
            <a:ext cx="3045866" cy="1123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2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245 ms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RK4 積分の実測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位相面で見る — 越えたら戻れない点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読み方｜横軸が角度、縦軸が角速度。閉じた軌道なら戻ってくる</a:t>
            </a:r>
          </a:p>
        </p:txBody>
      </p:sp>
      <p:pic>
        <p:nvPicPr>
          <p:cNvPr id="4" name="Picture 3" descr="ch07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387983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387983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出典｜コード/fig_ch07.py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8959" y="2629725"/>
            <a:ext cx="5285808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200 ms：閉じた軌道を描いて戻る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240 ms：ぎりぎり閉じる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260 ms：不安定平衡点を越えて発散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越えるとき速度が残っているかが分岐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「δ_max を越えたら脱調」ではない。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速度を持ったまま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越えたら戻れない、が正確な言い方である。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Ⅳ. 現実の系統と対策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 回線開放 — 除去後の曲線が下がる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読み方｜事故前・事故中・除去後の 3 本。除去後は 1 回線なので P_max が下がる</a:t>
            </a:r>
          </a:p>
        </p:txBody>
      </p:sp>
      <p:pic>
        <p:nvPicPr>
          <p:cNvPr id="4" name="Picture 3" descr="ch07_thre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529716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529716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出典｜コード/fig_ch07.py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692" y="2470975"/>
            <a:ext cx="5144075" cy="1968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事故前 2 回線：P_max = 1.91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事故中：P_max = 0.67（完全に 0 ではない）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除去後 1 回線：P_max =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1.24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δ_cr = 84°、δ_max = 140°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現実には事故中も少しは送れ、除去後は系統が弱くなる。減速に使える面積が減るぶん、許される除去時間も短くなる。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28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対策 — A1 を減らすか A2 を増やすか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読み方｜臨界除去時間で比べた。慣性低下だけが余裕そのものを削る</a:t>
            </a:r>
          </a:p>
        </p:txBody>
      </p:sp>
      <p:pic>
        <p:nvPicPr>
          <p:cNvPr id="4" name="Picture 3" descr="ch07_meas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918893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918893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出典｜コード/fig_ch07.py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69869" y="2470975"/>
            <a:ext cx="4754898" cy="1968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高速除去：t_cr は変えず実際の t_c を短く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直列補償で P_max 2.0 → 2.4：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268 ms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慣性低下 H = 2 s：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175 ms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保護の実力は 50〜80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対策は 2 通りしかない。事故中に貯める量を減らすか、除去後に吐き出せる量を増やすか。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29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制動 — PSS は振動を減らす装置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読み方｜除去 200 ms で安定はするが、振動がなかなか収まらない</a:t>
            </a:r>
          </a:p>
        </p:txBody>
      </p:sp>
      <p:pic>
        <p:nvPicPr>
          <p:cNvPr id="4" name="Picture 3" descr="ch07_dam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6070291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6070291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出典｜コード/fig_ch07.py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21267" y="2629725"/>
            <a:ext cx="4603500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D = 0：振動が続く（理想化）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D = 2：ゆっくり収まる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D = 8（PSS 相当）：速く収まる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平衡点 δ₀ = 23.6° に戻る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脱調を防ぐのは等面積法、振動を収めるのは制動。役割が違う 2 つの安定性を区別する。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動く図で試す — viz/swing.html</a:t>
            </a:r>
          </a:p>
        </p:txBody>
      </p:sp>
      <p:pic>
        <p:nvPicPr>
          <p:cNvPr id="3" name="Picture 2" descr="ch07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217" y="1353312"/>
            <a:ext cx="4827260" cy="32423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4732782"/>
            <a:ext cx="11057839" cy="298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動く図 動揺方程式の RK4 積分と等面積法をブラウザ内で実計算する 14 枚のスライド。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4112"/>
            <a:ext cx="11057839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除去時間を 240 → 260 ms に動かし、振れ戻りと脱調が切り替わる瞬間を見る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H を 4 → 2 s にして、δ_cr は変わらず t_cr だけ短くなるのを確かめる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面積 A1 と A2 の数値を読み、釣り合う除去角が 89.4° になるのを検算する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なぜそう考えるか — H は角度でなく時間に効く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121916"/>
            <a:ext cx="11057839" cy="310896"/>
          </a:xfrm>
          <a:prstGeom prst="rect">
            <a:avLst/>
          </a:prstGeom>
          <a:solidFill>
            <a:srgbClr val="5C7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2191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 δ_cr は H に依らないのか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432812"/>
            <a:ext cx="11057839" cy="712216"/>
          </a:xfrm>
          <a:prstGeom prst="rect">
            <a:avLst/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47853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等面積法はエネルギーの釣り合いで、面積は P–δ 平面の幾何だけで決まる。H は「その角度に何秒で着くか」にしか関わらない。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346196"/>
            <a:ext cx="11057839" cy="310896"/>
          </a:xfrm>
          <a:prstGeom prst="rect">
            <a:avLst/>
          </a:prstGeom>
          <a:solidFill>
            <a:srgbClr val="146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4619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 t_cr は √H に比例するのか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57092"/>
            <a:ext cx="11057839" cy="712216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70281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事故中は加速電力が一定なので等加速度運動。δ − δ₀ = (ω₀P_m/4H)t² となり、同じ角度に達する時間は √H に比例する。H が半分なら 0.707 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570476"/>
            <a:ext cx="11057839" cy="310896"/>
          </a:xfrm>
          <a:prstGeom prst="rect">
            <a:avLst/>
          </a:prstGeom>
          <a:solidFill>
            <a:srgbClr val="9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047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落とし穴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881372"/>
            <a:ext cx="11057839" cy="458216"/>
          </a:xfrm>
          <a:prstGeom prst="rect">
            <a:avLst/>
          </a:prstGeom>
          <a:solidFill>
            <a:srgbClr val="F8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927092"/>
            <a:ext cx="10655503" cy="385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角度を度のまま代入しない。δ はラジアン、ω₀ = 2π×60 = 377 rad/s。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よくある誤解</a:t>
            </a:r>
          </a:p>
        </p:txBody>
      </p:sp>
      <p:pic>
        <p:nvPicPr>
          <p:cNvPr id="3" name="Picture 2" descr="ch07_my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6" y="713232"/>
            <a:ext cx="111768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試験でも実務でも、この 3 つが最も多い。問題文を読んだら、まず「臨界除去角」の話か「臨界除去時間」の話かを区別する習慣をつける。　出典｜コード/fig_ch07.py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持ち帰る 3 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207" y="2394204"/>
            <a:ext cx="10972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2595372"/>
            <a:ext cx="10143439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安定度は回転体の力学。貯めた勢いを吐き出せるかを面積で比べ、その時間の余裕を H が決める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3926332"/>
            <a:ext cx="8497519" cy="93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動揺方程式 (2H/ω₀)δ″ = P_m − P_max sinδ。H は「勢いの貯金」で単位は秒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等面積法：A1 = A2 で δ_cr = 89.4°、t_cr = 247 ms。数値積分とも一致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対策は A1 を減らす（高速除去）か A2 を増やす（P_max 増）。慣性低下は余裕を削る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34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92927" y="2697480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7462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452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次回：第8回 受給バランスと周波数制御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演習 ex/ch07.html で数値を変えて確かめる</a:t>
            </a:r>
          </a:p>
          <a:p>
            <a:pPr algn="ctr">
              <a:spcBef>
                <a:spcPts val="400"/>
              </a:spcBef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相差角の次は周波数 — 系統全体で 1 つの値をどう守るか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