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第1回は「作る」、今回は「運ぶ」。持ち帰ってほしいのは (1) 損失 ∝ 1/V² の式、(2) 単線結線図を節点と枝で読む目、(3) 沖縄は孤立系統という事実。90 分で 4 章、例題 3 つ。</a:t>
            </a:r>
          </a:p>
          <a:p/>
          <a:p>
            <a:r>
              <a:t>_class: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 3 文を最後にもう一度見せる。「2 乗」「節点と枝」「逆比」が今日のキーワード。</a:t>
            </a:r>
          </a:p>
          <a:p/>
          <a:p>
            <a:r>
              <a:t>_class: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最初の 2 枚で全体像を渡す。右下の「57 倍」= (500/66)² が今日の結論の数字。</a:t>
            </a:r>
          </a:p>
          <a:p/>
          <a:p>
            <a:r>
              <a:t>_class: graphical-abstract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沖縄は他地域と連系線がなく、この「融通」がそもそも存在しない。第8回で効いてくる。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「なぜ発電機は 20 kV までなのか」→ 回転子・固定子の絶縁厚の制約。「なぜ家庭は 100 V か」→ 安全と機器の絶縁。山の高さ（送電電圧）を決めるのが次の章の損失の式。　図の要点：発電機 10〜25 kV：絶縁で決まる／主変圧器で一気に 275〜500 kV／一次変電所 154/66 kV、配電 6.6 kV／柱上変圧器で 100/200 V（沖縄も同じ）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学生に「大学の受電電圧は？」と聞く（琉球大は特別高圧受電）。表の 6 段を電気の流れる順に言えれば問 2-1 は解ける。</a:t>
            </a:r>
          </a:p>
          <a:p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理想変圧器は容量が保存（√3 V₁ I₁ = √3 V₂ I₂）。「電圧を 4 倍にしたら電流は 1/4、損失は 1/16」が次の章の伏線。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学生に 2, 3 を計算させる（3 分）。「電圧が 4 倍なら電流は 1/4」を体で。4 の p.u. 値 0.184 が両側で一致することは第3回で確認する。</a:t>
            </a:r>
          </a:p>
          <a:p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「25 倍に上げる」ことの利益が次の章。「a² の換算」の面倒を消すのが第3回。</a:t>
            </a:r>
          </a:p>
          <a:p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段階開示。①で「P を固定すると I は V に反比例」を強調。②の代入は学生に板書させてもよい。③で「なぜ電線を太くする代わりに電圧を上げるのか」に答える。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前の 1 枚に ② を足しただけ。薄い段はまだ出していない段。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前の 1 枚に ③ を足しただけ。薄い段はまだ出していない段。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図は対数軸。「1 目盛り下がる＝1/10」を確認。100% の点線より上は「送る電力より損失が大きい＝物理的に送れない」。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学生に 3 を計算させる。「電圧比の 2 乗で割るだけ」で 2 → 3 → 4 が出ることを確認。よくある誤り：√3 を忘れる、力率を掛け忘れる。</a:t>
            </a:r>
          </a:p>
          <a:p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日本全体の送配電損失は約 4.5%。この数字は「高電圧で運んでいるから」達成できている。</a:t>
            </a:r>
          </a:p>
          <a:p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例題 2-2（ノート）：0.9 → 0.98 で損失 15.7% 減。「設備を増やさない省エネ」として工場で実際に行われている。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平衡三相なら 1 相分で代表できる、が単線で描ける根拠。学生に「母線はいくつ、枝はいくつ」を数えさせる。L13 を外すと放射状、付けるとループ。　図の要点：母線 1〜3 が節点、線路 3 本が枝／遮断器 CB：事故電流を切れる／断路器 DS：無電流でしか開閉不可／順序は「CB を開いてから DS」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「ノード」「バス」「母線」は同じもの。教科書は「ノード」。本講義ではスラックノードを必ず番号 1 に取る（記号表）。</a:t>
            </a:r>
          </a:p>
          <a:p/>
          <a:p>
            <a:r>
              <a:t>_class: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段階開示。①は「並列＝同じ電圧差」だけで出る。②で数値。③で「ループは安全か」を問い、N-1 と潮流計算の必要性へ。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前の 1 枚に ② を足しただけ。薄い段はまだ出していない段。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前の 1 枚に ③ を足しただけ。薄い段はまだ出していない段。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「回線 2 の定格を 1,000 A 以上にすれば良い」= N-1 基準の考え方。設備を余らせて持つコストと信頼度のトレードオフ。　図の要点：通常：600 A / 400 A（Z の逆比）／開放後：回線 2 に 1,000 A／定格 700 A の 143% → 過負荷／保護が働けば母線 B は停電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確率は各区間の年間故障確率 0.01 の仮定。ノート 2.3.2 のモンテカルロと同じ値。「ループにすると設備費は倍、保護は複雑」も言う。　図の要点：放射状：配電の基本形、安価／届く確率 (1 − 0.01)³ = 0.970／ループ：送電の基本形、切替可能／届く確率 1 − 0.01² = 0.9999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周波数変換所：佐久間 300、新信濃 600、東清水 300、飛騨信濃 900 MW。「沖縄で周波数が乱れたら誰が助けるか」→ 誰も助けない、が第8回・第15回の出発点。</a:t>
            </a:r>
          </a:p>
          <a:p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pws_common.build_okinawa と同じ母線・線路・負荷。潮流の値は直流法（第4回）の概算で、交流の厳密解は第6回で pandapower に解かせる。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予備率の分母は需要。「最大機が大きいほど必要な予備率が高い」= 離島で大型機を入れにくい理由。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学生に 3, 4 を計算させる。「最大機の大きさ」が予備率の下限を決める。1 台が大きい離島ほど厳しい。問 2-5 の太陽光 300 MW 導入と合わせて考えさせる。</a:t>
            </a:r>
          </a:p>
          <a:p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本土なら連系線からの融通で 100 MW を埋められる。沖縄は自前。第15回の連系可能量の制約の 1 つになる。</a:t>
            </a:r>
          </a:p>
          <a:p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viz は 1,000 MW・200 km・0.03 Ω/km の条件。スライドの例題（100 MW・100 km・0.1 Ω/km）と数値は違うが、電圧の 2 乗の関係は同じ。</a:t>
            </a:r>
          </a:p>
          <a:p/>
          <a:p>
            <a:r>
              <a:t>_class: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「沖縄と九州を HVDC でつなげないのか」と聞かれたら、距離（約 700 km）と費用、そして第8回の周波数の話につなぐ。</a:t>
            </a:r>
          </a:p>
          <a:p/>
          <a:p>
            <a:r>
              <a:t>_class: blocks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つ目の誤解が一番多い。「連系線がない」ことを地図で確認させる。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冒頭の一言に戻る。「2 乗」「節点と枝」「逆比」の 3 語が言えれば合格。</a:t>
            </a:r>
          </a:p>
          <a:p/>
          <a:p>
            <a:r>
              <a:t>_class: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7.xml"/><Relationship Id="rId4" Type="http://schemas.openxmlformats.org/officeDocument/2006/relationships/slide" Target="slide13.xml"/><Relationship Id="rId5" Type="http://schemas.openxmlformats.org/officeDocument/2006/relationships/slide" Target="slide21.xml"/><Relationship Id="rId6" Type="http://schemas.openxmlformats.org/officeDocument/2006/relationships/slide" Target="slide2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なぜ電気は 50 万ボルトで運ぶのか — 損失の式から系統の形まで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2927" y="2889504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54096"/>
            <a:ext cx="10728655" cy="1817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defRPr sz="54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第2回 電力システムの構成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00066"/>
            <a:ext cx="9997135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重信颯人（福井大学）／ Day 1・コマ 2 ／ 教科書 第1章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8647" y="2108708"/>
            <a:ext cx="91440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64740"/>
            <a:ext cx="9997135" cy="2219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電力系統は「昇圧して運び、降圧して使う」階層構造。送電損失は電圧の 2 乗に反比例するから、高い電圧で運ぶ。母線が節点、線路が枝で、電流は経路を選ばずインピーダンスの逆比で分かれる。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一枚で｜問い → 課題 → 道具 → 到達点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29232"/>
            <a:ext cx="11057839" cy="14380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4728" y="1907032"/>
            <a:ext cx="10702239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問い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4728" y="2268728"/>
            <a:ext cx="10702239" cy="7207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発電機は 20 kV でしか作れないのに、なぜ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500 kV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に上げてから運ぶのか。上げた電圧はどこで、どう下げるのか。つながっていない沖縄は何が違うのか。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331845"/>
            <a:ext cx="3082442" cy="230416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728" y="3509645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課題</a:t>
            </a:r>
          </a:p>
        </p:txBody>
      </p:sp>
      <p:pic>
        <p:nvPicPr>
          <p:cNvPr id="9" name="Picture 8" descr="ch02_loss_vol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994" y="3871341"/>
            <a:ext cx="1484310" cy="8153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4728" y="4762881"/>
            <a:ext cx="2726842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100 MW を 100 km 送ると、66 kV で 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28%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を失う。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3850538" y="4280725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4626" y="3331845"/>
            <a:ext cx="3082442" cy="230416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19050">
            <a:solidFill>
              <a:srgbClr val="B85042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2426" y="3509645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道具</a:t>
            </a:r>
          </a:p>
        </p:txBody>
      </p:sp>
      <p:pic>
        <p:nvPicPr>
          <p:cNvPr id="14" name="Picture 13" descr="ch02_s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623" y="3871341"/>
            <a:ext cx="1640447" cy="66770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32426" y="4615244"/>
            <a:ext cx="2726842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25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I = P/(√3V cosφ) ▶ 3I²R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426" y="5072444"/>
            <a:ext cx="2726842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損失の式を 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導出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する。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8236" y="4280725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2324" y="3331845"/>
            <a:ext cx="3082442" cy="2304161"/>
          </a:xfrm>
          <a:prstGeom prst="roundRect">
            <a:avLst>
              <a:gd name="adj" fmla="val 3500"/>
            </a:avLst>
          </a:prstGeom>
          <a:solidFill>
            <a:srgbClr val="7C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0124" y="3509645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到達点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0124" y="3871341"/>
            <a:ext cx="2726842" cy="8032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5059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57 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0124" y="4674615"/>
            <a:ext cx="2726842" cy="78359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66 kV と 500 kV で損失は 57 倍違う。だから昇圧して運ぶ。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745734"/>
            <a:ext cx="11057839" cy="426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数値はすべて本資料の Python コード（コード/fig_ch02.py）で計算。P = 100 MW、100 km、R = 0.1 Ω/km、力率 0.9。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現場で起きたこと — つながっているから広がる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269173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2003年8月 北米北東部大停電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1273"/>
            <a:ext cx="10801807" cy="10048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送電線が樹木に接触して停止、警報システムの不具合で運用者が気づかず、潮流が他の線路へ移って次々に過負荷停止。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約 5,000 万人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が停電した。網目状の系統では 1 本の停止が「再配分」を起こす。今日の Ⅲ で、その再配分を 2 回線の数値で追う。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95344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2011年 東西の周波数の壁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87444"/>
            <a:ext cx="10801807" cy="10048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日本は東 50 Hz・西 60 Hz に分かれ、間をつなぐ周波数変換設備の容量は当時約 100 万 kW。震災後、西から東へ十分に融通できなかった。現在は約 210 万 kW に増強されている。「つながっていれば助け合える」の裏返しで、つながっていない沖縄には融通そのものがない。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たとえ話 — 高速道路と生活道路</a:t>
            </a:r>
          </a:p>
        </p:txBody>
      </p:sp>
      <p:pic>
        <p:nvPicPr>
          <p:cNvPr id="3" name="Picture 2" descr="ch02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16" y="713232"/>
            <a:ext cx="1117686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たとえ話が崩れる点も押さえておく。車は経路を選ぶが、電流は選ばない。並列する全経路に、インピーダンスの逆比で勝手に分かれる。　出典｜コード/fig_ch02.py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この回の地図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2763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4" name="agenda:item:0"/>
          <p:cNvSpPr txBox="1"/>
          <p:nvPr/>
        </p:nvSpPr>
        <p:spPr>
          <a:xfrm>
            <a:off x="1572768" y="162763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3" action="ppaction://hlinksldjump"/>
              </a:rPr>
              <a:t>発電 → 送電 → 変電 → 配電 の階層と電圧レベル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66649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67919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7" name="agenda:item:1"/>
          <p:cNvSpPr txBox="1"/>
          <p:nvPr/>
        </p:nvSpPr>
        <p:spPr>
          <a:xfrm>
            <a:off x="1572768" y="267919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4" action="ppaction://hlinksldjump"/>
              </a:rPr>
              <a:t>損失の式 — なぜ高電圧か、を数字で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73075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10" name="agenda:item:2"/>
          <p:cNvSpPr txBox="1"/>
          <p:nvPr/>
        </p:nvSpPr>
        <p:spPr>
          <a:xfrm>
            <a:off x="1572768" y="373075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5" action="ppaction://hlinksldjump"/>
              </a:rPr>
              <a:t>単線結線図の読み方 — 母線・線路・変圧器・遮断器と分流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76961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8231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13" name="agenda:item:3"/>
          <p:cNvSpPr txBox="1"/>
          <p:nvPr/>
        </p:nvSpPr>
        <p:spPr>
          <a:xfrm>
            <a:off x="1572768" y="478231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6" action="ppaction://hlinksldjump"/>
              </a:rPr>
              <a:t>日本の系統（50/60 Hz、連系線）と沖縄の独自性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Ⅰ. 発電から需要家までの階層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発電機は 20 kV で作り、500 kV で運び、100 V で使う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電気の旅 — 上げて運び、下げて使う</a:t>
            </a:r>
          </a:p>
        </p:txBody>
      </p:sp>
      <p:pic>
        <p:nvPicPr>
          <p:cNvPr id="3" name="Picture 2" descr="ch02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34129"/>
            <a:ext cx="11734495" cy="5280522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発電機の 20 kV を 25 倍に上げて運び、家庭では 5,000 分の 1 に下げて使う。この山の形を可能にしているのが変圧器で、交流が主流になった理由もここにある。　出典｜コード/fig_ch02.py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電圧階級と役割 — 6 段の階段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42237"/>
            <a:ext cx="11057839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日本の代表的な電圧レベル（教科書 1.1 節）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3290" y="2190877"/>
          <a:ext cx="8625114" cy="2622550"/>
        </p:xfrm>
        <a:graphic>
          <a:graphicData uri="http://schemas.openxmlformats.org/drawingml/2006/table">
            <a:tbl>
              <a:tblPr/>
              <a:tblGrid>
                <a:gridCol w="1836389"/>
                <a:gridCol w="2285334"/>
                <a:gridCol w="4503391"/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区分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7C332A"/>
                      </a:solidFill>
                      <a:prstDash val="solid"/>
                    </a:lnB>
                    <a:lnT w="15875" cap="flat" cmpd="sng" algn="ctr">
                      <a:solidFill>
                        <a:srgbClr val="7C332A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電圧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7C332A"/>
                      </a:solidFill>
                      <a:prstDash val="solid"/>
                    </a:lnB>
                    <a:lnT w="15875" cap="flat" cmpd="sng" algn="ctr">
                      <a:solidFill>
                        <a:srgbClr val="7C332A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役割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7C332A"/>
                      </a:solidFill>
                      <a:prstDash val="solid"/>
                    </a:lnB>
                    <a:lnT w="15875" cap="flat" cmpd="sng" algn="ctr">
                      <a:solidFill>
                        <a:srgbClr val="7C332A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発電端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10〜25 kV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発電機の端子電圧。絶縁の制約で高くできない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基幹送電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500 / 275 kV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大電力を長距離輸送。系統の「背骨」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地域送電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154 / 110 / 66 kV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地域内の供給。二次変電所へ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特別高圧配電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22 / 33 kV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大口需要家（工場・鉄道）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高圧配電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6.6 kV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市街地の配電線。柱上変圧器まで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低圧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7C332A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100 / 200 V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7C332A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一般家庭・小規模事業所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7C332A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4996307"/>
            <a:ext cx="11057839" cy="82296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4996307"/>
            <a:ext cx="50800" cy="82296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5097907"/>
            <a:ext cx="10626039" cy="619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沖縄本島の基幹系統は 132 kV。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本土の 500 kV より低いのは、系統規模（最大需要 約 1,500 MW）と送る距離が小さいから。電圧階級は「どれだけの電力をどれだけ遠くへ」で決まる。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変圧器 — 電圧 a 倍、電流 1/a 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読み方｜275/66 kV・100 MVA。巻数比 a = 4.17 で電流は 210 A から 875 A に増える</a:t>
            </a:r>
          </a:p>
        </p:txBody>
      </p:sp>
      <p:pic>
        <p:nvPicPr>
          <p:cNvPr id="4" name="Picture 3" descr="ch02_transfo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38676"/>
            <a:ext cx="6413546" cy="20614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355036"/>
            <a:ext cx="6413546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出典｜コード/fig_ch02.py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4522" y="2312225"/>
            <a:ext cx="4260245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巻数比 a = N₁/N₂ = V₁/V₂ = 4.17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I₂ = a I₁：210 A → 875 A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Z₂ は一次から見ると a² = 17.4 倍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単位法なら両側で 0.184（第3回）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変圧器を挟むたびに a² の換算が要る。これが面倒だから系統解析は単位法（p.u.）で書く。第3回の動機はここ。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1 — 変圧器の巻数比と電流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巻数比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a = V₁/V₂ = 275/66 = 4.17。N₁/N₂ も同じ値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一次電流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I₁ = S/(√3 V₁) = 100 × 10⁶/(√3 × 275 × 10³) = 210 A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二次電流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I₂ = a I₁ = 4.17 × 210 = 875 A。√3 × 66 kV × 875 A = 100 MVA で容量は保存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インピーダンス換算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Z₂ = 0.5 + j8.0 Ω を一次から見ると a² Z₂ = 17.4 × Z₂ = 8.7 + j139 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結果 — 電圧を変えると何が変わるか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746502"/>
            <a:ext cx="3503066" cy="196850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746502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013202"/>
            <a:ext cx="3045866" cy="147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25 倍</a:t>
            </a:r>
          </a:p>
          <a:p>
            <a:pPr algn="ctr">
              <a:spcBef>
                <a:spcPts val="600"/>
              </a:spcBef>
              <a:defRPr sz="125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発電機 20 kV → 送電 500 kV の昇圧比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4314" y="2746502"/>
            <a:ext cx="3503066" cy="196850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4314" y="2746502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914" y="3013202"/>
            <a:ext cx="3045866" cy="147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4.17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275/66 kV 変圧器の巻数比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700" y="2746502"/>
            <a:ext cx="3503066" cy="196850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1700" y="2746502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0300" y="3013202"/>
            <a:ext cx="3045866" cy="1473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17.4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a²：二次インピーダンスの一次換算倍率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Ⅱ. 損失の式 — なぜ高電圧か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電圧の 2 乗と力率の 2 乗が分母にいる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損失は電圧の 2 乗に反比例する</a:t>
            </a:r>
          </a:p>
        </p:txBody>
      </p:sp>
      <p:pic>
        <p:nvPicPr>
          <p:cNvPr id="3" name="Picture 2" descr="ch02_deriv_los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84" y="713232"/>
            <a:ext cx="11111726" cy="553212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送る電力 P と線間電圧 V を決めると電流が決まる：I = P/(√3 V cosφ)。同じ P なら、電流は V に反比例する。　出典｜コード/fig_ch02.py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損失は電圧の 2 乗に反比例する</a:t>
            </a:r>
          </a:p>
        </p:txBody>
      </p:sp>
      <p:pic>
        <p:nvPicPr>
          <p:cNvPr id="3" name="Picture 2" descr="ch02_deriv_loss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84" y="713232"/>
            <a:ext cx="11111726" cy="553212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3R × P²/(3 V² cos²φ) = R P²/(V² cos²φ)。3 が消えて、分母に V² と cos²φ が残る。　出典｜コード/fig_ch02.py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損失は電圧の 2 乗に反比例する</a:t>
            </a:r>
          </a:p>
        </p:txBody>
      </p:sp>
      <p:pic>
        <p:nvPicPr>
          <p:cNvPr id="3" name="Picture 2" descr="ch02_deriv_loss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89" y="713232"/>
            <a:ext cx="10690317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R は 1 乗（電線を太くしても効きにくい）、V と cosφ は 2 乗。275 → 500 kV で (275/500)² = 0.30 倍、力率 0.8 は 1/0.64 = 1.56 倍。　出典｜コード/fig_ch02.py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同じ電線でも 66 kV なら 28% を失う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読み方｜P = 100 MW、100 km、R = 10 Ω、力率 0.9。対数軸で傾き −2 の直線＝電圧の 2 乗に反比例</a:t>
            </a:r>
          </a:p>
        </p:txBody>
      </p:sp>
      <p:pic>
        <p:nvPicPr>
          <p:cNvPr id="4" name="Picture 3" descr="ch02_loss_vol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340743" cy="2933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672076"/>
            <a:ext cx="5340743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出典｜コード/fig_ch02.py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719" y="2510663"/>
            <a:ext cx="5333048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66 kV：I = 972 A、損失 28.3 MW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154 kV：417 A、5.2 MW（5.2%）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275 kV：233 A、1.63 MW（1.6%）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500 kV：128 A、0.49 MW（0.5%）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244846"/>
            <a:ext cx="11057839" cy="863346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244846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371846"/>
            <a:ext cx="10600639" cy="6093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66 kV と 500 kV で損失は 57 倍違う（= (500/66)²）。日本の送配電損失率が約 4.5% で済むのは、高電圧で運んでいるから。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2 — 66・275・500 kV の損失を出す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条件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 = 100 MW、R = 0.1 Ω/km × 100 km = 10 Ω、力率 0.9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66 KV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I = 100 × 10⁶/(√3 × 66 × 10³ × 0.9) = 972 A。損失 3 × 972² × 10 = 28.3 MW（28%）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275 KV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I = 233 A。損失 3 × 233² × 10 = 1.63 MW（1.6%）。66 kV の (66/275)² = 0.058 倍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500 KV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I = 128 A。損失 0.49 MW（0.5%）。275 kV からさらに (275/500)² = 0.30 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結果 — 同じ電線でも電圧で損失が 57 倍違う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28%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66 kV で送ると（972 A）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4314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4314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914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1.6%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275 kV（233 A）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700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1700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0300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0.5%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500 kV（128 A）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もう 1 つの 2 乗 — 力率 0.8 で 1.56 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読み方｜横軸は力率、縦軸は力率 1.0 のときを 1 とした損失の倍率。実系統は 0.85〜1.0 で運用</a:t>
            </a:r>
          </a:p>
        </p:txBody>
      </p:sp>
      <p:pic>
        <p:nvPicPr>
          <p:cNvPr id="4" name="Picture 3" descr="ch02_loss_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4756653" cy="2933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672076"/>
            <a:ext cx="4756653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出典｜コード/fig_ch02.py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7629" y="2510663"/>
            <a:ext cx="5917138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力率 0.8：1/0.64 = 1.56 倍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力率 0.9：1.23 倍（275 kV で 1.63 MW）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力率 0.95：1.11 倍（1.47 MW）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力率 1.0：1.32 MW が最小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244846"/>
            <a:ext cx="11057839" cy="863346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244846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371846"/>
            <a:ext cx="10600639" cy="6093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力率改善（コンデンサで無効電力を補う）は電線を太くせずに損失を減らす。無効電力 Q の意味は第3回、電圧との関係は第6回。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Ⅲ. 単線結線図と分流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母線が節点、線路が枝。電流は逆比で勝手に分かれる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単線結線図 — 三相を 1 本の線で描く</a:t>
            </a:r>
          </a:p>
        </p:txBody>
      </p:sp>
      <p:pic>
        <p:nvPicPr>
          <p:cNvPr id="3" name="Picture 2" descr="ch02_s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86275"/>
            <a:ext cx="11734495" cy="477623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3 母線・3 線路の単線結線図。第4回以降は、この図の母線に番号を振って Y_bus を組み立てる。なお CB（遮断器）と DS（断路器）の操作順序を逆にすると重大事故につながる。　出典｜コード/fig_ch02.py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母線 — 系統の「交差点」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623312"/>
            <a:ext cx="38100" cy="145923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2403856"/>
            <a:ext cx="10692079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180">
                <a:ea typeface="Hiragino Sans"/>
                <a:cs typeface="Hiragino Sans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623312"/>
            <a:ext cx="10692079" cy="640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母線（bus）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446272"/>
            <a:ext cx="10692079" cy="8191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8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同じ電位で結ばれた接続点。発電機・負荷・線路・変圧器はすべて母線につながる。潮流計算（第4回以降）では母線が節点になり、線路がそれを結ぶ枝になる。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539742"/>
            <a:ext cx="10692079" cy="298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単線結線図は三相を 1 本の線で描いた地図。母線＝太線、遮断器＝四角、変圧器＝二重丸で読む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並列線路の分流は逆比で決まる</a:t>
            </a:r>
          </a:p>
        </p:txBody>
      </p:sp>
      <p:pic>
        <p:nvPicPr>
          <p:cNvPr id="3" name="Picture 2" descr="ch02_deriv_parall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18" y="713232"/>
            <a:ext cx="10766458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並列の 2 回線は同じ母線 A・B をつなぐので電圧降下が等しい。よって I₁/I₂ = Z₂/Z₁。インピーダンスが小さい回線に多く流れる（逆比）。　出典｜コード/fig_ch02.py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並列線路の分流は逆比で決まる</a:t>
            </a:r>
          </a:p>
        </p:txBody>
      </p:sp>
      <p:pic>
        <p:nvPicPr>
          <p:cNvPr id="3" name="Picture 2" descr="ch02_deriv_paralle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18" y="713232"/>
            <a:ext cx="10766458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Z₁ = 10 Ω、Z₂ = 15 Ω、I = 1,000 A なら I₁ = 1,000 × 15/25 = 600 A、I₂ = 400 A。運転者が選ぶのではなく、キルヒホッフが決める。　出典｜コード/fig_ch02.py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並列線路の分流は逆比で決まる</a:t>
            </a:r>
          </a:p>
        </p:txBody>
      </p:sp>
      <p:pic>
        <p:nvPicPr>
          <p:cNvPr id="3" name="Picture 2" descr="ch02_deriv_paralle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18" y="713232"/>
            <a:ext cx="10766458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回線 1 が開放されると I₂ = 1,000 A。定格 700 A なら 143% の過負荷 → 保護で遮断 → さらに次へ。2003 年の北米大停電はこの連鎖。　出典｜コード/fig_ch02.py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 本落ちると残りが全部を背負う</a:t>
            </a:r>
          </a:p>
        </p:txBody>
      </p:sp>
      <p:pic>
        <p:nvPicPr>
          <p:cNvPr id="3" name="Picture 2" descr="ch02_parall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54154"/>
            <a:ext cx="11734495" cy="4440472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回線 1 を失うと、残りの回線に全電流 1,000 A（定格 700 A の 143%）が乗る。ループにすれば信頼度は上がるが、「残りが耐えられるか」は計算しないと分からない。これが N-1 基準と潮流計算（第4回）の動機である。　出典｜コード/fig_ch02.py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Ⅳ. 系統の形と日本・沖縄の系統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放射状かループか、つながっているか孤立か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放射状は末端まで停電、ループは継続</a:t>
            </a:r>
          </a:p>
        </p:txBody>
      </p:sp>
      <p:pic>
        <p:nvPicPr>
          <p:cNvPr id="3" name="Picture 2" descr="ch02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55090"/>
            <a:ext cx="11734495" cy="303860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同じ 1 区間の故障でも、末端に届く確率は放射状で 97.0%、ループなら 99.99% まで上がる。放射状は電流の向きが一意なので手計算できるが、ループは分流がインピーダンスの逆比で決まるため連立方程式＝潮流計算が要る。　出典｜コード/fig_ch02.py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日本の系統 — 東西の壁と沖縄の孤立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42237"/>
            <a:ext cx="11057839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沖縄本島系統と本土（九州）の比較（教科書 1.1 節、図 1.1）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3290" y="2190877"/>
          <a:ext cx="8625114" cy="2622550"/>
        </p:xfrm>
        <a:graphic>
          <a:graphicData uri="http://schemas.openxmlformats.org/drawingml/2006/table">
            <a:tbl>
              <a:tblPr/>
              <a:tblGrid>
                <a:gridCol w="2578704"/>
                <a:gridCol w="2756504"/>
                <a:gridCol w="3289906"/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項目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7C332A"/>
                      </a:solidFill>
                      <a:prstDash val="solid"/>
                    </a:lnB>
                    <a:lnT w="15875" cap="flat" cmpd="sng" algn="ctr">
                      <a:solidFill>
                        <a:srgbClr val="7C332A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沖縄本島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7C332A"/>
                      </a:solidFill>
                      <a:prstDash val="solid"/>
                    </a:lnB>
                    <a:lnT w="15875" cap="flat" cmpd="sng" algn="ctr">
                      <a:solidFill>
                        <a:srgbClr val="7C332A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本土（九州）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7C332A"/>
                      </a:solidFill>
                      <a:prstDash val="solid"/>
                    </a:lnB>
                    <a:lnT w="15875" cap="flat" cmpd="sng" algn="ctr">
                      <a:solidFill>
                        <a:srgbClr val="7C332A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他系統との連系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03A2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なし（完全独立）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関門連系線で中国と接続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周波数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60 Hz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60 Hz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最大需要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約 1,500 MW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約 16,000 MW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基幹電圧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132 kV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500 kV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主力電源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石炭・LNG 火力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原子力・LNG・石炭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5DCCE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C7268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慣性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7C332A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03A2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小さい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7C332A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221E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大きい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7C332A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4996307"/>
            <a:ext cx="11057839" cy="82296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4996307"/>
            <a:ext cx="50800" cy="82296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5097907"/>
            <a:ext cx="10626039" cy="619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東西は 50/60 Hz で分かれ、周波数変換所 4 か所・合計 2,100 MW でつながる。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沖縄にはその「つながり」自体がない。同じ 250 MW の脱落でも周波数の落ち方が本土の 10 倍以上速い（第8回）。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沖縄本島の 5 母線モデル — ループ 1 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読み方｜132 kV・総負荷 900 MW。矢印は直流法で概算した有効電力の向き、線の太さが大きさ</a:t>
            </a:r>
          </a:p>
        </p:txBody>
      </p:sp>
      <p:pic>
        <p:nvPicPr>
          <p:cNvPr id="4" name="Picture 3" descr="ch02_okina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422900" cy="2933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672076"/>
            <a:ext cx="5422900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出典｜コード/fig_ch02.py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3876" y="2510663"/>
            <a:ext cx="5250891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具志川 650 MW（スラック）+ 牧港 250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那覇 400・中部 350・北部 150 MW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牧港 → 那覇に 728 MW が集中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中部は 2 方向から 328 + 22 MW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244846"/>
            <a:ext cx="11057839" cy="863346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244846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371846"/>
            <a:ext cx="10600639" cy="6093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ループなので中部は那覇側と北部側の両方から受ける。どちらか 1 本が落ちたときの再配分が Ⅲ の話。第6回・第15回でこのモデルに太陽光を載せる。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予備率 10% でも N-1 で 100 MW 足りない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読み方｜需要 1,500 MW に供給力 1,650 MW。最大機 250 MW が抜けると 1,400 MW で需要を下回る</a:t>
            </a:r>
          </a:p>
        </p:txBody>
      </p:sp>
      <p:pic>
        <p:nvPicPr>
          <p:cNvPr id="4" name="Picture 3" descr="ch02_re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292317" cy="2933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672076"/>
            <a:ext cx="5292317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出典｜コード/fig_ch02.py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3293" y="2510663"/>
            <a:ext cx="5381474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予備率 = (1,650 − 1,500)/1,500 = 10%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最大機脱落後：1,400 MW → −6.7%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N-1 を満たすには 1,750 MW（16.7%）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独立系統は融通で埋められない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244846"/>
            <a:ext cx="11057839" cy="863346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244846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371846"/>
            <a:ext cx="10600639" cy="60934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N-1 基準＝「どの 1 設備が抜けても供給を続ける」。連系のある本土は隣から借りられるが、沖縄は自前の予備力で持つしかない。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3 — 沖縄系統の N-1 予備率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条件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需要 1,500 MW、供給力 1,650 MW、最大の発電機 1 台 250 MW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供給予備率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(1,650 − 1,500)/1,500 = 0.100 → 10.0%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最大機が脱落した後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供給力 1,650 − 250 = 1,400 MW。予備率 (1,400 − 1,500)/1,500 = −6.7%。100 MW 不足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N-1 を満たす供給力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1,500 + 250 = 1,750 MW 以上（予備率 16.7%）。不足分は負荷遮断か蓄電池で埋める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結果 — 最大機 1 台が予備率の下限を決める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10%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供給予備率（1,650 / 1,500 MW）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4314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4314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914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−6.7%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最大機 250 MW 脱落後の予備率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700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1700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0300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1,750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N-1 を満たす供給力 [MW]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動く図で試す — viz/grid.html</a:t>
            </a:r>
          </a:p>
        </p:txBody>
      </p:sp>
      <p:pic>
        <p:nvPicPr>
          <p:cNvPr id="3" name="Picture 2" descr="ch02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217" y="1353312"/>
            <a:ext cx="4827260" cy="32423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4732782"/>
            <a:ext cx="11057839" cy="298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動く図 電圧・力率・系統の形を変えて、損失と停電範囲をブラウザ内で実計算するスライド。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4112"/>
            <a:ext cx="11057839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電圧を 66 → 275 → 500 kV に変え、損失が 1/V² で落ちるのを見る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力率を 1.0 → 0.8 にして、同じ電力でも損失が 1.56 倍になるのを見る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放射状とループで、1 本の線路を落としたときの停電範囲を比べる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なぜそう考えるか — 交流・周波数・直流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994916"/>
            <a:ext cx="11057839" cy="310896"/>
          </a:xfrm>
          <a:prstGeom prst="rect">
            <a:avLst/>
          </a:prstGeom>
          <a:solidFill>
            <a:srgbClr val="5C7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9491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なぜ交流が主流なのか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305812"/>
            <a:ext cx="11057839" cy="712216"/>
          </a:xfrm>
          <a:prstGeom prst="rect">
            <a:avLst/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35153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変圧器で電圧を自在に上げ下げできるから。損失を下げるには高電圧、使うには低電圧。この両立は変圧器なしには成り立たない。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219196"/>
            <a:ext cx="11057839" cy="310896"/>
          </a:xfrm>
          <a:prstGeom prst="rect">
            <a:avLst/>
          </a:prstGeom>
          <a:solidFill>
            <a:srgbClr val="146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1919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 50 Hz と 60 Hz に分かれたのか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530092"/>
            <a:ext cx="11057839" cy="712216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57581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明治期に東京はドイツ製、大阪は米国製の発電機を導入した歴史の名残。統一の費用が大きく、変換設備でつないでいる。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443476"/>
            <a:ext cx="11057839" cy="310896"/>
          </a:xfrm>
          <a:prstGeom prst="rect">
            <a:avLst/>
          </a:prstGeom>
          <a:solidFill>
            <a:srgbClr val="9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44347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直流送電（HVDC）の出番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754372"/>
            <a:ext cx="11057839" cy="712216"/>
          </a:xfrm>
          <a:prstGeom prst="rect">
            <a:avLst/>
          </a:prstGeom>
          <a:solidFill>
            <a:srgbClr val="F8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80009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変圧は苦手だが、長距離（架空線 600 km・ケーブル 50 km 超）・海底ケーブル・非同期連系では有利。北海道–本州、紀伊水道はこれ。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よくある誤解</a:t>
            </a:r>
          </a:p>
        </p:txBody>
      </p:sp>
      <p:pic>
        <p:nvPicPr>
          <p:cNvPr id="3" name="Picture 2" descr="ch02_my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16" y="713232"/>
            <a:ext cx="1117686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3 つ目が一番多い誤解。沖縄本島は完全独立系統で、他地域からの融通は物理的に存在しない。連系線が無いことは地図で確認できる。　出典｜コード/fig_ch02.py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持ち帰る 3 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207" y="2394204"/>
            <a:ext cx="10972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2595372"/>
            <a:ext cx="10143439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高電圧は損失対策。系統は「上げて運び、下げて使う」階層で、母線がその節点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3926332"/>
            <a:ext cx="8497519" cy="93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損失 = RP²/(V² cos²φ)。66 → 500 kV で 57 分の 1、力率 0.8 で 1.56 倍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並列線路は Z の逆比で分かれ、1 本落ちれば残りが全電流を負う（→ N-1、潮流計算）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沖縄は完全独立・小規模。予備力も慣性も自前で持つ（第8回・第15回）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92927" y="2697480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7462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452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次回：第3回 基本量と等価回路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演習 ex/ch02.html で数値を変えて確かめる</a:t>
            </a:r>
          </a:p>
          <a:p>
            <a:pPr algn="ctr">
              <a:spcBef>
                <a:spcPts val="400"/>
              </a:spcBef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P は角度で、Q は電圧で運ばれる — 本講義で最も大事な式へ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