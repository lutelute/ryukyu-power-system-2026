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 3 回は「予測」の話。供給側の不確実性が系統計画に入ってきた、という位置づけ。</a:t>
            </a:r>
          </a:p>
          <a:p/>
          <a:p>
            <a:r>
              <a:t>_class: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「予報が当たれば予測も当たる」という誤解を最初に壊す。翻訳の式にも誤差がある。</a:t>
            </a:r>
          </a:p>
          <a:p/>
          <a:p>
            <a:r>
              <a:t>_class: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右下の 2.4 倍は「地上 10 m の予報値をそのまま使ったら」の話。翻訳の式が効くことを示す。</a:t>
            </a:r>
          </a:p>
          <a:p/>
          <a:p>
            <a:r>
              <a:t>_class: graphical-abstract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予測は「当てる」ためだけでなく「備える量を決める」ためにある。第8回の予備力につながる。</a:t>
            </a:r>
          </a:p>
          <a:p/>
          <a:p>
            <a:r>
              <a:t>_class: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 5 行は今日の全体を先取りしている。予報誤差・モデル誤差・べき法則・v³・平滑化効果が、あとで順番に式になって出てくる。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agenda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日本では GSM（20 km・週間）、MSM（5 km・翌日の主力）、LFM（2 km・数時間先）を使い分ける。　図の要点：NWP：物理方程式を格子上で積分／地点補正：格子の値を現地・ハブ高さへ／変換モデル：PV 式・パワーカーブ／評価：nRMSE で採点し予備力へ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晴天指数 kt = 実測 GHI / 晴天 GHI。予測の実務はこの kt を当てる問題に帰着する。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この式は PVWatts 型と呼ばれる実用モデル。分光応答や入射角依存を無視した簡略版だが実務で広く使われる。</a:t>
            </a:r>
          </a:p>
          <a:p/>
          <a:p>
            <a:r>
              <a:t>_class: equation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パネルを地面から離して風を通す、白い屋根に置く、といった設計は温度損失を減らすため。　図の要点：出力は日射にほぼ比例する／気温 32 °C・G = 800 で 1.14 MW／気温 15 °C なら 1.23 MW（7% 差）／セル温度は気温 +25 °C（G = 800 のとき）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地点ならこの変動。多地点なら平滑化される（後で図で見せる）。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②が今日の「2.4 倍」。予報の地上 10 m の値をそのまま使うと、これだけ見誤る。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前の 1 枚に ② を足しただけ。薄い段はまだ出していない段。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前の 1 枚に ③ を足しただけ。薄い段はまだ出していない段。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α は現地の観測から推定する。事前調査でマストを立てて 1 年測るのはこのため。　図の要点：地上 10 m で 6 m/s のとき／α = 0.14 → 80 m で 8.0 m/s／出力は 3 乗で 2.4 倍／α = 0.30 なら 9.6 m/s・4.1 倍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洋上風力の設備利用率が高い（30〜40%）のは、平均風速が高くワイブル分布が右に寄るから。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divider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翌日予測で nRMSE 数 % 台なら良い方。ここから必要な予備力を決める。　図の要点：MAE 0.058 MW、RMSE 0.093 MW／定格で割った nRMSE 4.6%／夜間は実績 ≈ 0 で MAPE が発散／だから太陽光では MAPE を使わない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九州や東北なら地点間距離が大きく相関が弱い。系統の広がりが予測精度の資産になる。　図の要点：独立なら 1/√N（9 地点で 15 → 5.0%）／相関 ρ = 0.3 なら 9.2%／相関 ρ = 0.7 なら 12.8%／N → ∞ でも σ₁√ρ より下がらない</a:t>
            </a:r>
          </a:p>
          <a:p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スプレッドが大きい日は予備力を多めに、小さい日は少なめに。確率予測の運用上の価値はここ。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火力の最低出力は第14回、連系可能量としての扱いは第15回で扱う。今日は予測との関係だけ。</a:t>
            </a:r>
          </a:p>
          <a:p/>
          <a:p>
            <a:r>
              <a:t>_class: figure-story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kpi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学生に 2 と 3 を計算させる。「気温が 25 °C なら？」と続けると温度の効き方が体感できる。</a:t>
            </a:r>
          </a:p>
          <a:p/>
          <a:p>
            <a:r>
              <a:t>_class: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blocks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figure-full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takeaway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_class: 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ea typeface="Hiragino Sans"/>
                <a:cs typeface="Hiragino Sans"/>
              </a:rPr>
              <a:t>Click to edit Master subtitle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ea typeface="Hiragino Sans"/>
                <a:cs typeface="Hiragino Sans"/>
              </a:defRPr>
            </a:lvl1pPr>
            <a:lvl2pPr>
              <a:defRPr sz="2400">
                <a:ea typeface="Hiragino Sans"/>
                <a:cs typeface="Hiragino Sans"/>
              </a:defRPr>
            </a:lvl2pPr>
            <a:lvl3pPr>
              <a:defRPr sz="2000">
                <a:ea typeface="Hiragino Sans"/>
                <a:cs typeface="Hiragino Sans"/>
              </a:defRPr>
            </a:lvl3pPr>
            <a:lvl4pPr>
              <a:defRPr sz="1800">
                <a:ea typeface="Hiragino Sans"/>
                <a:cs typeface="Hiragino Sans"/>
              </a:defRPr>
            </a:lvl4pPr>
            <a:lvl5pPr>
              <a:defRPr sz="1800">
                <a:ea typeface="Hiragino Sans"/>
                <a:cs typeface="Hiragino Sans"/>
              </a:defRPr>
            </a:lvl5pPr>
            <a:lvl6pPr>
              <a:defRPr sz="1800">
                <a:ea typeface="Hiragino Sans"/>
                <a:cs typeface="Hiragino Sans"/>
              </a:defRPr>
            </a:lvl6pPr>
            <a:lvl7pPr>
              <a:defRPr sz="1800">
                <a:ea typeface="Hiragino Sans"/>
                <a:cs typeface="Hiragino Sans"/>
              </a:defRPr>
            </a:lvl7pPr>
            <a:lvl8pPr>
              <a:defRPr sz="1800">
                <a:ea typeface="Hiragino Sans"/>
                <a:cs typeface="Hiragino Sans"/>
              </a:defRPr>
            </a:lvl8pPr>
            <a:lvl9pPr>
              <a:defRPr sz="18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ea typeface="Hiragino Sans"/>
                <a:cs typeface="Hiragino Sans"/>
              </a:defRPr>
            </a:lvl1pPr>
            <a:lvl2pPr marL="457200" indent="0">
              <a:buNone/>
              <a:defRPr sz="2000" b="1">
                <a:ea typeface="Hiragino Sans"/>
                <a:cs typeface="Hiragino Sans"/>
              </a:defRPr>
            </a:lvl2pPr>
            <a:lvl3pPr marL="914400" indent="0">
              <a:buNone/>
              <a:defRPr sz="1800" b="1">
                <a:ea typeface="Hiragino Sans"/>
                <a:cs typeface="Hiragino Sans"/>
              </a:defRPr>
            </a:lvl3pPr>
            <a:lvl4pPr marL="1371600" indent="0">
              <a:buNone/>
              <a:defRPr sz="1600" b="1">
                <a:ea typeface="Hiragino Sans"/>
                <a:cs typeface="Hiragino Sans"/>
              </a:defRPr>
            </a:lvl4pPr>
            <a:lvl5pPr marL="1828800" indent="0">
              <a:buNone/>
              <a:defRPr sz="1600" b="1">
                <a:ea typeface="Hiragino Sans"/>
                <a:cs typeface="Hiragino Sans"/>
              </a:defRPr>
            </a:lvl5pPr>
            <a:lvl6pPr marL="2286000" indent="0">
              <a:buNone/>
              <a:defRPr sz="1600" b="1">
                <a:ea typeface="Hiragino Sans"/>
                <a:cs typeface="Hiragino Sans"/>
              </a:defRPr>
            </a:lvl6pPr>
            <a:lvl7pPr marL="2743200" indent="0">
              <a:buNone/>
              <a:defRPr sz="1600" b="1">
                <a:ea typeface="Hiragino Sans"/>
                <a:cs typeface="Hiragino Sans"/>
              </a:defRPr>
            </a:lvl7pPr>
            <a:lvl8pPr marL="3200400" indent="0">
              <a:buNone/>
              <a:defRPr sz="1600" b="1">
                <a:ea typeface="Hiragino Sans"/>
                <a:cs typeface="Hiragino Sans"/>
              </a:defRPr>
            </a:lvl8pPr>
            <a:lvl9pPr marL="3657600" indent="0">
              <a:buNone/>
              <a:defRPr sz="1600" b="1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Hiragino Sans"/>
                <a:cs typeface="Hiragino Sans"/>
              </a:defRPr>
            </a:lvl1pPr>
            <a:lvl2pPr>
              <a:defRPr sz="2000">
                <a:ea typeface="Hiragino Sans"/>
                <a:cs typeface="Hiragino Sans"/>
              </a:defRPr>
            </a:lvl2pPr>
            <a:lvl3pPr>
              <a:defRPr sz="1800">
                <a:ea typeface="Hiragino Sans"/>
                <a:cs typeface="Hiragino Sans"/>
              </a:defRPr>
            </a:lvl3pPr>
            <a:lvl4pPr>
              <a:defRPr sz="1600">
                <a:ea typeface="Hiragino Sans"/>
                <a:cs typeface="Hiragino Sans"/>
              </a:defRPr>
            </a:lvl4pPr>
            <a:lvl5pPr>
              <a:defRPr sz="1600">
                <a:ea typeface="Hiragino Sans"/>
                <a:cs typeface="Hiragino Sans"/>
              </a:defRPr>
            </a:lvl5pPr>
            <a:lvl6pPr>
              <a:defRPr sz="1600">
                <a:ea typeface="Hiragino Sans"/>
                <a:cs typeface="Hiragino Sans"/>
              </a:defRPr>
            </a:lvl6pPr>
            <a:lvl7pPr>
              <a:defRPr sz="1600">
                <a:ea typeface="Hiragino Sans"/>
                <a:cs typeface="Hiragino Sans"/>
              </a:defRPr>
            </a:lvl7pPr>
            <a:lvl8pPr>
              <a:defRPr sz="1600">
                <a:ea typeface="Hiragino Sans"/>
                <a:cs typeface="Hiragino Sans"/>
              </a:defRPr>
            </a:lvl8pPr>
            <a:lvl9pPr>
              <a:defRPr sz="16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Hiragino Sans"/>
                <a:cs typeface="Hiragino Sans"/>
              </a:defRPr>
            </a:lvl1pPr>
            <a:lvl2pPr>
              <a:defRPr sz="2800">
                <a:ea typeface="Hiragino Sans"/>
                <a:cs typeface="Hiragino Sans"/>
              </a:defRPr>
            </a:lvl2pPr>
            <a:lvl3pPr>
              <a:defRPr sz="2400">
                <a:ea typeface="Hiragino Sans"/>
                <a:cs typeface="Hiragino Sans"/>
              </a:defRPr>
            </a:lvl3pPr>
            <a:lvl4pPr>
              <a:defRPr sz="2000">
                <a:ea typeface="Hiragino Sans"/>
                <a:cs typeface="Hiragino Sans"/>
              </a:defRPr>
            </a:lvl4pPr>
            <a:lvl5pPr>
              <a:defRPr sz="2000">
                <a:ea typeface="Hiragino Sans"/>
                <a:cs typeface="Hiragino Sans"/>
              </a:defRPr>
            </a:lvl5pPr>
            <a:lvl6pPr>
              <a:defRPr sz="2000">
                <a:ea typeface="Hiragino Sans"/>
                <a:cs typeface="Hiragino Sans"/>
              </a:defRPr>
            </a:lvl6pPr>
            <a:lvl7pPr>
              <a:defRPr sz="2000">
                <a:ea typeface="Hiragino Sans"/>
                <a:cs typeface="Hiragino Sans"/>
              </a:defRPr>
            </a:lvl7pPr>
            <a:lvl8pPr>
              <a:defRPr sz="2000">
                <a:ea typeface="Hiragino Sans"/>
                <a:cs typeface="Hiragino Sans"/>
              </a:defRPr>
            </a:lvl8pPr>
            <a:lvl9pPr>
              <a:defRPr sz="20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ea typeface="Hiragino Sans"/>
                <a:cs typeface="Hiragino Sans"/>
              </a:defRPr>
            </a:lvl1pPr>
          </a:lstStyle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ea typeface="Hiragino Sans"/>
                <a:cs typeface="Hiragino Sans"/>
              </a:defRPr>
            </a:lvl1pPr>
            <a:lvl2pPr marL="457200" indent="0">
              <a:buNone/>
              <a:defRPr sz="2800">
                <a:ea typeface="Hiragino Sans"/>
                <a:cs typeface="Hiragino Sans"/>
              </a:defRPr>
            </a:lvl2pPr>
            <a:lvl3pPr marL="914400" indent="0">
              <a:buNone/>
              <a:defRPr sz="2400">
                <a:ea typeface="Hiragino Sans"/>
                <a:cs typeface="Hiragino Sans"/>
              </a:defRPr>
            </a:lvl3pPr>
            <a:lvl4pPr marL="1371600" indent="0">
              <a:buNone/>
              <a:defRPr sz="2000">
                <a:ea typeface="Hiragino Sans"/>
                <a:cs typeface="Hiragino Sans"/>
              </a:defRPr>
            </a:lvl4pPr>
            <a:lvl5pPr marL="1828800" indent="0">
              <a:buNone/>
              <a:defRPr sz="2000">
                <a:ea typeface="Hiragino Sans"/>
                <a:cs typeface="Hiragino Sans"/>
              </a:defRPr>
            </a:lvl5pPr>
            <a:lvl6pPr marL="2286000" indent="0">
              <a:buNone/>
              <a:defRPr sz="2000">
                <a:ea typeface="Hiragino Sans"/>
                <a:cs typeface="Hiragino Sans"/>
              </a:defRPr>
            </a:lvl6pPr>
            <a:lvl7pPr marL="2743200" indent="0">
              <a:buNone/>
              <a:defRPr sz="2000">
                <a:ea typeface="Hiragino Sans"/>
                <a:cs typeface="Hiragino Sans"/>
              </a:defRPr>
            </a:lvl7pPr>
            <a:lvl8pPr marL="3200400" indent="0">
              <a:buNone/>
              <a:defRPr sz="2000">
                <a:ea typeface="Hiragino Sans"/>
                <a:cs typeface="Hiragino Sans"/>
              </a:defRPr>
            </a:lvl8pPr>
            <a:lvl9pPr marL="3657600" indent="0">
              <a:buNone/>
              <a:defRPr sz="2000">
                <a:ea typeface="Hiragino Sans"/>
                <a:cs typeface="Hiragino Sans"/>
              </a:defRPr>
            </a:lvl9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ea typeface="Hiragino Sans"/>
                <a:cs typeface="Hiragino Sans"/>
              </a:defRPr>
            </a:lvl1pPr>
            <a:lvl2pPr marL="457200" indent="0">
              <a:buNone/>
              <a:defRPr sz="1200">
                <a:ea typeface="Hiragino Sans"/>
                <a:cs typeface="Hiragino Sans"/>
              </a:defRPr>
            </a:lvl2pPr>
            <a:lvl3pPr marL="914400" indent="0">
              <a:buNone/>
              <a:defRPr sz="1000">
                <a:ea typeface="Hiragino Sans"/>
                <a:cs typeface="Hiragino Sans"/>
              </a:defRPr>
            </a:lvl3pPr>
            <a:lvl4pPr marL="1371600" indent="0">
              <a:buNone/>
              <a:defRPr sz="900">
                <a:ea typeface="Hiragino Sans"/>
                <a:cs typeface="Hiragino Sans"/>
              </a:defRPr>
            </a:lvl4pPr>
            <a:lvl5pPr marL="1828800" indent="0">
              <a:buNone/>
              <a:defRPr sz="900">
                <a:ea typeface="Hiragino Sans"/>
                <a:cs typeface="Hiragino Sans"/>
              </a:defRPr>
            </a:lvl5pPr>
            <a:lvl6pPr marL="2286000" indent="0">
              <a:buNone/>
              <a:defRPr sz="900">
                <a:ea typeface="Hiragino Sans"/>
                <a:cs typeface="Hiragino Sans"/>
              </a:defRPr>
            </a:lvl6pPr>
            <a:lvl7pPr marL="2743200" indent="0">
              <a:buNone/>
              <a:defRPr sz="900">
                <a:ea typeface="Hiragino Sans"/>
                <a:cs typeface="Hiragino Sans"/>
              </a:defRPr>
            </a:lvl7pPr>
            <a:lvl8pPr marL="3200400" indent="0">
              <a:buNone/>
              <a:defRPr sz="900">
                <a:ea typeface="Hiragino Sans"/>
                <a:cs typeface="Hiragino Sans"/>
              </a:defRPr>
            </a:lvl8pPr>
            <a:lvl9pPr marL="3657600" indent="0">
              <a:buNone/>
              <a:defRPr sz="900">
                <a:ea typeface="Hiragino Sans"/>
                <a:cs typeface="Hiragino Sans"/>
              </a:defRPr>
            </a:lvl9pPr>
          </a:lstStyle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ea typeface="Hiragino Sans"/>
                <a:cs typeface="Hiragino Sans"/>
              </a:rPr>
              <a:t>Click to edit Master title style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ea typeface="Hiragino Sans"/>
                <a:cs typeface="Hiragino Sans"/>
              </a:rPr>
              <a:t>Click to edit Master text styles</a:t>
            </a:r>
          </a:p>
          <a:p>
            <a:pPr lvl="1"/>
            <a:r>
              <a:rPr lang="en-US" smtClean="0">
                <a:ea typeface="Hiragino Sans"/>
                <a:cs typeface="Hiragino Sans"/>
              </a:rPr>
              <a:t>Second level</a:t>
            </a:r>
          </a:p>
          <a:p>
            <a:pPr lvl="2"/>
            <a:r>
              <a:rPr lang="en-US" smtClean="0">
                <a:ea typeface="Hiragino Sans"/>
                <a:cs typeface="Hiragino Sans"/>
              </a:rPr>
              <a:t>Third level</a:t>
            </a:r>
          </a:p>
          <a:p>
            <a:pPr lvl="3"/>
            <a:r>
              <a:rPr lang="en-US" smtClean="0">
                <a:ea typeface="Hiragino Sans"/>
                <a:cs typeface="Hiragino Sans"/>
              </a:rPr>
              <a:t>Fourth level</a:t>
            </a:r>
          </a:p>
          <a:p>
            <a:pPr lvl="4"/>
            <a:r>
              <a:rPr lang="en-US" smtClean="0">
                <a:ea typeface="Hiragino Sans"/>
                <a:cs typeface="Hiragino Sans"/>
              </a:rPr>
              <a:t>Fifth level</a:t>
            </a:r>
            <a:endParaRPr lang="en-US">
              <a:ea typeface="Hiragino Sans"/>
              <a:cs typeface="Hiragino San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>
                <a:ea typeface="Hiragino Sans"/>
                <a:cs typeface="Hiragino Sans"/>
              </a:rPr>
              <a:t>1/27/13</a:t>
            </a:fld>
            <a:endParaRPr lang="en-US">
              <a:ea typeface="Hiragino Sans"/>
              <a:cs typeface="Hiragino San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ea typeface="Hiragino Sans"/>
              <a:cs typeface="Hiragino San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ea typeface="Hiragino Sans"/>
                <a:cs typeface="Hiragino Sans"/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>
                <a:ea typeface="Hiragino Sans"/>
                <a:cs typeface="Hiragino Sans"/>
              </a:rPr>
              <a:t>‹#›</a:t>
            </a:fld>
            <a:endParaRPr lang="en-US">
              <a:ea typeface="Hiragino Sans"/>
              <a:cs typeface="Hiragino Sans"/>
            </a:endParaRP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Hiragino Sans"/>
          <a:cs typeface="Hiragino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Hiragino Sans"/>
          <a:cs typeface="Hiragino Sans"/>
        </a:defRPr>
      </a:lvl9pPr>
    </p:bodyStyle>
    <p:otherStyle>
      <a:defPPr>
        <a:defRPr lang="en-US">
          <a:ea typeface="Hiragino Sans"/>
          <a:cs typeface="Hiragino Sans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Hiragino Sans"/>
          <a:cs typeface="Hiragino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7.xml"/><Relationship Id="rId4" Type="http://schemas.openxmlformats.org/officeDocument/2006/relationships/slide" Target="slide10.xml"/><Relationship Id="rId5" Type="http://schemas.openxmlformats.org/officeDocument/2006/relationships/slide" Target="slide14.xml"/><Relationship Id="rId6" Type="http://schemas.openxmlformats.org/officeDocument/2006/relationships/slide" Target="slide2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3172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天気予報を MW に翻訳する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592927" y="2889504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054096"/>
            <a:ext cx="10728655" cy="18173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6000"/>
              </a:lnSpc>
              <a:defRPr sz="54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第10回 気象予測と再エネ出力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00066"/>
            <a:ext cx="9997135" cy="868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重信颯人（福井大学）／ Day 3・コマ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38647" y="2553208"/>
            <a:ext cx="91440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809240"/>
            <a:ext cx="9997135" cy="1330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再エネの出力予測は「気象を予測し、物理式で MW に翻訳する」2 段階。誤差は両方から来て、風力では 3 乗で増える。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一枚で｜問い → 課題 → 道具 → 到達点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729232"/>
            <a:ext cx="11057839" cy="112845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4728" y="1907032"/>
            <a:ext cx="10702239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問い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4728" y="2268728"/>
            <a:ext cx="10702239" cy="4111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明日の太陽光は何 MW 出るのか。</a:t>
            </a:r>
            <a:r>
              <a:rPr sz="15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どれくらい外れる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のか。外れたぶんは誰が埋めるのか。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728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課題</a:t>
            </a:r>
          </a:p>
        </p:txBody>
      </p:sp>
      <p:pic>
        <p:nvPicPr>
          <p:cNvPr id="9" name="Picture 8" descr="ch10_pv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83" y="3561778"/>
            <a:ext cx="2625531" cy="14344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4728" y="5072444"/>
            <a:ext cx="2726842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雲が通ると数分で大きく動く。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3850538" y="4125944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54626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19050">
            <a:solidFill>
              <a:srgbClr val="B85042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2426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964136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道具</a:t>
            </a:r>
          </a:p>
        </p:txBody>
      </p:sp>
      <p:pic>
        <p:nvPicPr>
          <p:cNvPr id="14" name="Picture 13" descr="ch10_sh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183" y="3561778"/>
            <a:ext cx="2511327" cy="9772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32426" y="4615244"/>
            <a:ext cx="2726842" cy="41148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/>
            <a:r>
              <a:rPr sz="125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日射 ▶ 温度補正 ▶ べき法則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2426" y="5072444"/>
            <a:ext cx="2726842" cy="3857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物理式で 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翻訳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 する。</a:t>
            </a:r>
          </a:p>
        </p:txBody>
      </p:sp>
      <p:sp>
        <p:nvSpPr>
          <p:cNvPr id="17" name="Chevron 16"/>
          <p:cNvSpPr/>
          <p:nvPr/>
        </p:nvSpPr>
        <p:spPr>
          <a:xfrm>
            <a:off x="7838236" y="4125944"/>
            <a:ext cx="502920" cy="406400"/>
          </a:xfrm>
          <a:prstGeom prst="chevron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42324" y="3022282"/>
            <a:ext cx="3082442" cy="2613724"/>
          </a:xfrm>
          <a:prstGeom prst="roundRect">
            <a:avLst>
              <a:gd name="adj" fmla="val 3500"/>
            </a:avLst>
          </a:prstGeom>
          <a:solidFill>
            <a:srgbClr val="7C3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0124" y="3200082"/>
            <a:ext cx="2726842" cy="3108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到達点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0124" y="3561778"/>
            <a:ext cx="2726842" cy="8032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5059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2.4 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0124" y="4365052"/>
            <a:ext cx="2726842" cy="10931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EBE0DF"/>
                </a:solidFill>
                <a:latin typeface="Avenir Next"/>
                <a:ea typeface="Hiragino Sans"/>
                <a:cs typeface="Hiragino Sans"/>
              </a:rPr>
              <a:t>ハブ高さ補正を怠ると、風力の出力を 2.4 倍見誤る。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745734"/>
            <a:ext cx="11057839" cy="4264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数値はすべて本資料の Python コード（コード/fig_ch10.py）で計算。地点は那覇（北緯 26.21°）。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現場で起きたこと — 供給側にも「天気」が入った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2578735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2018年10月 九州で日本初の再エネ出力制御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70835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晴天で需要の軽い休日、太陽光の出力が需要に迫り、揚水と連系線を使い切っても </a:t>
            </a:r>
            <a:r>
              <a:rPr sz="1500">
                <a:solidFill>
                  <a:srgbClr val="33221E"/>
                </a:solidFill>
                <a:highlight>
                  <a:srgbClr val="EBCECA"/>
                </a:highlight>
                <a:latin typeface="Avenir Next"/>
                <a:ea typeface="Hiragino Sans"/>
                <a:cs typeface="Hiragino Sans"/>
              </a:rPr>
              <a:t>余った</a:t>
            </a: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。太陽光に一時停止を指示する出力制御が国内で初めて実施された。予測が当たったからこそ、前日に指示が出せた。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895344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台風と雲 — 沖縄の 2 つの急変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87444"/>
            <a:ext cx="10801807" cy="6953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台風では風車がカットアウト風速（約 25 m/s）で一斉に停止し、出力が数分でゼロになる。日射の強い沖縄では雲の通過で太陽光が数分で数割変わる。どちらも「いつ」を当てる予測が要る。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たとえ話 — 天気予報を「通訳」する</a:t>
            </a:r>
          </a:p>
        </p:txBody>
      </p:sp>
      <p:pic>
        <p:nvPicPr>
          <p:cNvPr id="3" name="Picture 2" descr="ch10_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1" y="713232"/>
            <a:ext cx="11617452" cy="5532119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通訳は言葉を 1 対 1 で置き換えるだけだが、風力は 3 乗則で誤差を増幅する。だから風力予測は太陽光より難しい。　出典｜コード/fig_ch10.py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この回の地図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62763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4" name="agenda:item:0"/>
          <p:cNvSpPr txBox="1"/>
          <p:nvPr/>
        </p:nvSpPr>
        <p:spPr>
          <a:xfrm>
            <a:off x="1572768" y="162763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3" action="ppaction://hlinksldjump"/>
              </a:rPr>
              <a:t>数値気象予報（NWP）の枠組みと予測の流れ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66649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67919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7" name="agenda:item:1"/>
          <p:cNvSpPr txBox="1"/>
          <p:nvPr/>
        </p:nvSpPr>
        <p:spPr>
          <a:xfrm>
            <a:off x="1572768" y="267919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4" action="ppaction://hlinksldjump"/>
              </a:rPr>
              <a:t>日射 → 太陽光出力（温度で目減りする）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371805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73075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10" name="agenda:item:2"/>
          <p:cNvSpPr txBox="1"/>
          <p:nvPr/>
        </p:nvSpPr>
        <p:spPr>
          <a:xfrm>
            <a:off x="1572768" y="373075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5" action="ppaction://hlinksldjump"/>
              </a:rPr>
              <a:t>風速 → 風力出力（べき法則とパワーカーブ）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769612"/>
            <a:ext cx="11057839" cy="9525"/>
          </a:xfrm>
          <a:prstGeom prst="rect">
            <a:avLst/>
          </a:prstGeom>
          <a:solidFill>
            <a:srgbClr val="DF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782312"/>
            <a:ext cx="822960" cy="10515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defRPr sz="26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13" name="agenda:item:3"/>
          <p:cNvSpPr txBox="1"/>
          <p:nvPr/>
        </p:nvSpPr>
        <p:spPr>
          <a:xfrm>
            <a:off x="1572768" y="4782312"/>
            <a:ext cx="10051999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defRPr sz="2400">
                <a:solidFill>
                  <a:srgbClr val="33221E"/>
                </a:solidFill>
                <a:latin typeface="Avenir Next"/>
                <a:ea typeface="Hiragino Sans"/>
                <a:cs typeface="Hiragino Sans"/>
              </a:defRPr>
            </a:pPr>
            <a:r>
              <a:rPr u="none">
                <a:ea typeface="Hiragino Sans"/>
                <a:cs typeface="Hiragino Sans"/>
                <a:hlinkClick r:id="rId6" action="ppaction://hlinksldjump"/>
              </a:rPr>
              <a:t>誤差の評価、平滑化効果、アンサンブル、出力制御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Ⅰ. 予測の枠組み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空を予測し、MW に翻訳する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予測は 2 段構え</a:t>
            </a:r>
          </a:p>
        </p:txBody>
      </p:sp>
      <p:pic>
        <p:nvPicPr>
          <p:cNvPr id="3" name="Picture 2" descr="ch10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40921"/>
            <a:ext cx="11734495" cy="4466937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「予報が当たれば予測も当たる」わけではない。空の予測（NWP）に加え、翻訳の式（温度・汚れ・高さ）の誤差も同じくらい効く。　出典｜コード/fig_ch10.py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那覇の晴天日射 — まず「上限」を知る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読み方｜太陽位置から計算した、雲が無いときの日射量</a:t>
            </a:r>
          </a:p>
        </p:txBody>
      </p:sp>
      <p:pic>
        <p:nvPicPr>
          <p:cNvPr id="4" name="Picture 3" descr="ch10_clearsk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674326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674326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出典｜コード/fig_ch10.py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5302" y="2470975"/>
            <a:ext cx="4999465" cy="1968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夏至：最大 1,034 W/m²、日積算 8.6 kWh/m²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秋分：921 W/m²、6.8 kWh/m²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冬至：649 W/m²、4.2 kWh/m²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沖縄は緯度が低く冬でも比較的多い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実際の日射は必ずこの曲線以下になる。予測とはこの曲線に「雲の透過率」を掛けることに他ならない。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Ⅱ. 太陽光の翻訳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日射に比例し、温度で目減りする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太陽光の出力モデル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991868"/>
            <a:ext cx="11057839" cy="10363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Para xmlns:m="http://schemas.openxmlformats.org/officeDocument/2006/math">
                <m:oMathParaPr>
                  <m:jc m:val="center"/>
                </m:oMathParaPr>
                <m:oMath>
                  <m:r>
                    <ns0:rPr xmlns:ns0="http://schemas.openxmlformats.org/wordprocessingml/2006/main">
                      <ns0:sz ns0:val="68"/>
                      <ns0:szCs ns0:val="68"/>
                    </ns0:rPr>
                    <m:t>P</m:t>
                  </m:r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=</m:t>
                  </m:r>
                  <m:sSub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P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rated</m:t>
                      </m:r>
                    </m:sub>
                  </m:sSub>
                  <m:r>
                    <ns0:rPr xmlns:ns0="http://schemas.openxmlformats.org/wordprocessingml/2006/main">
                      <ns0:sz ns0:val="68"/>
                      <ns0:szCs ns0:val="68"/>
                    </ns0:rPr>
                    <m:t> </m:t>
                  </m:r>
                  <m:f>
                    <m:fPr>
                      <m:type m:val="bar"/>
                    </m:fPr>
                    <m:num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G</m:t>
                      </m:r>
                    </m:num>
                    <m:den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1000</m:t>
                      </m:r>
                    </m:den>
                  </m:f>
                  <m:r>
                    <ns0:rPr xmlns:ns0="http://schemas.openxmlformats.org/wordprocessingml/2006/main">
                      <ns0:sz ns0:val="68"/>
                      <ns0:szCs ns0:val="68"/>
                    </ns0:rPr>
                    <m:t> </m:t>
                  </m:r>
                  <m:d>
                    <m:dPr>
                      <m:begChr m:val="["/>
                      <m:sepChr m:val=""/>
                      <m:endChr m:val="]"/>
                      <m:grow/>
                    </m:dPr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1</m:t>
                      </m:r>
                      <m:r>
                        <m:rPr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+</m:t>
                      </m:r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γ</m:t>
                      </m:r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 </m:t>
                      </m:r>
                      <m:r>
                        <m:rPr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(</m:t>
                      </m:r>
                      <m:sSub>
                        <m:e>
                          <m: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T</m:t>
                          </m:r>
                        </m:e>
                        <m:sub>
                          <m:r>
                            <m:rPr>
                              <m:nor/>
                              <m:sty m:val="p"/>
                            </m:rPr>
                            <ns0:rPr xmlns:ns0="http://schemas.openxmlformats.org/wordprocessingml/2006/main">
                              <ns0:sz ns0:val="68"/>
                              <ns0:szCs ns0:val="68"/>
                            </ns0:rPr>
                            <m:t>cell</m:t>
                          </m:r>
                        </m:sub>
                      </m:sSub>
                      <m:r>
                        <m:rPr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−</m:t>
                      </m:r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25</m:t>
                      </m:r>
                      <m:r>
                        <m:rPr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)</m:t>
                      </m:r>
                    </m:e>
                  </m:d>
                  <m:r>
                    <ns0:rPr xmlns:ns0="http://schemas.openxmlformats.org/wordprocessingml/2006/main">
                      <ns0:sz ns0:val="68"/>
                      <ns0:szCs ns0:val="68"/>
                    </ns0:rPr>
                    <m:t> </m:t>
                  </m:r>
                  <m:sSub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η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sys</m:t>
                      </m:r>
                    </m:sub>
                  </m:sSub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,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  </m:t>
                  </m:r>
                  <m:sSub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T</m:t>
                      </m:r>
                    </m:e>
                    <m:sub>
                      <m:r>
                        <m:rPr>
                          <m:nor/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cell</m:t>
                      </m:r>
                    </m:sub>
                  </m:sSub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=</m:t>
                  </m:r>
                  <m:sSub>
                    <m:e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T</m:t>
                      </m:r>
                    </m:e>
                    <m:sub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a</m:t>
                      </m:r>
                    </m:sub>
                  </m:sSub>
                  <m:r>
                    <m:rPr>
                      <m:sty m:val="p"/>
                    </m:rPr>
                    <ns0:rPr xmlns:ns0="http://schemas.openxmlformats.org/wordprocessingml/2006/main">
                      <ns0:sz ns0:val="68"/>
                      <ns0:szCs ns0:val="68"/>
                    </ns0:rPr>
                    <m:t>+</m:t>
                  </m:r>
                  <m:f>
                    <m:fPr>
                      <m:type m:val="bar"/>
                    </m:fPr>
                    <m:num>
                      <m:r>
                        <m:rPr>
                          <m:nor/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NOCT</m:t>
                      </m:r>
                      <m:r>
                        <m:rPr>
                          <m:sty m:val="p"/>
                        </m:rPr>
                        <ns0:rPr xmlns:ns0="http://schemas.openxmlformats.org/wordprocessingml/2006/main">
                          <ns0:sz ns0:val="68"/>
                          <ns0:szCs ns0:val="68"/>
                        </ns0:rPr>
                        <m:t>−</m:t>
                      </m:r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20</m:t>
                      </m:r>
                    </m:num>
                    <m:den>
                      <m:r>
                        <ns0:rPr xmlns:ns0="http://schemas.openxmlformats.org/wordprocessingml/2006/main">
                          <ns0:sz ns0:val="68"/>
                          <ns0:szCs ns0:val="68"/>
                        </ns0:rPr>
                        <m:t>800</m:t>
                      </m:r>
                    </m:den>
                  </m:f>
                  <m:r>
                    <ns0:rPr xmlns:ns0="http://schemas.openxmlformats.org/wordprocessingml/2006/main">
                      <ns0:sz ns0:val="68"/>
                      <ns0:szCs ns0:val="68"/>
                    </ns0:rPr>
                    <m:t> </m:t>
                  </m:r>
                  <m:r>
                    <ns0:rPr xmlns:ns0="http://schemas.openxmlformats.org/wordprocessingml/2006/main">
                      <ns0:sz ns0:val="68"/>
                      <ns0:szCs ns0:val="68"/>
                    </ns0:rPr>
                    <m:t>G</m:t>
                  </m:r>
                </m:oMath>
              </m:oMathPara>
            </a14:m>
          </a:p>
        </p:txBody>
      </p:sp>
      <p:sp>
        <p:nvSpPr>
          <p:cNvPr id="4" name="TextBox 3"/>
          <p:cNvSpPr txBox="1"/>
          <p:nvPr/>
        </p:nvSpPr>
        <p:spPr>
          <a:xfrm>
            <a:off x="2255367" y="3055619"/>
            <a:ext cx="1554480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2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180">
                <a:ea typeface="Hiragino Sans"/>
                <a:cs typeface="Hiragino Sans"/>
              </a:rPr>
              <a:t>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8447" y="3293363"/>
            <a:ext cx="9525" cy="1755648"/>
          </a:xfrm>
          <a:prstGeom prst="rect">
            <a:avLst/>
          </a:prstGeom>
          <a:solidFill>
            <a:srgbClr val="E5D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55367" y="3256787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40"/>
                    <ns0:szCs ns0:val="40"/>
                  </ns0:rPr>
                  <m:t>G</m:t>
                </m:r>
              </m:oMath>
            </a14:m>
          </a:p>
        </p:txBody>
      </p:sp>
      <p:sp>
        <p:nvSpPr>
          <p:cNvPr id="7" name="TextBox 6"/>
          <p:cNvSpPr txBox="1"/>
          <p:nvPr/>
        </p:nvSpPr>
        <p:spPr>
          <a:xfrm>
            <a:off x="4267047" y="3256787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面日射量 [W/m²]。1,000 が標準試験条件（STC）。予報から来る主役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55367" y="3713987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r>
                  <ns0:rPr xmlns:ns0="http://schemas.openxmlformats.org/wordprocessingml/2006/main">
                    <ns0:sz ns0:val="40"/>
                    <ns0:szCs ns0:val="40"/>
                  </ns0:rPr>
                  <m:t>γ</m:t>
                </m:r>
              </m:oMath>
            </a14:m>
          </a:p>
        </p:txBody>
      </p:sp>
      <p:sp>
        <p:nvSpPr>
          <p:cNvPr id="9" name="TextBox 8"/>
          <p:cNvSpPr txBox="1"/>
          <p:nvPr/>
        </p:nvSpPr>
        <p:spPr>
          <a:xfrm>
            <a:off x="4267047" y="3713987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7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温度係数 約 −0.4 %/°C。セルが熱いほど出力が落ちる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55367" y="4171187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T</m:t>
                    </m:r>
                  </m:e>
                  <m:sub>
                    <m:r>
                      <m:rPr>
                        <m:nor/>
                        <m:sty m:val="p"/>
                      </m:rPr>
                      <ns0:rPr xmlns:ns0="http://schemas.openxmlformats.org/wordprocessingml/2006/main">
                        <ns0:sz ns0:val="40"/>
                        <ns0:szCs ns0:val="40"/>
                      </ns0:rPr>
                      <m:t>cell</m:t>
                    </m:r>
                  </m:sub>
                </m:sSub>
              </m:oMath>
            </a14:m>
          </a:p>
        </p:txBody>
      </p:sp>
      <p:sp>
        <p:nvSpPr>
          <p:cNvPr id="11" name="TextBox 10"/>
          <p:cNvSpPr txBox="1"/>
          <p:nvPr/>
        </p:nvSpPr>
        <p:spPr>
          <a:xfrm>
            <a:off x="4267047" y="4171187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セル温度。気温より 20〜30 °C 高い。NOCT は公称動作温度（約 45 °C）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5367" y="4628387"/>
            <a:ext cx="1554480" cy="4572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/>
            <a:r>
              <a:rPr sz="2000">
                <a:solidFill>
                  <a:srgbClr val="A03A2E"/>
                </a:solidFill>
                <a:latin typeface="Avenir Next"/>
                <a:ea typeface="Hiragino Sans"/>
                <a:cs typeface="Hiragino Sans"/>
              </a:rPr>
              <a:t/>
            </a:r>
            <a14:m xmlns:a14="http://schemas.microsoft.com/office/drawing/2010/main" xmlns:mc="http://schemas.openxmlformats.org/markup-compatibility/2006">
              <m:oMath xmlns:m="http://schemas.openxmlformats.org/officeDocument/2006/math">
                <m:sSub>
                  <m:e>
                    <m:r>
                      <ns0:rPr xmlns:ns0="http://schemas.openxmlformats.org/wordprocessingml/2006/main">
                        <ns0:sz ns0:val="40"/>
                        <ns0:szCs ns0:val="40"/>
                      </ns0:rPr>
                      <m:t>η</m:t>
                    </m:r>
                  </m:e>
                  <m:sub>
                    <m:r>
                      <m:rPr>
                        <m:nor/>
                        <m:sty m:val="p"/>
                      </m:rPr>
                      <ns0:rPr xmlns:ns0="http://schemas.openxmlformats.org/wordprocessingml/2006/main">
                        <ns0:sz ns0:val="40"/>
                        <ns0:szCs ns0:val="40"/>
                      </ns0:rPr>
                      <m:t>sys</m:t>
                    </m:r>
                  </m:sub>
                </m:sSub>
              </m:oMath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4267047" y="4628387"/>
            <a:ext cx="56692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7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インバータ・配線・汚れの総合。0.82〜0.92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温度損失 — 暑い日ほど出ない</a:t>
            </a:r>
          </a:p>
        </p:txBody>
      </p:sp>
      <p:pic>
        <p:nvPicPr>
          <p:cNvPr id="3" name="Picture 2" descr="ch10_pv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09572"/>
            <a:ext cx="11734495" cy="452963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出力は日射に比例するが、気温が上がるほど目減りする。沖縄の真夏の快晴でも定格の 6 割程度で、気温 1 °C の予報誤差がそのまま出力 0.4% の誤差になる。　出典｜コード/fig_ch10.py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雲が通ると数分で動く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読み方｜同じ日の快晴（薄い面）と、雲があった場合（太線）</a:t>
            </a:r>
          </a:p>
        </p:txBody>
      </p:sp>
      <p:pic>
        <p:nvPicPr>
          <p:cNvPr id="4" name="Picture 3" descr="ch10_pv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805454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805454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出典｜コード/fig_ch10.py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6430" y="2629725"/>
            <a:ext cx="4868337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快晴 12.1 MWh、雲あり 9.2 MWh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最大変化率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0.09 MW/分</a:t>
            </a: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（定格の 4%/分）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数分スケールの変動は予報では追えない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だから予備力（第8回）が要る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日量は当てられても、分単位の急変は当てられない。予測の役割は「計画」で、急変は「制御」が引き受ける。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Ⅲ. 風力の翻訳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高さを直し、3 乗する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べき法則とパワーカーブ</a:t>
            </a:r>
          </a:p>
        </p:txBody>
      </p:sp>
      <p:pic>
        <p:nvPicPr>
          <p:cNvPr id="3" name="Picture 2" descr="ch10_deriv_shear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10" y="713232"/>
            <a:ext cx="10667474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対数則を実用的に近似したのが べき法則 v(z) = v₁₀ (z/10)^α。α は地表の粗さで決まり、海上 0.10、開けた土地 0.14、市街地 0.30 以上。　出典｜コード/fig_ch10.py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べき法則とパワーカーブ</a:t>
            </a:r>
          </a:p>
        </p:txBody>
      </p:sp>
      <p:pic>
        <p:nvPicPr>
          <p:cNvPr id="3" name="Picture 2" descr="ch10_deriv_shear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56" y="713232"/>
            <a:ext cx="11087983" cy="553212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P = ½ρA v³ C_p。高さ補正で風速が 1.33 倍になれば、出力は 1.33³ = 2.4 倍になる。　出典｜コード/fig_ch10.py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導出 — べき法則とパワーカーブ</a:t>
            </a:r>
          </a:p>
        </p:txBody>
      </p:sp>
      <p:pic>
        <p:nvPicPr>
          <p:cNvPr id="3" name="Picture 2" descr="ch10_deriv_shear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856" y="713232"/>
            <a:ext cx="11087983" cy="5532120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300216"/>
            <a:ext cx="11734495" cy="3108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カットイン 3 m/s まで出ず、定格 12 m/s で頭打ち、カットアウト 25 m/s で停止。3 乗則が効くのは定格まで。　出典｜コード/fig_ch10.py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べき法則 — 高さを直さないと 2.4 倍ずれる</a:t>
            </a:r>
          </a:p>
        </p:txBody>
      </p:sp>
      <p:pic>
        <p:nvPicPr>
          <p:cNvPr id="3" name="Picture 2" descr="ch10_sh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1190"/>
            <a:ext cx="11734495" cy="4566399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予報値は地上 10 m だが、ハブ高さは 80〜120 m。この高さの補正を怠ると、市街地（α = 0.30）では出力を 6.5 倍も見誤る。　出典｜コード/fig_ch10.py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年間の期待出力 — 分布と掛け合わせる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読み方｜パワーカーブに風速の出現確率を掛けて積分する</a:t>
            </a:r>
          </a:p>
        </p:txBody>
      </p:sp>
      <p:pic>
        <p:nvPicPr>
          <p:cNvPr id="4" name="Picture 3" descr="ch10_weib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6233669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6233669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出典｜コード/fig_ch10.py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84645" y="2629725"/>
            <a:ext cx="4440122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風速はワイブル分布で近似（k = 2）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定格 3 MW でも期待値は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0.67 MW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設備利用率 </a:t>
            </a:r>
            <a:r>
              <a:rPr sz="2000" b="1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22%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定格風速に達する時間は意外に短い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「定格 3 MW の風車」は 3 MW を出し続けない。kW（容量）と kWh（電力量）を分けて考える。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:ghost-number"/>
          <p:cNvSpPr txBox="1"/>
          <p:nvPr/>
        </p:nvSpPr>
        <p:spPr>
          <a:xfrm>
            <a:off x="777240" y="777240"/>
            <a:ext cx="4572000" cy="2381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defRPr sz="15000" b="1">
                <a:solidFill>
                  <a:srgbClr val="EFE6E5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defRPr sz="1200" b="1">
                <a:solidFill>
                  <a:srgbClr val="A03A2E"/>
                </a:solidFill>
                <a:latin typeface="Avenir Next"/>
                <a:ea typeface="Hiragino Sans"/>
                <a:cs typeface="Hiragino Sans"/>
              </a:defRPr>
            </a:pPr>
            <a:r>
              <a:rPr spc="200">
                <a:ea typeface="Hiragino Sans"/>
                <a:cs typeface="Hiragino Sans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84448"/>
            <a:ext cx="10362895" cy="57213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  <a:defRPr sz="3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Ⅳ. 誤差と運用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5775807" y="4321175"/>
            <a:ext cx="6400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31487"/>
            <a:ext cx="10362895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どう測り、どう備えるか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評価指標 — MAPE は夜に壊れる</a:t>
            </a:r>
          </a:p>
        </p:txBody>
      </p:sp>
      <p:pic>
        <p:nvPicPr>
          <p:cNvPr id="3" name="Picture 2" descr="ch1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34812"/>
            <a:ext cx="11734495" cy="3079155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この例では RMSE 0.093 MW だが定格で割ると nRMSE 4.6% になる。規模の違う設備を比べるなら nRMSE、運用の痛みを測るなら RMSE が向いている。　出典｜コード/fig_ch10.py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平滑化効果 — 集めると誤差が減る、が下限がある</a:t>
            </a:r>
          </a:p>
        </p:txBody>
      </p:sp>
      <p:pic>
        <p:nvPicPr>
          <p:cNvPr id="3" name="Picture 2" descr="ch10_smoot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1363"/>
            <a:ext cx="11734495" cy="4486054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沖縄本島は面積が小さく地点間の相関が強いため、相関 0.7 の場合は 9 地点を集めても誤差は 12.5% までしか下がらない。　出典｜コード/fig_ch10.py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アンサンブル予報 — 不確実性を数値で持つ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読み方｜初期値を少しずつ変えた 21 通りの予報。広がりが不確実性の大きさ</a:t>
            </a:r>
          </a:p>
        </p:txBody>
      </p:sp>
      <p:pic>
        <p:nvPicPr>
          <p:cNvPr id="4" name="Picture 3" descr="ch10_ensem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554002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554002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出典｜コード/fig_ch10.py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4978" y="2629725"/>
            <a:ext cx="5119789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先になるほどメンバーが広がる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24 時間先で ±0.5 m/s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48 時間先で ±0.9 m/s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広がり（スプレッド）＝予測の自信のなさ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「何 MW」だけでなく「どれくらい自信があるか」を持つ。第12回の予測区間へつながる考え方。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出力制御 — 予測が当たると事前に打てる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88720"/>
            <a:ext cx="110578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16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rPr>
              <a:t>読み方｜休日の軽負荷日。火力の最低出力を引いた残りが太陽光の居場所</a:t>
            </a:r>
          </a:p>
        </p:txBody>
      </p:sp>
      <p:pic>
        <p:nvPicPr>
          <p:cNvPr id="4" name="Picture 3" descr="ch10_cur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83512"/>
            <a:ext cx="5666762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4910201"/>
            <a:ext cx="5666762" cy="37160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出典｜コード/fig_ch10.py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17738" y="2629725"/>
            <a:ext cx="5007029" cy="165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需要が軽く、火力は最低出力で運転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太陽光がその隙間を超えると余る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この日は最大 227 MW を制御</a:t>
            </a:r>
          </a:p>
          <a:p>
            <a:pPr>
              <a:spcBef>
                <a:spcPts val="400"/>
              </a:spcBef>
              <a:buChar char="•"/>
            </a:pPr>
            <a:r>
              <a:rPr sz="20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日量にして 1,191 MWh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482971"/>
            <a:ext cx="11057839" cy="625221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482971"/>
            <a:ext cx="11057839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609971"/>
            <a:ext cx="10600639" cy="37122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出力制御は「予測が外れた結果」ではなく「予測が当たったから前日に指示できた」運用である。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今日の数字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2.4 倍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ハブ高さ補正での出力の違い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4314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4314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914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4.6%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太陽光予測の nRMSE（例）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700" y="2857627"/>
            <a:ext cx="3503066" cy="1746250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21700" y="2857627"/>
            <a:ext cx="3503066" cy="381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0300" y="3124327"/>
            <a:ext cx="3045866" cy="1250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6000" b="1">
                <a:solidFill>
                  <a:srgbClr val="B85042"/>
                </a:solidFill>
                <a:latin typeface="Avenir Next"/>
                <a:ea typeface="Hiragino Sans"/>
                <a:cs typeface="Hiragino Sans"/>
              </a:rPr>
              <a:t>22%</a:t>
            </a:r>
          </a:p>
          <a:p>
            <a:pPr algn="ctr">
              <a:spcBef>
                <a:spcPts val="600"/>
              </a:spcBef>
              <a:defRPr sz="1400" b="1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風力の設備利用率（k=2, c=7）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例題 1 — 沖縄の夏、2 MW の太陽光は何 MW 出るか</a:t>
            </a:r>
          </a:p>
        </p:txBody>
      </p:sp>
      <p:sp>
        <p:nvSpPr>
          <p:cNvPr id="3" name="Oval 2"/>
          <p:cNvSpPr/>
          <p:nvPr/>
        </p:nvSpPr>
        <p:spPr>
          <a:xfrm>
            <a:off x="1597113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条件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G = 800 W/m²、気温 32 °C、NOCT = 45 °C、γ = −0.4 %/°C、η = 0.82</a:t>
            </a:r>
          </a:p>
        </p:txBody>
      </p:sp>
      <p:sp>
        <p:nvSpPr>
          <p:cNvPr id="6" name="Oval 5"/>
          <p:cNvSpPr/>
          <p:nvPr/>
        </p:nvSpPr>
        <p:spPr>
          <a:xfrm>
            <a:off x="4425580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5395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995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セル温度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T_cell = 32 + (45 − 20)/800 × 800 = 57 °C</a:t>
            </a:r>
          </a:p>
        </p:txBody>
      </p:sp>
      <p:sp>
        <p:nvSpPr>
          <p:cNvPr id="9" name="Oval 8"/>
          <p:cNvSpPr/>
          <p:nvPr/>
        </p:nvSpPr>
        <p:spPr>
          <a:xfrm>
            <a:off x="7254047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2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2462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温度補正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1 + (−0.004)(57 − 25) = 0.872（12.8% の目減り）</a:t>
            </a:r>
          </a:p>
        </p:txBody>
      </p:sp>
      <p:sp>
        <p:nvSpPr>
          <p:cNvPr id="12" name="Oval 11"/>
          <p:cNvSpPr/>
          <p:nvPr/>
        </p:nvSpPr>
        <p:spPr>
          <a:xfrm>
            <a:off x="10082514" y="1691640"/>
            <a:ext cx="512064" cy="512064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329" y="2368296"/>
            <a:ext cx="2572435" cy="3401568"/>
          </a:xfrm>
          <a:prstGeom prst="roundRect">
            <a:avLst>
              <a:gd name="adj" fmla="val 3500"/>
            </a:avLst>
          </a:prstGeom>
          <a:solidFill>
            <a:srgbClr val="F3EFE3"/>
          </a:solidFill>
          <a:ln w="9525">
            <a:solidFill>
              <a:srgbClr val="E5DCCE"/>
            </a:solidFill>
          </a:ln>
          <a:effectLst>
            <a:outerShdw blurRad="90000" dist="19050" dir="5400000" rotWithShape="0">
              <a:srgbClr val="141413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0929" y="2596896"/>
            <a:ext cx="2115235" cy="2944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defRPr sz="1800" b="1">
                <a:solidFill>
                  <a:srgbClr val="5C7268"/>
                </a:solidFill>
                <a:latin typeface="Avenir Next"/>
                <a:ea typeface="Hiragino Sans"/>
                <a:cs typeface="Hiragino Sans"/>
              </a:defRPr>
            </a:pPr>
            <a:r>
              <a:rPr spc="40">
                <a:ea typeface="Hiragino Sans"/>
                <a:cs typeface="Hiragino Sans"/>
              </a:rPr>
              <a:t>出力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P = 2 × 0.8 × 0.872 × 0.82 = 1.14 MW（定格の 57%）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動く図で試す — viz/weather.html</a:t>
            </a:r>
          </a:p>
        </p:txBody>
      </p:sp>
      <p:pic>
        <p:nvPicPr>
          <p:cNvPr id="3" name="Picture 2" descr="ch10_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2217" y="1353312"/>
            <a:ext cx="4827260" cy="32423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4732782"/>
            <a:ext cx="11057839" cy="2984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動く図 晴天日射・PV 出力・べき法則・平滑化効果をブラウザ内で実計算する 13 枚のスライド。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214112"/>
            <a:ext cx="11057839" cy="939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気温を 20 → 35 °C に上げ、温度損失で出力が目減りするのを見る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べき指数 α を変え、ハブ高さの風速と出力（3 乗）がどれだけ変わるか見る</a:t>
            </a:r>
          </a:p>
          <a:p>
            <a:pPr>
              <a:spcBef>
                <a:spcPts val="400"/>
              </a:spcBef>
              <a:buChar char="•"/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地点数を増やして、合計出力の誤差が 1/√N より鈍く減るのを見る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なぜそう考えるか — 指標・平滑化・3 乗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2121916"/>
            <a:ext cx="11057839" cy="310896"/>
          </a:xfrm>
          <a:prstGeom prst="rect">
            <a:avLst/>
          </a:prstGeom>
          <a:solidFill>
            <a:srgbClr val="5C7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2191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 MAPE を使わないのか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432812"/>
            <a:ext cx="11057839" cy="712216"/>
          </a:xfrm>
          <a:prstGeom prst="rect">
            <a:avLst/>
          </a:prstGeom>
          <a:solidFill>
            <a:srgbClr val="F3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247853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太陽光は夜間の実績が 0 で、百分率誤差が発散する。定格で割った nRMSE なら常に意味を持ち、規模の違う設備も比較できる。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346196"/>
            <a:ext cx="11057839" cy="310896"/>
          </a:xfrm>
          <a:prstGeom prst="rect">
            <a:avLst/>
          </a:prstGeom>
          <a:solidFill>
            <a:srgbClr val="146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4619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なぜ集めると誤差が減るのか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657092"/>
            <a:ext cx="11057839" cy="712216"/>
          </a:xfrm>
          <a:prstGeom prst="rect">
            <a:avLst/>
          </a:prstGeom>
          <a:solidFill>
            <a:srgbClr val="EE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702812"/>
            <a:ext cx="10655503" cy="639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地点ごとの誤差が独立なら、N 地点の合計の誤差は 1/√N に縮む。実際は雲や前線で誤差が相関するので、σ₁√ρ という下限が残る。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570476"/>
            <a:ext cx="11057839" cy="310896"/>
          </a:xfrm>
          <a:prstGeom prst="rect">
            <a:avLst/>
          </a:prstGeom>
          <a:solidFill>
            <a:srgbClr val="9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570476"/>
            <a:ext cx="10728655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rPr>
              <a:t>風力は v³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881372"/>
            <a:ext cx="11057839" cy="458216"/>
          </a:xfrm>
          <a:prstGeom prst="rect">
            <a:avLst/>
          </a:prstGeom>
          <a:solidFill>
            <a:srgbClr val="F8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927092"/>
            <a:ext cx="10655503" cy="385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風速 10% の誤りが出力 33% の誤りになる。高さ補正と地形補正を省略しない。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ge:title"/>
          <p:cNvSpPr txBox="1"/>
          <p:nvPr/>
        </p:nvSpPr>
        <p:spPr>
          <a:xfrm>
            <a:off x="566928" y="146304"/>
            <a:ext cx="11057839" cy="4572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defRPr sz="24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よくある誤解 — 別のものを同じだと思い込む</a:t>
            </a:r>
          </a:p>
        </p:txBody>
      </p:sp>
      <p:pic>
        <p:nvPicPr>
          <p:cNvPr id="3" name="Picture 2" descr="ch10_my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16" y="713232"/>
            <a:ext cx="11176863" cy="5322316"/>
          </a:xfrm>
          <a:prstGeom prst="rect">
            <a:avLst/>
          </a:prstGeom>
        </p:spPr>
      </p:pic>
      <p:sp>
        <p:nvSpPr>
          <p:cNvPr id="4" name="edge:caption"/>
          <p:cNvSpPr txBox="1"/>
          <p:nvPr/>
        </p:nvSpPr>
        <p:spPr>
          <a:xfrm>
            <a:off x="228600" y="6090412"/>
            <a:ext cx="11734495" cy="520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>
                <a:solidFill>
                  <a:srgbClr val="71635B"/>
                </a:solidFill>
                <a:latin typeface="Avenir Next"/>
                <a:ea typeface="Hiragino Sans"/>
                <a:cs typeface="Hiragino Sans"/>
              </a:rPr>
              <a:t>試験でも実務でも、この 3 つが最も多い。「空の予報」「予測の指標」「定格」は、それぞれ別のものと混同しやすい。　出典｜コード/fig_ch10.py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1057839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106000"/>
              </a:lnSpc>
              <a:defRPr sz="339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持ち帰る 3 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207" y="2394204"/>
            <a:ext cx="1097280" cy="3175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2595372"/>
            <a:ext cx="10143439" cy="965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7C332A"/>
                </a:solidFill>
                <a:latin typeface="Avenir Next"/>
                <a:ea typeface="Hiragino Sans"/>
                <a:cs typeface="Hiragino Sans"/>
              </a:rPr>
              <a:t>再エネ予測は「空の予測 × 翻訳の式」。誤差は両方から来て、風力では 3 乗で増える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47088" y="3926332"/>
            <a:ext cx="8497519" cy="93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太陽光：P ∝ G、温度で −0.4 %/°C。真夏の快晴でも定格の 6 割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風力：べき法則でハブ高さへ、v³ でカーブへ。補正を怠ると 2.4 倍の誤り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33221E"/>
                </a:solidFill>
                <a:latin typeface="Avenir Next"/>
                <a:ea typeface="Hiragino Sans"/>
                <a:cs typeface="Hiragino Sans"/>
              </a:rPr>
              <a:t>•  評価は nRMSE。集約で平滑化するが、相関があると下限が残る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1105783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defRPr sz="1100">
                <a:solidFill>
                  <a:srgbClr val="71635B"/>
                </a:solidFill>
                <a:latin typeface="Avenir Next"/>
                <a:ea typeface="Hiragino Sans"/>
                <a:cs typeface="Hiragino Sans"/>
              </a:defRPr>
            </a:pPr>
            <a:r>
              <a:t>30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3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92927" y="2697480"/>
            <a:ext cx="1005840" cy="20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62895" cy="7462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4520" b="1">
                <a:solidFill>
                  <a:srgbClr val="FFFFF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次回：第11回 電力需要予測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60520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演習 ex/ch10.html で数値を変えて確かめる</a:t>
            </a:r>
          </a:p>
          <a:p>
            <a:pPr algn="ctr">
              <a:spcBef>
                <a:spcPts val="400"/>
              </a:spcBef>
              <a:defRPr sz="1800">
                <a:solidFill>
                  <a:srgbClr val="EBE0DF"/>
                </a:solidFill>
                <a:latin typeface="Avenir Next"/>
                <a:ea typeface="Hiragino Sans"/>
                <a:cs typeface="Hiragino Sans"/>
              </a:defRPr>
            </a:pPr>
            <a:r>
              <a:rPr>
                <a:ea typeface="Hiragino Sans"/>
                <a:cs typeface="Hiragino Sans"/>
              </a:rPr>
              <a:t>需要は体温調節 — 気温・曜日・時刻で 9 割読める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