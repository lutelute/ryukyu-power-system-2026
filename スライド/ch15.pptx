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最終回。14 回分の道具を全部つないで 1 つの数字を出す。答えより「どの制約が効いているか」を言えることが目標。</a:t>
            </a:r>
          </a:p>
          <a:p/>
          <a:p>
            <a:r>
              <a:t>_class: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樽の一番低い板。この比喩を最後まで使う。</a:t>
            </a:r>
          </a:p>
          <a:p/>
          <a:p>
            <a:r>
              <a:t>_class: statement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絶対値ではなく「どこが効いているか」と「対策で律速が移る」ことを持ち帰らせる。</a:t>
            </a:r>
          </a:p>
          <a:p/>
          <a:p>
            <a:r>
              <a:t>_class: graphical-abstract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沖縄は「日本で最も再エネ統合が難しい系統の 1 つ」。だからこそ教材として面白い。</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表の5行は本日の全体を先取りしている。6制約・最小値・律速の移り変わりが、あとで順番に実計算になって出てくる。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agenda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実系統はもっと複雑だが、6 制約の考え方を通すにはこの粒度で十分。　図の要点：系統容量 1,500 MW、負荷 900 MW／基準の最低電圧 0.919 p.u.／最大線路利用率 77%／60 Hz・連系線なし</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数学的には自明だが、実務では「電圧は大丈夫だから入る」と 1 つだけ見て判断する事故が起きる。</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数学的には自明だが、実務では「電圧は大丈夫だから入る」と 1 つだけ見て判断する事故が起きる。</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数学的には自明だが、実務では「電圧は大丈夫だから入る」と 1 つだけ見て判断する事故が起きる。</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電圧と容量は潮流計算（第6回）、周波数は動的シミュレーション（第8回）、安定度は等面積法（第7回）で計算している。　図の要点：電圧：軽負荷・末端連系で 1.05 に到達／線路容量と N-1：逆潮流が増えて利用率が上がる／周波数：H と K が下がり最低点が UFR を割る／安定度：t_cr が保護の 100 ms を切る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 が下がると RoCoF が大きく（第8回）、t_cr が短く（第7回）なる。1 つの原因が 2 つの制約に効く。　図の要点：H：4.50 → 2.50 s（太陽光 400 MW）／K：150 → 100 MW/Hz／蓄電池を入れると両方を補える／周波数と安定度が同時に厳しくなる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第8回の 3 段応答モデルをそのまま使っている。慣性とガバナだけで、LFC が動く前の最低点を見ている。</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この簡略モデルでの値。実際の沖縄はもっと多く導入されているが、それは UFR 整定・予備力・出力制御を組み合わせているため。</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「電圧対策をしても 1 MW も増えない」ことを、この 3 つの数字で示す。</a:t>
            </a:r>
          </a:p>
          <a:p/>
          <a:p>
            <a:r>
              <a:t>_class: kpi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第9回の Volt-Var と合成慣性、第14回の送電線増強が、ここで 1 枚の表に統合される。　図の要点：力率 0.95：電圧だけ／蓄電池（合成慣性）：周波数と安定度／蓄電池（昼充電）：最低出力／送電線増強：線路容量と N-1</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 300 → 430 MW。1 つ対策するごとに次の律速が現れる。これが系統計画の実際の姿。　図の要点：対策なし：90 MW（律速 周波数）／力率 0.95：90 MW のまま（律速でない）／＋蓄電池（周波数）：300 MW（律速 最低出力）／＋昼充電：430 MW（律速 N-1）</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火力を止められないのは、慣性・電圧支持・予備力を担っているから。単なる「メンツ」ではない。</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数秒〜数十秒しか出さないので、蓄電容量（kWh）はごく小さくてよい。用途で設計が変わる好例。　図の要点：K_bat = ΔP / |ΔF|max − K／太陽光 400 MW で K = 100 MW/Hz／ΔF を 1.0 Hz に抑えるには +20 MW/Hz／出力にして 20 MW（容量ではなく出力）</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学生にここで「どの回の道具がどこで使われたか」を言わせると、講義全体が繋がる。</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学生に 2 と 4 を答えさせる。「次に何に投資すべきか」まで言えたら合格。</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blocks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takeaway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solidFill>
                  <a:schemeClr val="tx1">
                    <a:tint val="75000"/>
                  </a:schemeClr>
                </a:solidFill>
              </a:defRPr>
            </a:lvl1pPr>
            <a:lvl2pPr marL="457200" indent="0" algn="ctr">
              <a:buNone/>
              <a:defRPr>
                <a:ea typeface="Hiragino Sans"/>
                <a:cs typeface="Hiragino Sans"/>
                <a:solidFill>
                  <a:schemeClr val="tx1">
                    <a:tint val="75000"/>
                  </a:schemeClr>
                </a:solidFill>
              </a:defRPr>
            </a:lvl2pPr>
            <a:lvl3pPr marL="914400" indent="0" algn="ctr">
              <a:buNone/>
              <a:defRPr>
                <a:ea typeface="Hiragino Sans"/>
                <a:cs typeface="Hiragino Sans"/>
                <a:solidFill>
                  <a:schemeClr val="tx1">
                    <a:tint val="75000"/>
                  </a:schemeClr>
                </a:solidFill>
              </a:defRPr>
            </a:lvl3pPr>
            <a:lvl4pPr marL="1371600" indent="0" algn="ctr">
              <a:buNone/>
              <a:defRPr>
                <a:ea typeface="Hiragino Sans"/>
                <a:cs typeface="Hiragino Sans"/>
                <a:solidFill>
                  <a:schemeClr val="tx1">
                    <a:tint val="75000"/>
                  </a:schemeClr>
                </a:solidFill>
              </a:defRPr>
            </a:lvl4pPr>
            <a:lvl5pPr marL="1828800" indent="0" algn="ctr">
              <a:buNone/>
              <a:defRPr>
                <a:ea typeface="Hiragino Sans"/>
                <a:cs typeface="Hiragino Sans"/>
                <a:solidFill>
                  <a:schemeClr val="tx1">
                    <a:tint val="75000"/>
                  </a:schemeClr>
                </a:solidFill>
              </a:defRPr>
            </a:lvl5pPr>
            <a:lvl6pPr marL="2286000" indent="0" algn="ctr">
              <a:buNone/>
              <a:defRPr>
                <a:ea typeface="Hiragino Sans"/>
                <a:cs typeface="Hiragino Sans"/>
                <a:solidFill>
                  <a:schemeClr val="tx1">
                    <a:tint val="75000"/>
                  </a:schemeClr>
                </a:solidFill>
              </a:defRPr>
            </a:lvl6pPr>
            <a:lvl7pPr marL="2743200" indent="0" algn="ctr">
              <a:buNone/>
              <a:defRPr>
                <a:ea typeface="Hiragino Sans"/>
                <a:cs typeface="Hiragino Sans"/>
                <a:solidFill>
                  <a:schemeClr val="tx1">
                    <a:tint val="75000"/>
                  </a:schemeClr>
                </a:solidFill>
              </a:defRPr>
            </a:lvl7pPr>
            <a:lvl8pPr marL="3200400" indent="0" algn="ctr">
              <a:buNone/>
              <a:defRPr>
                <a:ea typeface="Hiragino Sans"/>
                <a:cs typeface="Hiragino Sans"/>
                <a:solidFill>
                  <a:schemeClr val="tx1">
                    <a:tint val="75000"/>
                  </a:schemeClr>
                </a:solidFill>
              </a:defRPr>
            </a:lvl8pPr>
            <a:lvl9pPr marL="3657600" indent="0" algn="ctr">
              <a:buNone/>
              <a:defRPr>
                <a:ea typeface="Hiragino Sans"/>
                <a:cs typeface="Hiragino Sans"/>
                <a:solidFill>
                  <a:schemeClr val="tx1">
                    <a:tint val="75000"/>
                  </a:schemeClr>
                </a:solidFill>
              </a:defRPr>
            </a:lvl9pPr>
          </a:lstStyle>
          <a:p>
            <a:r>
              <a:rPr lang="en-US" smtClean="0">
                <a:ea typeface="Hiragino Sans"/>
                <a:cs typeface="Hiragino Sans"/>
              </a:rPr>
              <a:t>Click to edit Master subtitle style</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p:txBody>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solidFill>
                  <a:schemeClr val="tx1">
                    <a:tint val="75000"/>
                  </a:schemeClr>
                </a:solidFill>
              </a:defRPr>
            </a:lvl1pPr>
            <a:lvl2pPr marL="457200" indent="0">
              <a:buNone/>
              <a:defRPr sz="1800">
                <a:ea typeface="Hiragino Sans"/>
                <a:cs typeface="Hiragino Sans"/>
                <a:solidFill>
                  <a:schemeClr val="tx1">
                    <a:tint val="75000"/>
                  </a:schemeClr>
                </a:solidFill>
              </a:defRPr>
            </a:lvl2pPr>
            <a:lvl3pPr marL="914400" indent="0">
              <a:buNone/>
              <a:defRPr sz="1600">
                <a:ea typeface="Hiragino Sans"/>
                <a:cs typeface="Hiragino Sans"/>
                <a:solidFill>
                  <a:schemeClr val="tx1">
                    <a:tint val="75000"/>
                  </a:schemeClr>
                </a:solidFill>
              </a:defRPr>
            </a:lvl3pPr>
            <a:lvl4pPr marL="1371600" indent="0">
              <a:buNone/>
              <a:defRPr sz="1400">
                <a:ea typeface="Hiragino Sans"/>
                <a:cs typeface="Hiragino Sans"/>
                <a:solidFill>
                  <a:schemeClr val="tx1">
                    <a:tint val="75000"/>
                  </a:schemeClr>
                </a:solidFill>
              </a:defRPr>
            </a:lvl4pPr>
            <a:lvl5pPr marL="1828800" indent="0">
              <a:buNone/>
              <a:defRPr sz="1400">
                <a:ea typeface="Hiragino Sans"/>
                <a:cs typeface="Hiragino Sans"/>
                <a:solidFill>
                  <a:schemeClr val="tx1">
                    <a:tint val="75000"/>
                  </a:schemeClr>
                </a:solidFill>
              </a:defRPr>
            </a:lvl5pPr>
            <a:lvl6pPr marL="2286000" indent="0">
              <a:buNone/>
              <a:defRPr sz="1400">
                <a:ea typeface="Hiragino Sans"/>
                <a:cs typeface="Hiragino Sans"/>
                <a:solidFill>
                  <a:schemeClr val="tx1">
                    <a:tint val="75000"/>
                  </a:schemeClr>
                </a:solidFill>
              </a:defRPr>
            </a:lvl6pPr>
            <a:lvl7pPr marL="2743200" indent="0">
              <a:buNone/>
              <a:defRPr sz="1400">
                <a:ea typeface="Hiragino Sans"/>
                <a:cs typeface="Hiragino Sans"/>
                <a:solidFill>
                  <a:schemeClr val="tx1">
                    <a:tint val="75000"/>
                  </a:schemeClr>
                </a:solidFill>
              </a:defRPr>
            </a:lvl7pPr>
            <a:lvl8pPr marL="3200400" indent="0">
              <a:buNone/>
              <a:defRPr sz="1400">
                <a:ea typeface="Hiragino Sans"/>
                <a:cs typeface="Hiragino Sans"/>
                <a:solidFill>
                  <a:schemeClr val="tx1">
                    <a:tint val="75000"/>
                  </a:schemeClr>
                </a:solidFill>
              </a:defRPr>
            </a:lvl8pPr>
            <a:lvl9pPr marL="3657600" indent="0">
              <a:buNone/>
              <a:defRPr sz="1400">
                <a:ea typeface="Hiragino Sans"/>
                <a:cs typeface="Hiragino Sans"/>
                <a:solidFill>
                  <a:schemeClr val="tx1">
                    <a:tint val="75000"/>
                  </a:schemeClr>
                </a:solidFill>
              </a:defRPr>
            </a:lvl9pPr>
          </a:lstStyle>
          <a:p>
            <a:pPr lvl="0"/>
            <a:r>
              <a:rPr lang="en-US" smtClean="0">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Date Placeholder 2"/>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4" name="Footer Placeholder 3"/>
          <p:cNvSpPr>
            <a:spLocks noGrp="1"/>
          </p:cNvSpPr>
          <p:nvPr>
            <p:ph type="ftr" sz="quarter" idx="11"/>
          </p:nvPr>
        </p:nvSpPr>
        <p:spPr/>
        <p:txBody>
          <a:bodyPr/>
          <a:lstStyle/>
          <a:p>
            <a:endParaRPr lang="en-US">
              <a:ea typeface="Hiragino Sans"/>
              <a:cs typeface="Hiragino Sans"/>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3" name="Footer Placeholder 2"/>
          <p:cNvSpPr>
            <a:spLocks noGrp="1"/>
          </p:cNvSpPr>
          <p:nvPr>
            <p:ph type="ftr" sz="quarter" idx="11"/>
          </p:nvPr>
        </p:nvSpPr>
        <p:spPr/>
        <p:txBody>
          <a:bodyPr/>
          <a:lstStyle/>
          <a:p>
            <a:endParaRPr lang="en-US">
              <a:ea typeface="Hiragino Sans"/>
              <a:cs typeface="Hiragino Sans"/>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solidFill>
                  <a:schemeClr val="tx1">
                    <a:tint val="75000"/>
                  </a:schemeClr>
                </a:solidFill>
              </a:defRPr>
            </a:lvl1p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solidFill>
                  <a:schemeClr val="tx1">
                    <a:tint val="75000"/>
                  </a:schemeClr>
                </a:solidFill>
              </a:defRPr>
            </a:lvl1pPr>
          </a:lstStyle>
          <a:p>
            <a:endParaRPr lang="en-US">
              <a:ea typeface="Hiragino Sans"/>
              <a:cs typeface="Hiragino San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ea typeface="Hiragino Sans"/>
                <a:cs typeface="Hiragino Sans"/>
                <a:solidFill>
                  <a:schemeClr val="tx1">
                    <a:tint val="75000"/>
                  </a:schemeClr>
                </a:solidFill>
              </a:defRPr>
            </a:lvl1p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7.xml"/><Relationship Id="rId4" Type="http://schemas.openxmlformats.org/officeDocument/2006/relationships/slide" Target="slide12.xml"/><Relationship Id="rId5" Type="http://schemas.openxmlformats.org/officeDocument/2006/relationships/slide" Target="slide18.xml"/><Relationship Id="rId6" Type="http://schemas.openxmlformats.org/officeDocument/2006/relationships/slide" Target="slide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C332A"/>
        </a:solidFill>
        <a:effectLst/>
      </p:bgPr>
    </p:bg>
    <p:spTree>
      <p:nvGrpSpPr>
        <p:cNvPr id="1" name=""/>
        <p:cNvGrpSpPr/>
        <p:nvPr/>
      </p:nvGrpSpPr>
      <p:grpSpPr/>
      <p:sp>
        <p:nvSpPr>
          <p:cNvPr id="2" name="TextBox 1"/>
          <p:cNvSpPr txBox="1"/>
          <p:nvPr/>
        </p:nvSpPr>
        <p:spPr>
          <a:xfrm>
            <a:off x="914400" y="2331720"/>
            <a:ext cx="10362895" cy="237744"/>
          </a:xfrm>
          <a:prstGeom prst="rect">
            <a:avLst/>
          </a:prstGeom>
          <a:noFill/>
        </p:spPr>
        <p:txBody>
          <a:bodyPr wrap="none" lIns="0" rIns="0" tIns="0" bIns="0">
            <a:noAutofit/>
          </a:bodyPr>
          <a:lstStyle/>
          <a:p>
            <a:pPr algn="ctr">
              <a:defRPr sz="1200" b="1">
                <a:solidFill>
                  <a:srgbClr val="FFFFFF"/>
                </a:solidFill>
                <a:latin typeface="Avenir Next"/>
                <a:ea typeface="Hiragino Sans"/>
                <a:cs typeface="Hiragino Sans"/>
              </a:defRPr>
            </a:pPr>
            <a:r>
              <a:rPr spc="40">
                <a:ea typeface="Hiragino Sans"/>
                <a:cs typeface="Hiragino Sans"/>
              </a:rPr>
              <a:t>最も厳しい制約が連系可能量を決める</a:t>
            </a:r>
          </a:p>
        </p:txBody>
      </p:sp>
      <p:sp>
        <p:nvSpPr>
          <p:cNvPr id="3" name="Rectangle 2"/>
          <p:cNvSpPr/>
          <p:nvPr/>
        </p:nvSpPr>
        <p:spPr>
          <a:xfrm>
            <a:off x="5592927" y="2889504"/>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054096"/>
            <a:ext cx="10728655" cy="1817370"/>
          </a:xfrm>
          <a:prstGeom prst="rect">
            <a:avLst/>
          </a:prstGeom>
          <a:noFill/>
        </p:spPr>
        <p:txBody>
          <a:bodyPr wrap="square" lIns="0" rIns="0" tIns="0" bIns="0" anchor="t">
            <a:noAutofit/>
          </a:bodyPr>
          <a:lstStyle/>
          <a:p>
            <a:pPr algn="ctr">
              <a:lnSpc>
                <a:spcPct val="106000"/>
              </a:lnSpc>
              <a:defRPr sz="5400" b="1">
                <a:solidFill>
                  <a:srgbClr val="FFFFFF"/>
                </a:solidFill>
                <a:latin typeface="Avenir Next"/>
                <a:ea typeface="Hiragino Sans"/>
                <a:cs typeface="Hiragino Sans"/>
              </a:defRPr>
            </a:pPr>
            <a:r>
              <a:rPr>
                <a:ea typeface="Hiragino Sans"/>
                <a:cs typeface="Hiragino Sans"/>
              </a:rPr>
              <a:t>第15回 沖縄系統・統合演習</a:t>
            </a:r>
          </a:p>
        </p:txBody>
      </p:sp>
      <p:sp>
        <p:nvSpPr>
          <p:cNvPr id="5" name="TextBox 4"/>
          <p:cNvSpPr txBox="1"/>
          <p:nvPr/>
        </p:nvSpPr>
        <p:spPr>
          <a:xfrm>
            <a:off x="1097280" y="5100066"/>
            <a:ext cx="9997135" cy="868680"/>
          </a:xfrm>
          <a:prstGeom prst="rect">
            <a:avLst/>
          </a:prstGeom>
          <a:noFill/>
        </p:spPr>
        <p:txBody>
          <a:bodyPr wrap="square" lIns="0" rIns="0" tIns="0" bIns="0">
            <a:noAutofit/>
          </a:bodyPr>
          <a:lstStyle/>
          <a:p>
            <a:pPr algn="ctr"/>
            <a:r>
              <a:rPr sz="1800">
                <a:solidFill>
                  <a:srgbClr val="EBE0DF"/>
                </a:solidFill>
                <a:latin typeface="Avenir Next"/>
                <a:ea typeface="Hiragino Sans"/>
                <a:cs typeface="Hiragino Sans"/>
              </a:rPr>
              <a:t>重信颯人（福井大学）／ Day 4・コマ 15 ／ 第16回は最終試験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38647" y="2553208"/>
            <a:ext cx="91440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809240"/>
            <a:ext cx="9997135" cy="1330960"/>
          </a:xfrm>
          <a:prstGeom prst="rect">
            <a:avLst/>
          </a:prstGeom>
          <a:noFill/>
        </p:spPr>
        <p:txBody>
          <a:bodyPr wrap="square" lIns="0" rIns="0" tIns="0" bIns="0">
            <a:noAutofit/>
          </a:bodyPr>
          <a:lstStyle/>
          <a:p>
            <a:pPr algn="ctr">
              <a:lnSpc>
                <a:spcPct val="106000"/>
              </a:lnSpc>
            </a:pPr>
            <a:r>
              <a:rPr sz="2800" b="1">
                <a:solidFill>
                  <a:srgbClr val="7C332A"/>
                </a:solidFill>
                <a:latin typeface="Avenir Next"/>
                <a:ea typeface="Hiragino Sans"/>
                <a:cs typeface="Hiragino Sans"/>
              </a:rPr>
              <a:t>沖縄本島に太陽光を何 MW まで入れられるか。答えは 6 つの上限の最小値で決まり、対策は「今の律速」に打つ。</a:t>
            </a:r>
          </a:p>
        </p:txBody>
      </p:sp>
      <p:sp>
        <p:nvSpPr>
          <p:cNvPr id="4" name="TextBox 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この回の全体像</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一枚で｜問い → 課題 → 道具 → 到達点</a:t>
            </a:r>
          </a:p>
        </p:txBody>
      </p:sp>
      <p:sp>
        <p:nvSpPr>
          <p:cNvPr id="4" name="Rounded Rectangle 3"/>
          <p:cNvSpPr/>
          <p:nvPr/>
        </p:nvSpPr>
        <p:spPr>
          <a:xfrm>
            <a:off x="566928" y="1729232"/>
            <a:ext cx="11057839" cy="1128458"/>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4728" y="1907032"/>
            <a:ext cx="10702239"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問い</a:t>
            </a:r>
          </a:p>
        </p:txBody>
      </p:sp>
      <p:sp>
        <p:nvSpPr>
          <p:cNvPr id="6" name="TextBox 5"/>
          <p:cNvSpPr txBox="1"/>
          <p:nvPr/>
        </p:nvSpPr>
        <p:spPr>
          <a:xfrm>
            <a:off x="744728" y="2268728"/>
            <a:ext cx="10702239" cy="4111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沖縄本島に太陽光は </a:t>
            </a:r>
            <a:r>
              <a:rPr sz="1500" b="1">
                <a:solidFill>
                  <a:srgbClr val="33221E"/>
                </a:solidFill>
                <a:latin typeface="Avenir Next"/>
                <a:ea typeface="Hiragino Sans"/>
                <a:cs typeface="Hiragino Sans"/>
              </a:rPr>
              <a:t>何 MW</a:t>
            </a:r>
            <a:r>
              <a:rPr sz="1500">
                <a:solidFill>
                  <a:srgbClr val="33221E"/>
                </a:solidFill>
                <a:latin typeface="Avenir Next"/>
                <a:ea typeface="Hiragino Sans"/>
                <a:cs typeface="Hiragino Sans"/>
              </a:rPr>
              <a:t> まで入るのか。増やすには何に投資すればよいのか。</a:t>
            </a:r>
          </a:p>
        </p:txBody>
      </p:sp>
      <p:sp>
        <p:nvSpPr>
          <p:cNvPr id="7" name="Rounded Rectangle 6"/>
          <p:cNvSpPr/>
          <p:nvPr/>
        </p:nvSpPr>
        <p:spPr>
          <a:xfrm>
            <a:off x="566928" y="3022282"/>
            <a:ext cx="3082442" cy="2391474"/>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4728" y="3200082"/>
            <a:ext cx="2726842"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課題</a:t>
            </a:r>
          </a:p>
        </p:txBody>
      </p:sp>
      <p:pic>
        <p:nvPicPr>
          <p:cNvPr id="9" name="Picture 8" descr="ch15_limits.png"/>
          <p:cNvPicPr>
            <a:picLocks noChangeAspect="1"/>
          </p:cNvPicPr>
          <p:nvPr/>
        </p:nvPicPr>
        <p:blipFill>
          <a:blip r:embed="rId2"/>
          <a:stretch>
            <a:fillRect/>
          </a:stretch>
        </p:blipFill>
        <p:spPr>
          <a:xfrm>
            <a:off x="1228817" y="3561778"/>
            <a:ext cx="1758664" cy="902653"/>
          </a:xfrm>
          <a:prstGeom prst="rect">
            <a:avLst/>
          </a:prstGeom>
        </p:spPr>
      </p:pic>
      <p:sp>
        <p:nvSpPr>
          <p:cNvPr id="10" name="TextBox 9"/>
          <p:cNvSpPr txBox="1"/>
          <p:nvPr/>
        </p:nvSpPr>
        <p:spPr>
          <a:xfrm>
            <a:off x="744728" y="4540631"/>
            <a:ext cx="2726842"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制約は 6 つ。最も低い板が答えを決める。</a:t>
            </a:r>
          </a:p>
        </p:txBody>
      </p:sp>
      <p:sp>
        <p:nvSpPr>
          <p:cNvPr id="11" name="Chevron 10"/>
          <p:cNvSpPr/>
          <p:nvPr/>
        </p:nvSpPr>
        <p:spPr>
          <a:xfrm>
            <a:off x="3850538" y="4014819"/>
            <a:ext cx="502920" cy="406400"/>
          </a:xfrm>
          <a:prstGeom prst="chevron">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4626" y="3022282"/>
            <a:ext cx="3082442" cy="2391474"/>
          </a:xfrm>
          <a:prstGeom prst="roundRect">
            <a:avLst>
              <a:gd name="adj" fmla="val 3500"/>
            </a:avLst>
          </a:prstGeom>
          <a:solidFill>
            <a:srgbClr val="F3EFE3"/>
          </a:solidFill>
          <a:ln w="19050">
            <a:solidFill>
              <a:srgbClr val="B85042"/>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2426" y="3200082"/>
            <a:ext cx="2726842"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道具</a:t>
            </a:r>
          </a:p>
        </p:txBody>
      </p:sp>
      <p:pic>
        <p:nvPicPr>
          <p:cNvPr id="14" name="Picture 13" descr="ch15_measures.png"/>
          <p:cNvPicPr>
            <a:picLocks noChangeAspect="1"/>
          </p:cNvPicPr>
          <p:nvPr/>
        </p:nvPicPr>
        <p:blipFill>
          <a:blip r:embed="rId3"/>
          <a:stretch>
            <a:fillRect/>
          </a:stretch>
        </p:blipFill>
        <p:spPr>
          <a:xfrm>
            <a:off x="5296699" y="3561778"/>
            <a:ext cx="1598296" cy="755016"/>
          </a:xfrm>
          <a:prstGeom prst="rect">
            <a:avLst/>
          </a:prstGeom>
        </p:spPr>
      </p:pic>
      <p:sp>
        <p:nvSpPr>
          <p:cNvPr id="15" name="TextBox 14"/>
          <p:cNvSpPr txBox="1"/>
          <p:nvPr/>
        </p:nvSpPr>
        <p:spPr>
          <a:xfrm>
            <a:off x="4732426" y="4392994"/>
            <a:ext cx="2726842" cy="411480"/>
          </a:xfrm>
          <a:prstGeom prst="rect">
            <a:avLst/>
          </a:prstGeom>
          <a:noFill/>
        </p:spPr>
        <p:txBody>
          <a:bodyPr wrap="none" lIns="0" rIns="0" tIns="0" bIns="0">
            <a:noAutofit/>
          </a:bodyPr>
          <a:lstStyle/>
          <a:p>
            <a:pPr algn="ctr"/>
            <a:r>
              <a:rPr sz="1250" b="1">
                <a:solidFill>
                  <a:srgbClr val="33221E"/>
                </a:solidFill>
                <a:latin typeface="Avenir Next"/>
                <a:ea typeface="Hiragino Sans"/>
                <a:cs typeface="Hiragino Sans"/>
              </a:rPr>
              <a:t>6 制約 ▶ 最小値 ▶ 律速</a:t>
            </a:r>
          </a:p>
        </p:txBody>
      </p:sp>
      <p:sp>
        <p:nvSpPr>
          <p:cNvPr id="16" name="TextBox 15"/>
          <p:cNvSpPr txBox="1"/>
          <p:nvPr/>
        </p:nvSpPr>
        <p:spPr>
          <a:xfrm>
            <a:off x="4732426" y="4850194"/>
            <a:ext cx="2726842"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対策で律速が </a:t>
            </a:r>
            <a:r>
              <a:rPr sz="1500">
                <a:solidFill>
                  <a:srgbClr val="33221E"/>
                </a:solidFill>
                <a:highlight>
                  <a:srgbClr val="EBCECA"/>
                </a:highlight>
                <a:latin typeface="Avenir Next"/>
                <a:ea typeface="Hiragino Sans"/>
                <a:cs typeface="Hiragino Sans"/>
              </a:rPr>
              <a:t>移る</a:t>
            </a:r>
            <a:r>
              <a:rPr sz="1500">
                <a:solidFill>
                  <a:srgbClr val="33221E"/>
                </a:solidFill>
                <a:latin typeface="Avenir Next"/>
                <a:ea typeface="Hiragino Sans"/>
                <a:cs typeface="Hiragino Sans"/>
              </a:rPr>
              <a:t> 。</a:t>
            </a:r>
          </a:p>
        </p:txBody>
      </p:sp>
      <p:sp>
        <p:nvSpPr>
          <p:cNvPr id="17" name="Chevron 16"/>
          <p:cNvSpPr/>
          <p:nvPr/>
        </p:nvSpPr>
        <p:spPr>
          <a:xfrm>
            <a:off x="7838236" y="4014819"/>
            <a:ext cx="502920" cy="406400"/>
          </a:xfrm>
          <a:prstGeom prst="chevron">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42324" y="3022282"/>
            <a:ext cx="3082442" cy="2391474"/>
          </a:xfrm>
          <a:prstGeom prst="roundRect">
            <a:avLst>
              <a:gd name="adj" fmla="val 3500"/>
            </a:avLst>
          </a:prstGeom>
          <a:solidFill>
            <a:srgbClr val="7C3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20124" y="3200082"/>
            <a:ext cx="2726842" cy="310896"/>
          </a:xfrm>
          <a:prstGeom prst="rect">
            <a:avLst/>
          </a:prstGeom>
          <a:noFill/>
        </p:spPr>
        <p:txBody>
          <a:bodyPr wrap="none" lIns="0" rIns="0" tIns="0" bIns="0">
            <a:noAutofit/>
          </a:bodyPr>
          <a:lstStyle/>
          <a:p>
            <a:pPr algn="l">
              <a:defRPr sz="1200" b="1">
                <a:solidFill>
                  <a:srgbClr val="FFFFFF"/>
                </a:solidFill>
                <a:latin typeface="Avenir Next"/>
                <a:ea typeface="Hiragino Sans"/>
                <a:cs typeface="Hiragino Sans"/>
              </a:defRPr>
            </a:pPr>
            <a:r>
              <a:rPr spc="40">
                <a:ea typeface="Hiragino Sans"/>
                <a:cs typeface="Hiragino Sans"/>
              </a:rPr>
              <a:t>到達点</a:t>
            </a:r>
          </a:p>
        </p:txBody>
      </p:sp>
      <p:sp>
        <p:nvSpPr>
          <p:cNvPr id="20" name="TextBox 19"/>
          <p:cNvSpPr txBox="1"/>
          <p:nvPr/>
        </p:nvSpPr>
        <p:spPr>
          <a:xfrm>
            <a:off x="8720124" y="3561778"/>
            <a:ext cx="2726842" cy="803274"/>
          </a:xfrm>
          <a:prstGeom prst="rect">
            <a:avLst/>
          </a:prstGeom>
          <a:noFill/>
        </p:spPr>
        <p:txBody>
          <a:bodyPr wrap="none" lIns="0" rIns="0" tIns="0" bIns="0">
            <a:noAutofit/>
          </a:bodyPr>
          <a:lstStyle/>
          <a:p>
            <a:pPr algn="ctr">
              <a:defRPr sz="5059" b="1">
                <a:solidFill>
                  <a:srgbClr val="FFFFFF"/>
                </a:solidFill>
                <a:latin typeface="Avenir Next"/>
                <a:ea typeface="Hiragino Sans"/>
                <a:cs typeface="Hiragino Sans"/>
              </a:defRPr>
            </a:pPr>
            <a:r>
              <a:rPr>
                <a:ea typeface="Hiragino Sans"/>
                <a:cs typeface="Hiragino Sans"/>
              </a:rPr>
              <a:t>4.8 倍</a:t>
            </a:r>
          </a:p>
        </p:txBody>
      </p:sp>
      <p:sp>
        <p:nvSpPr>
          <p:cNvPr id="21" name="TextBox 20"/>
          <p:cNvSpPr txBox="1"/>
          <p:nvPr/>
        </p:nvSpPr>
        <p:spPr>
          <a:xfrm>
            <a:off x="8720124" y="4365052"/>
            <a:ext cx="2726842" cy="870904"/>
          </a:xfrm>
          <a:prstGeom prst="rect">
            <a:avLst/>
          </a:prstGeom>
          <a:noFill/>
        </p:spPr>
        <p:txBody>
          <a:bodyPr wrap="square" lIns="0" rIns="0" tIns="0" bIns="0">
            <a:noAutofit/>
          </a:bodyPr>
          <a:lstStyle/>
          <a:p>
            <a:pPr>
              <a:lnSpc>
                <a:spcPct val="130000"/>
              </a:lnSpc>
            </a:pPr>
            <a:r>
              <a:rPr sz="1500">
                <a:solidFill>
                  <a:srgbClr val="EBE0DF"/>
                </a:solidFill>
                <a:latin typeface="Avenir Next"/>
                <a:ea typeface="Hiragino Sans"/>
                <a:cs typeface="Hiragino Sans"/>
              </a:rPr>
              <a:t>律速に順番に手を打つと 90 → 430 MW に伸びる。</a:t>
            </a:r>
          </a:p>
        </p:txBody>
      </p:sp>
      <p:sp>
        <p:nvSpPr>
          <p:cNvPr id="22" name="TextBox 21"/>
          <p:cNvSpPr txBox="1"/>
          <p:nvPr/>
        </p:nvSpPr>
        <p:spPr>
          <a:xfrm>
            <a:off x="566928" y="5523484"/>
            <a:ext cx="11057839" cy="64871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数値はすべて本資料の Python コード（コード/fig_ch15.py）で計算。簡略モデル：1,500 MW・H = 4.5 s・K = 150 MW/Hz・火力の最低出力 320 MW。</a:t>
            </a:r>
          </a:p>
        </p:txBody>
      </p:sp>
      <p:sp>
        <p:nvSpPr>
          <p:cNvPr id="23" name="TextBox 22"/>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現場で起きたこと — 小さく、独立で、大型電源に頼る</a:t>
            </a:r>
          </a:p>
        </p:txBody>
      </p:sp>
      <p:sp>
        <p:nvSpPr>
          <p:cNvPr id="3" name="TextBox 2"/>
          <p:cNvSpPr txBox="1"/>
          <p:nvPr/>
        </p:nvSpPr>
        <p:spPr>
          <a:xfrm>
            <a:off x="566928" y="2578735"/>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2018年 北海道ブラックアウトの教訓</a:t>
            </a:r>
          </a:p>
        </p:txBody>
      </p:sp>
      <p:sp>
        <p:nvSpPr>
          <p:cNvPr id="4" name="TextBox 3"/>
          <p:cNvSpPr txBox="1"/>
          <p:nvPr/>
        </p:nvSpPr>
        <p:spPr>
          <a:xfrm>
            <a:off x="822960" y="2870835"/>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大型電源への依存、系統の小ささ、そして </a:t>
            </a:r>
            <a:r>
              <a:rPr sz="1500">
                <a:solidFill>
                  <a:srgbClr val="33221E"/>
                </a:solidFill>
                <a:highlight>
                  <a:srgbClr val="EBCECA"/>
                </a:highlight>
                <a:latin typeface="Avenir Next"/>
                <a:ea typeface="Hiragino Sans"/>
                <a:cs typeface="Hiragino Sans"/>
              </a:rPr>
              <a:t>応援が来ない</a:t>
            </a:r>
            <a:r>
              <a:rPr sz="1500">
                <a:solidFill>
                  <a:srgbClr val="33221E"/>
                </a:solidFill>
                <a:latin typeface="Avenir Next"/>
                <a:ea typeface="Hiragino Sans"/>
                <a:cs typeface="Hiragino Sans"/>
              </a:rPr>
              <a:t> こと。北海道は本州との直流連系が細く、沖縄は連系そのものが無い。周波数と慣性の議論（第8回）は、沖縄では設計の前提になる。</a:t>
            </a:r>
          </a:p>
        </p:txBody>
      </p:sp>
      <p:sp>
        <p:nvSpPr>
          <p:cNvPr id="5" name="Rectangle 4"/>
          <p:cNvSpPr/>
          <p:nvPr/>
        </p:nvSpPr>
        <p:spPr>
          <a:xfrm>
            <a:off x="566928" y="3718052"/>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895344"/>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離島の実証と、本島の制約</a:t>
            </a:r>
          </a:p>
        </p:txBody>
      </p:sp>
      <p:sp>
        <p:nvSpPr>
          <p:cNvPr id="7" name="TextBox 6"/>
          <p:cNvSpPr txBox="1"/>
          <p:nvPr/>
        </p:nvSpPr>
        <p:spPr>
          <a:xfrm>
            <a:off x="822960" y="4187444"/>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宮古島などの離島では再エネと蓄電池を組み合わせた実証が行われてきた。本島は 60 Hz の独立系統で、太陽光の拡大とともに火力の最低出力と慣性が制約として前に出てきている。今日の 6 制約はこの現実を式にしたもの。</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たとえ話 — 樽の一番低い板</a:t>
            </a:r>
          </a:p>
        </p:txBody>
      </p:sp>
      <p:pic>
        <p:nvPicPr>
          <p:cNvPr id="3" name="Picture 2" descr="ch15_analogy.png"/>
          <p:cNvPicPr>
            <a:picLocks noChangeAspect="1"/>
          </p:cNvPicPr>
          <p:nvPr/>
        </p:nvPicPr>
        <p:blipFill>
          <a:blip r:embed="rId2"/>
          <a:stretch>
            <a:fillRect/>
          </a:stretch>
        </p:blipFill>
        <p:spPr>
          <a:xfrm>
            <a:off x="507416" y="713232"/>
            <a:ext cx="11176863" cy="5322316"/>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たとえ話が崩れる点も押さえておく。板は独立だが制約は連動する。太陽光を増やすと同期機が減り、周波数と安定度の板が同時に下がる。　出典｜コード/fig_ch15.py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この回の地図</a:t>
            </a:r>
          </a:p>
        </p:txBody>
      </p:sp>
      <p:sp>
        <p:nvSpPr>
          <p:cNvPr id="3" name="TextBox 2"/>
          <p:cNvSpPr txBox="1"/>
          <p:nvPr/>
        </p:nvSpPr>
        <p:spPr>
          <a:xfrm>
            <a:off x="566928" y="162763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01</a:t>
            </a:r>
          </a:p>
        </p:txBody>
      </p:sp>
      <p:sp>
        <p:nvSpPr>
          <p:cNvPr id="4" name="agenda:item:0"/>
          <p:cNvSpPr txBox="1"/>
          <p:nvPr/>
        </p:nvSpPr>
        <p:spPr>
          <a:xfrm>
            <a:off x="1572768" y="162763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3" action="ppaction://hlinksldjump"/>
              </a:rPr>
              <a:t>系統モデルと 6 つの制約</a:t>
            </a:r>
          </a:p>
        </p:txBody>
      </p:sp>
      <p:sp>
        <p:nvSpPr>
          <p:cNvPr id="5" name="Rectangle 4"/>
          <p:cNvSpPr/>
          <p:nvPr/>
        </p:nvSpPr>
        <p:spPr>
          <a:xfrm>
            <a:off x="566928" y="266649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7919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02</a:t>
            </a:r>
          </a:p>
        </p:txBody>
      </p:sp>
      <p:sp>
        <p:nvSpPr>
          <p:cNvPr id="7" name="agenda:item:1"/>
          <p:cNvSpPr txBox="1"/>
          <p:nvPr/>
        </p:nvSpPr>
        <p:spPr>
          <a:xfrm>
            <a:off x="1572768" y="267919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4" action="ppaction://hlinksldjump"/>
              </a:rPr>
              <a:t>制約ごとに「どこで破れるか」を実計算する</a:t>
            </a:r>
          </a:p>
        </p:txBody>
      </p:sp>
      <p:sp>
        <p:nvSpPr>
          <p:cNvPr id="8" name="Rectangle 7"/>
          <p:cNvSpPr/>
          <p:nvPr/>
        </p:nvSpPr>
        <p:spPr>
          <a:xfrm>
            <a:off x="566928" y="371805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73075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03</a:t>
            </a:r>
          </a:p>
        </p:txBody>
      </p:sp>
      <p:sp>
        <p:nvSpPr>
          <p:cNvPr id="10" name="agenda:item:2"/>
          <p:cNvSpPr txBox="1"/>
          <p:nvPr/>
        </p:nvSpPr>
        <p:spPr>
          <a:xfrm>
            <a:off x="1572768" y="373075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5" action="ppaction://hlinksldjump"/>
              </a:rPr>
              <a:t>最小値を取り、律速を言う</a:t>
            </a:r>
          </a:p>
        </p:txBody>
      </p:sp>
      <p:sp>
        <p:nvSpPr>
          <p:cNvPr id="11" name="Rectangle 10"/>
          <p:cNvSpPr/>
          <p:nvPr/>
        </p:nvSpPr>
        <p:spPr>
          <a:xfrm>
            <a:off x="566928" y="476961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78231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04</a:t>
            </a:r>
          </a:p>
        </p:txBody>
      </p:sp>
      <p:sp>
        <p:nvSpPr>
          <p:cNvPr id="13" name="agenda:item:3"/>
          <p:cNvSpPr txBox="1"/>
          <p:nvPr/>
        </p:nvSpPr>
        <p:spPr>
          <a:xfrm>
            <a:off x="1572768" y="478231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6" action="ppaction://hlinksldjump"/>
              </a:rPr>
              <a:t>対策を打つと律速が移る — 投資の順番</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01</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01</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Ⅰ. 前提を置く</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沖縄本島の簡略モデル</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系統モデル — 132 kV・5 母線</a:t>
            </a:r>
          </a:p>
        </p:txBody>
      </p:sp>
      <p:pic>
        <p:nvPicPr>
          <p:cNvPr id="3" name="Picture 2" descr="ch15_system.png"/>
          <p:cNvPicPr>
            <a:picLocks noChangeAspect="1"/>
          </p:cNvPicPr>
          <p:nvPr/>
        </p:nvPicPr>
        <p:blipFill>
          <a:blip r:embed="rId2"/>
          <a:stretch>
            <a:fillRect/>
          </a:stretch>
        </p:blipFill>
        <p:spPr>
          <a:xfrm>
            <a:off x="929846" y="713232"/>
            <a:ext cx="10332003" cy="5322316"/>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第6回で潮流を解き、第8回で周波数を追ったのと同じ系統である。線の太さが回線数で、北部へ向かう末端だけが 1 回線。この 1 回線が、あとで律速になる。　出典｜コード/fig_ch15.py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連系可能量の定式化</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制約はすべて満たさなければならない</a:t>
            </a:r>
          </a:p>
        </p:txBody>
      </p:sp>
      <p:sp>
        <p:nvSpPr>
          <p:cNvPr id="4" name="TextBox 3"/>
          <p:cNvSpPr txBox="1"/>
          <p:nvPr/>
        </p:nvSpPr>
        <p:spPr>
          <a:xfrm>
            <a:off x="822960" y="2522093"/>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電圧 ≤ 1.05、線路利用率 ≤ 100%、N-1 でも成立、周波数 ≥ UFR、t_cr ≥ 保護時間、正味需要 ≥ 火力の最低出力。</a:t>
            </a:r>
            <a:r>
              <a:rPr sz="1500" b="1">
                <a:solidFill>
                  <a:srgbClr val="33221E"/>
                </a:solidFill>
                <a:latin typeface="Avenir Next"/>
                <a:ea typeface="Hiragino Sans"/>
                <a:cs typeface="Hiragino Sans"/>
              </a:rPr>
              <a:t>1 つでも破れば運用できない</a:t>
            </a:r>
            <a:r>
              <a:rPr sz="1500">
                <a:solidFill>
                  <a:srgbClr val="33221E"/>
                </a:solidFill>
                <a:latin typeface="Avenir Next"/>
                <a:ea typeface="Hiragino Sans"/>
                <a:cs typeface="Hiragino Sans"/>
              </a:rPr>
              <a:t>。</a:t>
            </a:r>
          </a:p>
        </p:txBody>
      </p:sp>
      <p:sp>
        <p:nvSpPr>
          <p:cNvPr id="5" name="Rectangle 4"/>
          <p:cNvSpPr/>
          <p:nvPr/>
        </p:nvSpPr>
        <p:spPr>
          <a:xfrm>
            <a:off x="566928" y="3369310"/>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ild:ghost"/>
          <p:cNvSpPr txBox="1"/>
          <p:nvPr/>
        </p:nvSpPr>
        <p:spPr>
          <a:xfrm>
            <a:off x="566928" y="3546602"/>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② 各制約が許す最大の太陽光を求める</a:t>
            </a:r>
          </a:p>
        </p:txBody>
      </p:sp>
      <p:sp>
        <p:nvSpPr>
          <p:cNvPr id="7" name="build:ghost"/>
          <p:cNvSpPr txBox="1"/>
          <p:nvPr/>
        </p:nvSpPr>
        <p:spPr>
          <a:xfrm>
            <a:off x="822960" y="3838702"/>
            <a:ext cx="10801807" cy="385762"/>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太陽光の量を 0 から増やしていき、その制約が最初に破れる量を上限とする。制約ごとに違う値が出る。</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連系可能量は最小値</a:t>
            </a:r>
          </a:p>
        </p:txBody>
      </p:sp>
      <p:sp>
        <p:nvSpPr>
          <p:cNvPr id="10" name="build:ghost"/>
          <p:cNvSpPr txBox="1"/>
          <p:nvPr/>
        </p:nvSpPr>
        <p:spPr>
          <a:xfrm>
            <a:off x="822960" y="4845748"/>
            <a:ext cx="10801807" cy="385762"/>
          </a:xfrm>
          <a:prstGeom prst="rect">
            <a:avLst/>
          </a:prstGeom>
          <a:noFill/>
        </p:spPr>
        <p:txBody>
          <a:bodyPr wrap="square" lIns="0" rIns="0" tIns="0" bIns="0">
            <a:noAutofit/>
          </a:bodyPr>
          <a:lstStyle/>
          <a:p>
            <a:pPr>
              <a:lnSpc>
                <a:spcPct val="130000"/>
              </a:lnSpc>
            </a:pPr>
            <a:r>
              <a:rPr sz="1500" b="1">
                <a:solidFill>
                  <a:srgbClr val="C1BCBB"/>
                </a:solidFill>
                <a:latin typeface="Avenir Next"/>
                <a:ea typeface="Hiragino Sans"/>
                <a:cs typeface="Hiragino Sans"/>
              </a:rPr>
              <a:t>P_PV = min(P₁, P₂, …, P₆)</a:t>
            </a:r>
            <a:r>
              <a:rPr sz="1500">
                <a:solidFill>
                  <a:srgbClr val="C1BCBB"/>
                </a:solidFill>
                <a:latin typeface="Avenir Next"/>
                <a:ea typeface="Hiragino Sans"/>
                <a:cs typeface="Hiragino Sans"/>
              </a:rPr>
              <a:t>。この最小値を与える制約が「律速」で、対策はそこにしか効かない。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連系可能量の定式化</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制約はすべて満たさなければならない</a:t>
            </a:r>
          </a:p>
        </p:txBody>
      </p:sp>
      <p:sp>
        <p:nvSpPr>
          <p:cNvPr id="4" name="TextBox 3"/>
          <p:cNvSpPr txBox="1"/>
          <p:nvPr/>
        </p:nvSpPr>
        <p:spPr>
          <a:xfrm>
            <a:off x="822960" y="2522093"/>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電圧 ≤ 1.05、線路利用率 ≤ 100%、N-1 でも成立、周波数 ≥ UFR、t_cr ≥ 保護時間、正味需要 ≥ 火力の最低出力。</a:t>
            </a:r>
            <a:r>
              <a:rPr sz="1500" b="1">
                <a:solidFill>
                  <a:srgbClr val="33221E"/>
                </a:solidFill>
                <a:latin typeface="Avenir Next"/>
                <a:ea typeface="Hiragino Sans"/>
                <a:cs typeface="Hiragino Sans"/>
              </a:rPr>
              <a:t>1 つでも破れば運用できない</a:t>
            </a:r>
            <a:r>
              <a:rPr sz="1500">
                <a:solidFill>
                  <a:srgbClr val="33221E"/>
                </a:solidFill>
                <a:latin typeface="Avenir Next"/>
                <a:ea typeface="Hiragino Sans"/>
                <a:cs typeface="Hiragino Sans"/>
              </a:rPr>
              <a:t>。</a:t>
            </a:r>
          </a:p>
        </p:txBody>
      </p:sp>
      <p:sp>
        <p:nvSpPr>
          <p:cNvPr id="5" name="Rectangle 4"/>
          <p:cNvSpPr/>
          <p:nvPr/>
        </p:nvSpPr>
        <p:spPr>
          <a:xfrm>
            <a:off x="566928" y="3369310"/>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546602"/>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各制約が許す最大の太陽光を求める</a:t>
            </a:r>
          </a:p>
        </p:txBody>
      </p:sp>
      <p:sp>
        <p:nvSpPr>
          <p:cNvPr id="7" name="TextBox 6"/>
          <p:cNvSpPr txBox="1"/>
          <p:nvPr/>
        </p:nvSpPr>
        <p:spPr>
          <a:xfrm>
            <a:off x="822960" y="3838702"/>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太陽光の量を 0 から増やしていき、その制約が最初に破れる量を上限とする。制約ごとに違う値が出る。</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連系可能量は最小値</a:t>
            </a:r>
          </a:p>
        </p:txBody>
      </p:sp>
      <p:sp>
        <p:nvSpPr>
          <p:cNvPr id="10" name="build:ghost"/>
          <p:cNvSpPr txBox="1"/>
          <p:nvPr/>
        </p:nvSpPr>
        <p:spPr>
          <a:xfrm>
            <a:off x="822960" y="4845748"/>
            <a:ext cx="10801807" cy="385762"/>
          </a:xfrm>
          <a:prstGeom prst="rect">
            <a:avLst/>
          </a:prstGeom>
          <a:noFill/>
        </p:spPr>
        <p:txBody>
          <a:bodyPr wrap="square" lIns="0" rIns="0" tIns="0" bIns="0">
            <a:noAutofit/>
          </a:bodyPr>
          <a:lstStyle/>
          <a:p>
            <a:pPr>
              <a:lnSpc>
                <a:spcPct val="130000"/>
              </a:lnSpc>
            </a:pPr>
            <a:r>
              <a:rPr sz="1500" b="1">
                <a:solidFill>
                  <a:srgbClr val="C1BCBB"/>
                </a:solidFill>
                <a:latin typeface="Avenir Next"/>
                <a:ea typeface="Hiragino Sans"/>
                <a:cs typeface="Hiragino Sans"/>
              </a:rPr>
              <a:t>P_PV = min(P₁, P₂, …, P₆)</a:t>
            </a:r>
            <a:r>
              <a:rPr sz="1500">
                <a:solidFill>
                  <a:srgbClr val="C1BCBB"/>
                </a:solidFill>
                <a:latin typeface="Avenir Next"/>
                <a:ea typeface="Hiragino Sans"/>
                <a:cs typeface="Hiragino Sans"/>
              </a:rPr>
              <a:t>。この最小値を与える制約が「律速」で、対策はそこにしか効かない。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連系可能量の定式化</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制約はすべて満たさなければならない</a:t>
            </a:r>
          </a:p>
        </p:txBody>
      </p:sp>
      <p:sp>
        <p:nvSpPr>
          <p:cNvPr id="4" name="TextBox 3"/>
          <p:cNvSpPr txBox="1"/>
          <p:nvPr/>
        </p:nvSpPr>
        <p:spPr>
          <a:xfrm>
            <a:off x="822960" y="2522093"/>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電圧 ≤ 1.05、線路利用率 ≤ 100%、N-1 でも成立、周波数 ≥ UFR、t_cr ≥ 保護時間、正味需要 ≥ 火力の最低出力。</a:t>
            </a:r>
            <a:r>
              <a:rPr sz="1500" b="1">
                <a:solidFill>
                  <a:srgbClr val="33221E"/>
                </a:solidFill>
                <a:latin typeface="Avenir Next"/>
                <a:ea typeface="Hiragino Sans"/>
                <a:cs typeface="Hiragino Sans"/>
              </a:rPr>
              <a:t>1 つでも破れば運用できない</a:t>
            </a:r>
            <a:r>
              <a:rPr sz="1500">
                <a:solidFill>
                  <a:srgbClr val="33221E"/>
                </a:solidFill>
                <a:latin typeface="Avenir Next"/>
                <a:ea typeface="Hiragino Sans"/>
                <a:cs typeface="Hiragino Sans"/>
              </a:rPr>
              <a:t>。</a:t>
            </a:r>
          </a:p>
        </p:txBody>
      </p:sp>
      <p:sp>
        <p:nvSpPr>
          <p:cNvPr id="5" name="Rectangle 4"/>
          <p:cNvSpPr/>
          <p:nvPr/>
        </p:nvSpPr>
        <p:spPr>
          <a:xfrm>
            <a:off x="566928" y="3369310"/>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546602"/>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各制約が許す最大の太陽光を求める</a:t>
            </a:r>
          </a:p>
        </p:txBody>
      </p:sp>
      <p:sp>
        <p:nvSpPr>
          <p:cNvPr id="7" name="TextBox 6"/>
          <p:cNvSpPr txBox="1"/>
          <p:nvPr/>
        </p:nvSpPr>
        <p:spPr>
          <a:xfrm>
            <a:off x="822960" y="3838702"/>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太陽光の量を 0 から増やしていき、その制約が最初に破れる量を上限とする。制約ごとに違う値が出る。</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③ 連系可能量は最小値</a:t>
            </a:r>
          </a:p>
        </p:txBody>
      </p:sp>
      <p:sp>
        <p:nvSpPr>
          <p:cNvPr id="10" name="TextBox 9"/>
          <p:cNvSpPr txBox="1"/>
          <p:nvPr/>
        </p:nvSpPr>
        <p:spPr>
          <a:xfrm>
            <a:off x="822960" y="4845748"/>
            <a:ext cx="10801807" cy="385762"/>
          </a:xfrm>
          <a:prstGeom prst="rect">
            <a:avLst/>
          </a:prstGeom>
          <a:noFill/>
        </p:spPr>
        <p:txBody>
          <a:bodyPr wrap="square" lIns="0" rIns="0" tIns="0" bIns="0">
            <a:noAutofit/>
          </a:bodyPr>
          <a:lstStyle/>
          <a:p>
            <a:pPr>
              <a:lnSpc>
                <a:spcPct val="130000"/>
              </a:lnSpc>
            </a:pPr>
            <a:r>
              <a:rPr sz="1500" b="1">
                <a:solidFill>
                  <a:srgbClr val="33221E"/>
                </a:solidFill>
                <a:latin typeface="Avenir Next"/>
                <a:ea typeface="Hiragino Sans"/>
                <a:cs typeface="Hiragino Sans"/>
              </a:rPr>
              <a:t>P_PV = min(P₁, P₂, …, P₆)</a:t>
            </a:r>
            <a:r>
              <a:rPr sz="1500">
                <a:solidFill>
                  <a:srgbClr val="33221E"/>
                </a:solidFill>
                <a:latin typeface="Avenir Next"/>
                <a:ea typeface="Hiragino Sans"/>
                <a:cs typeface="Hiragino Sans"/>
              </a:rPr>
              <a:t>。この最小値を与える制約が「律速」で、対策はそこにしか効かない。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02</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02</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Ⅱ. 制約を 1 つずつ計算する</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どこで、なぜ破れるか</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4 つの制約の中身</a:t>
            </a:r>
          </a:p>
        </p:txBody>
      </p:sp>
      <p:pic>
        <p:nvPicPr>
          <p:cNvPr id="3" name="Picture 2" descr="ch15_curves.png"/>
          <p:cNvPicPr>
            <a:picLocks noChangeAspect="1"/>
          </p:cNvPicPr>
          <p:nvPr/>
        </p:nvPicPr>
        <p:blipFill>
          <a:blip r:embed="rId2"/>
          <a:stretch>
            <a:fillRect/>
          </a:stretch>
        </p:blipFill>
        <p:spPr>
          <a:xfrm>
            <a:off x="1730695" y="713232"/>
            <a:ext cx="8730305" cy="5322316"/>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同じ「太陽光を増やす」でも、破れ方は制約ごとに違う。電圧は導入量に比例してすぐ上限に当たり、周波数は慣性と K の低下を通じてじわじわ効いてくる。　出典｜コード/fig_ch15.py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太陽光が増えると H と K が下がる</a:t>
            </a:r>
          </a:p>
        </p:txBody>
      </p:sp>
      <p:pic>
        <p:nvPicPr>
          <p:cNvPr id="3" name="Picture 2" descr="ch15_hk.png"/>
          <p:cNvPicPr>
            <a:picLocks noChangeAspect="1"/>
          </p:cNvPicPr>
          <p:nvPr/>
        </p:nvPicPr>
        <p:blipFill>
          <a:blip r:embed="rId2"/>
          <a:stretch>
            <a:fillRect/>
          </a:stretch>
        </p:blipFill>
        <p:spPr>
          <a:xfrm>
            <a:off x="228600" y="1125593"/>
            <a:ext cx="11734495" cy="4497594"/>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太陽光は「発電を増やす」だけでなく「系統の粘りを減らす」。だから量の議論には、必ず慣性の議論がついてくる。　出典｜コード/fig_ch15.py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周波数応答で確かめる</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読み方｜120 MW 脱落時の周波数。太陽光が増えるほど深く落ちる</a:t>
            </a:r>
          </a:p>
        </p:txBody>
      </p:sp>
      <p:pic>
        <p:nvPicPr>
          <p:cNvPr id="4" name="Picture 3" descr="ch15_freq_response.png"/>
          <p:cNvPicPr>
            <a:picLocks noChangeAspect="1"/>
          </p:cNvPicPr>
          <p:nvPr/>
        </p:nvPicPr>
        <p:blipFill>
          <a:blip r:embed="rId2"/>
          <a:stretch>
            <a:fillRect/>
          </a:stretch>
        </p:blipFill>
        <p:spPr>
          <a:xfrm>
            <a:off x="566928" y="1683512"/>
            <a:ext cx="5710152" cy="3171825"/>
          </a:xfrm>
          <a:prstGeom prst="rect">
            <a:avLst/>
          </a:prstGeom>
        </p:spPr>
      </p:pic>
      <p:sp>
        <p:nvSpPr>
          <p:cNvPr id="5" name="TextBox 4"/>
          <p:cNvSpPr txBox="1"/>
          <p:nvPr/>
        </p:nvSpPr>
        <p:spPr>
          <a:xfrm>
            <a:off x="566928" y="4910201"/>
            <a:ext cx="5710152"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出典｜コード/fig_ch15.py</a:t>
            </a:r>
          </a:p>
        </p:txBody>
      </p:sp>
      <p:sp>
        <p:nvSpPr>
          <p:cNvPr id="6" name="TextBox 5"/>
          <p:cNvSpPr txBox="1"/>
          <p:nvPr/>
        </p:nvSpPr>
        <p:spPr>
          <a:xfrm>
            <a:off x="6661128" y="2629725"/>
            <a:ext cx="4963639"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太陽光 0 MW：最低点は UFR の上</a:t>
            </a:r>
          </a:p>
          <a:p>
            <a:pPr>
              <a:spcBef>
                <a:spcPts val="400"/>
              </a:spcBef>
              <a:buChar char="•"/>
            </a:pPr>
            <a:r>
              <a:rPr sz="2000">
                <a:solidFill>
                  <a:srgbClr val="33221E"/>
                </a:solidFill>
                <a:latin typeface="Avenir Next"/>
                <a:ea typeface="Hiragino Sans"/>
                <a:cs typeface="Hiragino Sans"/>
              </a:rPr>
              <a:t>太陽光 300 MW：UFR を割る</a:t>
            </a:r>
          </a:p>
          <a:p>
            <a:pPr>
              <a:spcBef>
                <a:spcPts val="400"/>
              </a:spcBef>
              <a:buChar char="•"/>
            </a:pPr>
            <a:r>
              <a:rPr sz="2000">
                <a:solidFill>
                  <a:srgbClr val="33221E"/>
                </a:solidFill>
                <a:latin typeface="Avenir Next"/>
                <a:ea typeface="Hiragino Sans"/>
                <a:cs typeface="Hiragino Sans"/>
              </a:rPr>
              <a:t>蓄電池を足すと戻る</a:t>
            </a:r>
          </a:p>
          <a:p>
            <a:pPr>
              <a:spcBef>
                <a:spcPts val="400"/>
              </a:spcBef>
              <a:buChar char="•"/>
            </a:pPr>
            <a:r>
              <a:rPr sz="2000">
                <a:solidFill>
                  <a:srgbClr val="33221E"/>
                </a:solidFill>
                <a:latin typeface="Avenir Next"/>
                <a:ea typeface="Hiragino Sans"/>
                <a:cs typeface="Hiragino Sans"/>
              </a:rPr>
              <a:t>落ち方（RoCoF）も速くなる</a:t>
            </a:r>
          </a:p>
        </p:txBody>
      </p:sp>
      <p:sp>
        <p:nvSpPr>
          <p:cNvPr id="7" name="Rounded Rectangle 6"/>
          <p:cNvSpPr/>
          <p:nvPr/>
        </p:nvSpPr>
        <p:spPr>
          <a:xfrm>
            <a:off x="566928" y="5482971"/>
            <a:ext cx="11057839" cy="6252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482971"/>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609971"/>
            <a:ext cx="10600639" cy="371221"/>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周波数制約は「何 MW 入るか」を、動的シミュレーションで確かめて初めて言える。定常計算では足りない。</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6 つを並べて、最小値を取る</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読み方｜赤い棒が最も低い制約＝律速</a:t>
            </a:r>
          </a:p>
        </p:txBody>
      </p:sp>
      <p:pic>
        <p:nvPicPr>
          <p:cNvPr id="4" name="Picture 3" descr="ch15_limits.png"/>
          <p:cNvPicPr>
            <a:picLocks noChangeAspect="1"/>
          </p:cNvPicPr>
          <p:nvPr/>
        </p:nvPicPr>
        <p:blipFill>
          <a:blip r:embed="rId2"/>
          <a:stretch>
            <a:fillRect/>
          </a:stretch>
        </p:blipFill>
        <p:spPr>
          <a:xfrm>
            <a:off x="566928" y="1683512"/>
            <a:ext cx="6179756" cy="3171824"/>
          </a:xfrm>
          <a:prstGeom prst="rect">
            <a:avLst/>
          </a:prstGeom>
        </p:spPr>
      </p:pic>
      <p:sp>
        <p:nvSpPr>
          <p:cNvPr id="5" name="TextBox 4"/>
          <p:cNvSpPr txBox="1"/>
          <p:nvPr/>
        </p:nvSpPr>
        <p:spPr>
          <a:xfrm>
            <a:off x="566928" y="4910200"/>
            <a:ext cx="6179756"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出典｜コード/fig_ch15.py</a:t>
            </a:r>
          </a:p>
        </p:txBody>
      </p:sp>
      <p:sp>
        <p:nvSpPr>
          <p:cNvPr id="6" name="TextBox 5"/>
          <p:cNvSpPr txBox="1"/>
          <p:nvPr/>
        </p:nvSpPr>
        <p:spPr>
          <a:xfrm>
            <a:off x="7130732" y="2470975"/>
            <a:ext cx="4494035" cy="19685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電圧 800、線路容量 600、N-1 430 MW</a:t>
            </a:r>
          </a:p>
          <a:p>
            <a:pPr>
              <a:spcBef>
                <a:spcPts val="400"/>
              </a:spcBef>
              <a:buChar char="•"/>
            </a:pPr>
            <a:r>
              <a:rPr sz="2000">
                <a:solidFill>
                  <a:srgbClr val="33221E"/>
                </a:solidFill>
                <a:latin typeface="Avenir Next"/>
                <a:ea typeface="Hiragino Sans"/>
                <a:cs typeface="Hiragino Sans"/>
              </a:rPr>
              <a:t>周波数 </a:t>
            </a:r>
            <a:r>
              <a:rPr sz="2000" b="1">
                <a:solidFill>
                  <a:srgbClr val="33221E"/>
                </a:solidFill>
                <a:latin typeface="Avenir Next"/>
                <a:ea typeface="Hiragino Sans"/>
                <a:cs typeface="Hiragino Sans"/>
              </a:rPr>
              <a:t>90 MW</a:t>
            </a:r>
            <a:r>
              <a:rPr sz="2000">
                <a:solidFill>
                  <a:srgbClr val="33221E"/>
                </a:solidFill>
                <a:latin typeface="Avenir Next"/>
                <a:ea typeface="Hiragino Sans"/>
                <a:cs typeface="Hiragino Sans"/>
              </a:rPr>
              <a:t>（律速）</a:t>
            </a:r>
          </a:p>
          <a:p>
            <a:pPr>
              <a:spcBef>
                <a:spcPts val="400"/>
              </a:spcBef>
              <a:buChar char="•"/>
            </a:pPr>
            <a:r>
              <a:rPr sz="2000">
                <a:solidFill>
                  <a:srgbClr val="33221E"/>
                </a:solidFill>
                <a:latin typeface="Avenir Next"/>
                <a:ea typeface="Hiragino Sans"/>
                <a:cs typeface="Hiragino Sans"/>
              </a:rPr>
              <a:t>安定度 800、最低出力 300 MW</a:t>
            </a:r>
          </a:p>
          <a:p>
            <a:pPr>
              <a:spcBef>
                <a:spcPts val="400"/>
              </a:spcBef>
              <a:buChar char="•"/>
            </a:pPr>
            <a:r>
              <a:rPr sz="2000">
                <a:solidFill>
                  <a:srgbClr val="33221E"/>
                </a:solidFill>
                <a:latin typeface="Avenir Next"/>
                <a:ea typeface="Hiragino Sans"/>
                <a:cs typeface="Hiragino Sans"/>
              </a:rPr>
              <a:t>連系可能量は </a:t>
            </a:r>
            <a:r>
              <a:rPr sz="2000" b="1">
                <a:solidFill>
                  <a:srgbClr val="33221E"/>
                </a:solidFill>
                <a:latin typeface="Avenir Next"/>
                <a:ea typeface="Hiragino Sans"/>
                <a:cs typeface="Hiragino Sans"/>
              </a:rPr>
              <a:t>90 MW</a:t>
            </a:r>
          </a:p>
        </p:txBody>
      </p:sp>
      <p:sp>
        <p:nvSpPr>
          <p:cNvPr id="7" name="Rounded Rectangle 6"/>
          <p:cNvSpPr/>
          <p:nvPr/>
        </p:nvSpPr>
        <p:spPr>
          <a:xfrm>
            <a:off x="566928" y="5482971"/>
            <a:ext cx="11057839" cy="6252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482971"/>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609971"/>
            <a:ext cx="10600639" cy="371221"/>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電圧には 800 MW 分の余裕があるのに、答えは 90 MW。1 つの制約だけを見て「まだ入る」と判断してはいけない。</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律速は周波数</a:t>
            </a:r>
          </a:p>
        </p:txBody>
      </p:sp>
      <p:sp>
        <p:nvSpPr>
          <p:cNvPr id="3" name="Rounded Rectangle 2"/>
          <p:cNvSpPr/>
          <p:nvPr/>
        </p:nvSpPr>
        <p:spPr>
          <a:xfrm>
            <a:off x="566928"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90</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連系可能量 [MW]</a:t>
            </a:r>
          </a:p>
        </p:txBody>
      </p:sp>
      <p:sp>
        <p:nvSpPr>
          <p:cNvPr id="6" name="Rounded Rectangle 5"/>
          <p:cNvSpPr/>
          <p:nvPr/>
        </p:nvSpPr>
        <p:spPr>
          <a:xfrm>
            <a:off x="4344314"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44314"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914"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800</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電圧が許す上限 [MW]</a:t>
            </a:r>
          </a:p>
        </p:txBody>
      </p:sp>
      <p:sp>
        <p:nvSpPr>
          <p:cNvPr id="9" name="Rounded Rectangle 8"/>
          <p:cNvSpPr/>
          <p:nvPr/>
        </p:nvSpPr>
        <p:spPr>
          <a:xfrm>
            <a:off x="8121700"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1700"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0300"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周波数</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律速している制約</a:t>
            </a:r>
          </a:p>
        </p:txBody>
      </p:sp>
      <p:sp>
        <p:nvSpPr>
          <p:cNvPr id="12" name="TextBox 11"/>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03</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03</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Ⅲ. 対策を打つ</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律速から順に、1 枚ずつ</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どの対策がどの制約に効くか</a:t>
            </a:r>
          </a:p>
        </p:txBody>
      </p:sp>
      <p:pic>
        <p:nvPicPr>
          <p:cNvPr id="3" name="Picture 2" descr="ch15_measure_map.png"/>
          <p:cNvPicPr>
            <a:picLocks noChangeAspect="1"/>
          </p:cNvPicPr>
          <p:nvPr/>
        </p:nvPicPr>
        <p:blipFill>
          <a:blip r:embed="rId2"/>
          <a:stretch>
            <a:fillRect/>
          </a:stretch>
        </p:blipFill>
        <p:spPr>
          <a:xfrm>
            <a:off x="228600" y="728863"/>
            <a:ext cx="11734495" cy="5500858"/>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対策と制約の対応を先に描き、そのうえで「今の律速に効くもの」だけを選ぶ。それが投資の順番である。　出典｜コード/fig_ch15.py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対策を打つと律速が移る</a:t>
            </a:r>
          </a:p>
        </p:txBody>
      </p:sp>
      <p:pic>
        <p:nvPicPr>
          <p:cNvPr id="3" name="Picture 2" descr="ch15_measures.png"/>
          <p:cNvPicPr>
            <a:picLocks noChangeAspect="1"/>
          </p:cNvPicPr>
          <p:nvPr/>
        </p:nvPicPr>
        <p:blipFill>
          <a:blip r:embed="rId2"/>
          <a:stretch>
            <a:fillRect/>
          </a:stretch>
        </p:blipFill>
        <p:spPr>
          <a:xfrm>
            <a:off x="240365" y="713232"/>
            <a:ext cx="11710964" cy="5532120"/>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力率対策は電圧の板を伸ばすが、答えは 1 MW も変わらない。律速に打って初めて連系可能量が増える。　出典｜コード/fig_ch15.py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火力の最低出力 — もう 1 つの壁</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読み方｜正味需要（需要 − 太陽光）が最低出力を割ると太陽光を絞る</a:t>
            </a:r>
          </a:p>
        </p:txBody>
      </p:sp>
      <p:pic>
        <p:nvPicPr>
          <p:cNvPr id="4" name="Picture 3" descr="ch15_duck.png"/>
          <p:cNvPicPr>
            <a:picLocks noChangeAspect="1"/>
          </p:cNvPicPr>
          <p:nvPr/>
        </p:nvPicPr>
        <p:blipFill>
          <a:blip r:embed="rId2"/>
          <a:stretch>
            <a:fillRect/>
          </a:stretch>
        </p:blipFill>
        <p:spPr>
          <a:xfrm>
            <a:off x="566928" y="1683512"/>
            <a:ext cx="5770899" cy="3171825"/>
          </a:xfrm>
          <a:prstGeom prst="rect">
            <a:avLst/>
          </a:prstGeom>
        </p:spPr>
      </p:pic>
      <p:sp>
        <p:nvSpPr>
          <p:cNvPr id="5" name="TextBox 4"/>
          <p:cNvSpPr txBox="1"/>
          <p:nvPr/>
        </p:nvSpPr>
        <p:spPr>
          <a:xfrm>
            <a:off x="566928" y="4910201"/>
            <a:ext cx="5770899"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出典｜コード/fig_ch15.py</a:t>
            </a:r>
          </a:p>
        </p:txBody>
      </p:sp>
      <p:sp>
        <p:nvSpPr>
          <p:cNvPr id="6" name="TextBox 5"/>
          <p:cNvSpPr txBox="1"/>
          <p:nvPr/>
        </p:nvSpPr>
        <p:spPr>
          <a:xfrm>
            <a:off x="6721875" y="2312225"/>
            <a:ext cx="4902892" cy="2286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休日の最小需要は 520 MW</a:t>
            </a:r>
          </a:p>
          <a:p>
            <a:pPr>
              <a:spcBef>
                <a:spcPts val="400"/>
              </a:spcBef>
              <a:buChar char="•"/>
            </a:pPr>
            <a:r>
              <a:rPr sz="2000">
                <a:solidFill>
                  <a:srgbClr val="33221E"/>
                </a:solidFill>
                <a:latin typeface="Avenir Next"/>
                <a:ea typeface="Hiragino Sans"/>
                <a:cs typeface="Hiragino Sans"/>
              </a:rPr>
              <a:t>火力の最低出力 320 MW は止められない</a:t>
            </a:r>
          </a:p>
          <a:p>
            <a:pPr>
              <a:spcBef>
                <a:spcPts val="400"/>
              </a:spcBef>
              <a:buChar char="•"/>
            </a:pPr>
            <a:r>
              <a:rPr sz="2000">
                <a:solidFill>
                  <a:srgbClr val="33221E"/>
                </a:solidFill>
                <a:latin typeface="Avenir Next"/>
                <a:ea typeface="Hiragino Sans"/>
                <a:cs typeface="Hiragino Sans"/>
              </a:rPr>
              <a:t>太陽光 600 MW では正味需要が 6 MW に</a:t>
            </a:r>
          </a:p>
          <a:p>
            <a:pPr>
              <a:spcBef>
                <a:spcPts val="400"/>
              </a:spcBef>
              <a:buChar char="•"/>
            </a:pPr>
            <a:r>
              <a:rPr sz="2000">
                <a:solidFill>
                  <a:srgbClr val="33221E"/>
                </a:solidFill>
                <a:latin typeface="Avenir Next"/>
                <a:ea typeface="Hiragino Sans"/>
                <a:cs typeface="Hiragino Sans"/>
              </a:rPr>
              <a:t>昼に蓄電池を充電すれば需要を持ち上げられる</a:t>
            </a:r>
          </a:p>
        </p:txBody>
      </p:sp>
      <p:sp>
        <p:nvSpPr>
          <p:cNvPr id="7" name="Rounded Rectangle 6"/>
          <p:cNvSpPr/>
          <p:nvPr/>
        </p:nvSpPr>
        <p:spPr>
          <a:xfrm>
            <a:off x="566928" y="5482971"/>
            <a:ext cx="11057839" cy="6252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482971"/>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609971"/>
            <a:ext cx="10600639" cy="371221"/>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「太陽光を増やせば火力を止められる」は、最低出力と慣性の分だけ成り立たない。第10回の出力制御の正体。</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蓄電池は何 MW 要るか</a:t>
            </a:r>
          </a:p>
        </p:txBody>
      </p:sp>
      <p:pic>
        <p:nvPicPr>
          <p:cNvPr id="3" name="Picture 2" descr="ch15_battery.png"/>
          <p:cNvPicPr>
            <a:picLocks noChangeAspect="1"/>
          </p:cNvPicPr>
          <p:nvPr/>
        </p:nvPicPr>
        <p:blipFill>
          <a:blip r:embed="rId2"/>
          <a:stretch>
            <a:fillRect/>
          </a:stretch>
        </p:blipFill>
        <p:spPr>
          <a:xfrm>
            <a:off x="228600" y="1237152"/>
            <a:ext cx="11734495" cy="4484280"/>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周波数対策の蓄電池は「大容量」ではなく「高速・高出力」が要る。kWh ではなく kW で設計する。　出典｜コード/fig_ch15.py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04</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04</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Ⅳ. 15 回のまとめ</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道具と制約の対応</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この講義の全体像</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読み方｜上が 4 日間の内容、下が今日の 6 制約。矢印が対応</a:t>
            </a:r>
          </a:p>
        </p:txBody>
      </p:sp>
      <p:pic>
        <p:nvPicPr>
          <p:cNvPr id="4" name="Picture 3" descr="ch15_map.png"/>
          <p:cNvPicPr>
            <a:picLocks noChangeAspect="1"/>
          </p:cNvPicPr>
          <p:nvPr/>
        </p:nvPicPr>
        <p:blipFill>
          <a:blip r:embed="rId2"/>
          <a:stretch>
            <a:fillRect/>
          </a:stretch>
        </p:blipFill>
        <p:spPr>
          <a:xfrm>
            <a:off x="566928" y="1683512"/>
            <a:ext cx="6170444" cy="3171825"/>
          </a:xfrm>
          <a:prstGeom prst="rect">
            <a:avLst/>
          </a:prstGeom>
        </p:spPr>
      </p:pic>
      <p:sp>
        <p:nvSpPr>
          <p:cNvPr id="5" name="TextBox 4"/>
          <p:cNvSpPr txBox="1"/>
          <p:nvPr/>
        </p:nvSpPr>
        <p:spPr>
          <a:xfrm>
            <a:off x="566928" y="4910201"/>
            <a:ext cx="6170444"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出典｜コード/fig_ch15.py</a:t>
            </a:r>
          </a:p>
        </p:txBody>
      </p:sp>
      <p:sp>
        <p:nvSpPr>
          <p:cNvPr id="6" name="TextBox 5"/>
          <p:cNvSpPr txBox="1"/>
          <p:nvPr/>
        </p:nvSpPr>
        <p:spPr>
          <a:xfrm>
            <a:off x="7121420" y="2153475"/>
            <a:ext cx="4503347" cy="26035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Day 1・2 の物理が電圧・容量・周波数を計算する</a:t>
            </a:r>
          </a:p>
          <a:p>
            <a:pPr>
              <a:spcBef>
                <a:spcPts val="400"/>
              </a:spcBef>
              <a:buChar char="•"/>
            </a:pPr>
            <a:r>
              <a:rPr sz="2000">
                <a:solidFill>
                  <a:srgbClr val="33221E"/>
                </a:solidFill>
                <a:latin typeface="Avenir Next"/>
                <a:ea typeface="Hiragino Sans"/>
                <a:cs typeface="Hiragino Sans"/>
              </a:rPr>
              <a:t>Day 3 の予測が「いつ厳しいか」を教える</a:t>
            </a:r>
          </a:p>
          <a:p>
            <a:pPr>
              <a:spcBef>
                <a:spcPts val="400"/>
              </a:spcBef>
              <a:buChar char="•"/>
            </a:pPr>
            <a:r>
              <a:rPr sz="2000">
                <a:solidFill>
                  <a:srgbClr val="33221E"/>
                </a:solidFill>
                <a:latin typeface="Avenir Next"/>
                <a:ea typeface="Hiragino Sans"/>
                <a:cs typeface="Hiragino Sans"/>
              </a:rPr>
              <a:t>Day 4 の最適化が「どう配分するか」を決める</a:t>
            </a:r>
          </a:p>
          <a:p>
            <a:pPr>
              <a:spcBef>
                <a:spcPts val="400"/>
              </a:spcBef>
              <a:buChar char="•"/>
            </a:pPr>
            <a:r>
              <a:rPr sz="2000">
                <a:solidFill>
                  <a:srgbClr val="33221E"/>
                </a:solidFill>
                <a:latin typeface="Avenir Next"/>
                <a:ea typeface="Hiragino Sans"/>
                <a:cs typeface="Hiragino Sans"/>
              </a:rPr>
              <a:t>6 制約はそれらの総合問題</a:t>
            </a:r>
          </a:p>
        </p:txBody>
      </p:sp>
      <p:sp>
        <p:nvSpPr>
          <p:cNvPr id="7" name="Rounded Rectangle 6"/>
          <p:cNvSpPr/>
          <p:nvPr/>
        </p:nvSpPr>
        <p:spPr>
          <a:xfrm>
            <a:off x="566928" y="5482971"/>
            <a:ext cx="11057839" cy="6252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482971"/>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609971"/>
            <a:ext cx="10600639" cy="371221"/>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今日の 1 つの数字を出すために、14 回分の道具がすべて要る。これが系統工学の姿である。</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例題 1 — 6 制約から連系可能量を出す</a:t>
            </a:r>
          </a:p>
        </p:txBody>
      </p:sp>
      <p:sp>
        <p:nvSpPr>
          <p:cNvPr id="3" name="Oval 2"/>
          <p:cNvSpPr/>
          <p:nvPr/>
        </p:nvSpPr>
        <p:spPr>
          <a:xfrm>
            <a:off x="1597113"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各制約の上限</a:t>
            </a:r>
          </a:p>
          <a:p>
            <a:pPr>
              <a:spcBef>
                <a:spcPts val="600"/>
              </a:spcBef>
            </a:pPr>
            <a:r>
              <a:rPr sz="1500">
                <a:solidFill>
                  <a:srgbClr val="33221E"/>
                </a:solidFill>
                <a:latin typeface="Avenir Next"/>
                <a:ea typeface="Hiragino Sans"/>
                <a:cs typeface="Hiragino Sans"/>
              </a:rPr>
              <a:t>電圧 800、容量 600、N-1 430、周波数 90、安定度 800、最低出力 300 MW</a:t>
            </a:r>
          </a:p>
        </p:txBody>
      </p:sp>
      <p:sp>
        <p:nvSpPr>
          <p:cNvPr id="6" name="Oval 5"/>
          <p:cNvSpPr/>
          <p:nvPr/>
        </p:nvSpPr>
        <p:spPr>
          <a:xfrm>
            <a:off x="4425580"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最小値</a:t>
            </a:r>
          </a:p>
          <a:p>
            <a:pPr>
              <a:spcBef>
                <a:spcPts val="600"/>
              </a:spcBef>
            </a:pPr>
            <a:r>
              <a:rPr sz="1500">
                <a:solidFill>
                  <a:srgbClr val="33221E"/>
                </a:solidFill>
                <a:latin typeface="Avenir Next"/>
                <a:ea typeface="Hiragino Sans"/>
                <a:cs typeface="Hiragino Sans"/>
              </a:rPr>
              <a:t>min = 90 MW。律速は周波数</a:t>
            </a:r>
          </a:p>
        </p:txBody>
      </p:sp>
      <p:sp>
        <p:nvSpPr>
          <p:cNvPr id="9" name="Oval 8"/>
          <p:cNvSpPr/>
          <p:nvPr/>
        </p:nvSpPr>
        <p:spPr>
          <a:xfrm>
            <a:off x="7254047"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対策を選ぶ</a:t>
            </a:r>
          </a:p>
          <a:p>
            <a:pPr>
              <a:spcBef>
                <a:spcPts val="600"/>
              </a:spcBef>
            </a:pPr>
            <a:r>
              <a:rPr sz="1500">
                <a:solidFill>
                  <a:srgbClr val="33221E"/>
                </a:solidFill>
                <a:latin typeface="Avenir Next"/>
                <a:ea typeface="Hiragino Sans"/>
                <a:cs typeface="Hiragino Sans"/>
              </a:rPr>
              <a:t>周波数に効くのは蓄電池（合成慣性）。力率対策は効かない</a:t>
            </a:r>
          </a:p>
        </p:txBody>
      </p:sp>
      <p:sp>
        <p:nvSpPr>
          <p:cNvPr id="12" name="Oval 11"/>
          <p:cNvSpPr/>
          <p:nvPr/>
        </p:nvSpPr>
        <p:spPr>
          <a:xfrm>
            <a:off x="10082514"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次の律速</a:t>
            </a:r>
          </a:p>
          <a:p>
            <a:pPr>
              <a:spcBef>
                <a:spcPts val="600"/>
              </a:spcBef>
            </a:pPr>
            <a:r>
              <a:rPr sz="1500">
                <a:solidFill>
                  <a:srgbClr val="33221E"/>
                </a:solidFill>
                <a:latin typeface="Avenir Next"/>
                <a:ea typeface="Hiragino Sans"/>
                <a:cs typeface="Hiragino Sans"/>
              </a:rPr>
              <a:t>周波数を伸ばすと 300 MW（最低出力）→ さらに伸ばすと 430 MW（N-1）</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動く図で試す — viz/island.html</a:t>
            </a:r>
          </a:p>
        </p:txBody>
      </p:sp>
      <p:pic>
        <p:nvPicPr>
          <p:cNvPr id="3" name="Picture 2" descr="ch15_viz.png"/>
          <p:cNvPicPr>
            <a:picLocks noChangeAspect="1"/>
          </p:cNvPicPr>
          <p:nvPr/>
        </p:nvPicPr>
        <p:blipFill>
          <a:blip r:embed="rId2"/>
          <a:stretch>
            <a:fillRect/>
          </a:stretch>
        </p:blipFill>
        <p:spPr>
          <a:xfrm>
            <a:off x="3682217" y="1353312"/>
            <a:ext cx="4827260" cy="3242310"/>
          </a:xfrm>
          <a:prstGeom prst="rect">
            <a:avLst/>
          </a:prstGeom>
        </p:spPr>
      </p:pic>
      <p:sp>
        <p:nvSpPr>
          <p:cNvPr id="4" name="TextBox 3"/>
          <p:cNvSpPr txBox="1"/>
          <p:nvPr/>
        </p:nvSpPr>
        <p:spPr>
          <a:xfrm>
            <a:off x="566928" y="4732782"/>
            <a:ext cx="11057839" cy="29845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動く図 6 制約の同時計算と対策トグルをブラウザ内で実計算する 15 枚のスライド。</a:t>
            </a:r>
          </a:p>
        </p:txBody>
      </p:sp>
      <p:sp>
        <p:nvSpPr>
          <p:cNvPr id="5" name="TextBox 4"/>
          <p:cNvSpPr txBox="1"/>
          <p:nvPr/>
        </p:nvSpPr>
        <p:spPr>
          <a:xfrm>
            <a:off x="566928" y="5214112"/>
            <a:ext cx="11057839" cy="939800"/>
          </a:xfrm>
          <a:prstGeom prst="rect">
            <a:avLst/>
          </a:prstGeom>
          <a:noFill/>
        </p:spPr>
        <p:txBody>
          <a:bodyPr wrap="square" lIns="0" rIns="0" tIns="0" bIns="0">
            <a:spAutoFit/>
          </a:bodyPr>
          <a:lstStyle/>
          <a:p>
            <a:pPr>
              <a:spcBef>
                <a:spcPts val="400"/>
              </a:spcBef>
              <a:buChar char="•"/>
            </a:pPr>
            <a:r>
              <a:rPr sz="1600">
                <a:solidFill>
                  <a:srgbClr val="33221E"/>
                </a:solidFill>
                <a:latin typeface="Avenir Next"/>
                <a:ea typeface="Hiragino Sans"/>
                <a:cs typeface="Hiragino Sans"/>
              </a:rPr>
              <a:t>太陽光を 0 → 600 MW に動かし、6 本の棒のどれが最初に赤くなるか見る</a:t>
            </a:r>
          </a:p>
          <a:p>
            <a:pPr>
              <a:spcBef>
                <a:spcPts val="400"/>
              </a:spcBef>
              <a:buChar char="•"/>
            </a:pPr>
            <a:r>
              <a:rPr sz="1600">
                <a:solidFill>
                  <a:srgbClr val="33221E"/>
                </a:solidFill>
                <a:latin typeface="Avenir Next"/>
                <a:ea typeface="Hiragino Sans"/>
                <a:cs typeface="Hiragino Sans"/>
              </a:rPr>
              <a:t>力率 0.95 を ON にして、電圧の板だけ伸びて答えが変わらないのを確かめる</a:t>
            </a:r>
          </a:p>
          <a:p>
            <a:pPr>
              <a:spcBef>
                <a:spcPts val="400"/>
              </a:spcBef>
              <a:buChar char="•"/>
            </a:pPr>
            <a:r>
              <a:rPr sz="1600">
                <a:solidFill>
                  <a:srgbClr val="33221E"/>
                </a:solidFill>
                <a:latin typeface="Avenir Next"/>
                <a:ea typeface="Hiragino Sans"/>
                <a:cs typeface="Hiragino Sans"/>
              </a:rPr>
              <a:t>蓄電池を ON にして、律速が周波数から別の制約へ移るのを見る</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なぜそう考えるか — 最小値・移る律速</a:t>
            </a:r>
          </a:p>
        </p:txBody>
      </p:sp>
      <p:sp>
        <p:nvSpPr>
          <p:cNvPr id="3" name="Rectangle 2"/>
          <p:cNvSpPr/>
          <p:nvPr/>
        </p:nvSpPr>
        <p:spPr>
          <a:xfrm>
            <a:off x="566928" y="2248916"/>
            <a:ext cx="11057839" cy="310896"/>
          </a:xfrm>
          <a:prstGeom prst="rect">
            <a:avLst/>
          </a:prstGeom>
          <a:solidFill>
            <a:srgbClr val="5C72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4891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なぜ最小値なのか</a:t>
            </a:r>
          </a:p>
        </p:txBody>
      </p:sp>
      <p:sp>
        <p:nvSpPr>
          <p:cNvPr id="5" name="Rectangle 4"/>
          <p:cNvSpPr/>
          <p:nvPr/>
        </p:nvSpPr>
        <p:spPr>
          <a:xfrm>
            <a:off x="566928" y="2559812"/>
            <a:ext cx="11057839" cy="458216"/>
          </a:xfrm>
          <a:prstGeom prst="rect">
            <a:avLst/>
          </a:prstGeom>
          <a:solidFill>
            <a:srgbClr val="F3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605532"/>
            <a:ext cx="10655503" cy="385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制約は「すべて満たす」もの。1 つでも破れば運用できないので、上限の集合の最小値が答えになる。</a:t>
            </a:r>
          </a:p>
        </p:txBody>
      </p:sp>
      <p:sp>
        <p:nvSpPr>
          <p:cNvPr id="7" name="Rectangle 6"/>
          <p:cNvSpPr/>
          <p:nvPr/>
        </p:nvSpPr>
        <p:spPr>
          <a:xfrm>
            <a:off x="566928" y="3219196"/>
            <a:ext cx="11057839" cy="310896"/>
          </a:xfrm>
          <a:prstGeom prst="rect">
            <a:avLst/>
          </a:prstGeom>
          <a:solidFill>
            <a:srgbClr val="146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1919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なぜ対策で律速が移るのか</a:t>
            </a:r>
          </a:p>
        </p:txBody>
      </p:sp>
      <p:sp>
        <p:nvSpPr>
          <p:cNvPr id="9" name="Rectangle 8"/>
          <p:cNvSpPr/>
          <p:nvPr/>
        </p:nvSpPr>
        <p:spPr>
          <a:xfrm>
            <a:off x="566928" y="3530092"/>
            <a:ext cx="11057839" cy="712216"/>
          </a:xfrm>
          <a:prstGeom prst="rect">
            <a:avLst/>
          </a:prstGeom>
          <a:solidFill>
            <a:srgbClr val="E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3575812"/>
            <a:ext cx="10655503" cy="639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対策は特定の板だけを伸ばす。伸ばした板が最小でなくなった瞬間、次に低い板が答えを決める。投資の順番は「今の律速」で決まる。</a:t>
            </a:r>
          </a:p>
        </p:txBody>
      </p:sp>
      <p:sp>
        <p:nvSpPr>
          <p:cNvPr id="11" name="Rectangle 10"/>
          <p:cNvSpPr/>
          <p:nvPr/>
        </p:nvSpPr>
        <p:spPr>
          <a:xfrm>
            <a:off x="566928" y="4443476"/>
            <a:ext cx="11057839" cy="310896"/>
          </a:xfrm>
          <a:prstGeom prst="rect">
            <a:avLst/>
          </a:prstGeom>
          <a:solidFill>
            <a:srgbClr val="9F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44347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1 つの制約だけ見ない</a:t>
            </a:r>
          </a:p>
        </p:txBody>
      </p:sp>
      <p:sp>
        <p:nvSpPr>
          <p:cNvPr id="13" name="Rectangle 12"/>
          <p:cNvSpPr/>
          <p:nvPr/>
        </p:nvSpPr>
        <p:spPr>
          <a:xfrm>
            <a:off x="566928" y="4754372"/>
            <a:ext cx="11057839" cy="458216"/>
          </a:xfrm>
          <a:prstGeom prst="rect">
            <a:avLst/>
          </a:prstGeom>
          <a:solidFill>
            <a:srgbClr val="F8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800092"/>
            <a:ext cx="10655503" cy="385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電圧が余裕でも周波数で入らない。系統計画は 6 枚の板を同時に見る仕事である。</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よくある誤解 — 3 つとも「律速」を見落としている</a:t>
            </a:r>
          </a:p>
        </p:txBody>
      </p:sp>
      <p:pic>
        <p:nvPicPr>
          <p:cNvPr id="3" name="Picture 2" descr="ch15_myth.png"/>
          <p:cNvPicPr>
            <a:picLocks noChangeAspect="1"/>
          </p:cNvPicPr>
          <p:nvPr/>
        </p:nvPicPr>
        <p:blipFill>
          <a:blip r:embed="rId2"/>
          <a:stretch>
            <a:fillRect/>
          </a:stretch>
        </p:blipFill>
        <p:spPr>
          <a:xfrm>
            <a:off x="507416" y="713232"/>
            <a:ext cx="11176863" cy="5322316"/>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3 つとも根は同じ。連系可能量は「今いちばん弱い板」の高さで決まる。そこを見ずに投資や見通しを語ると、必ずこの 3 つのどれかに落ちる。　出典｜コード/fig_ch15.py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15 回で持ち帰る 3 点</a:t>
            </a:r>
          </a:p>
        </p:txBody>
      </p:sp>
      <p:sp>
        <p:nvSpPr>
          <p:cNvPr id="3" name="Rectangle 2"/>
          <p:cNvSpPr/>
          <p:nvPr/>
        </p:nvSpPr>
        <p:spPr>
          <a:xfrm>
            <a:off x="5547207" y="2394204"/>
            <a:ext cx="10972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595372"/>
            <a:ext cx="10143439" cy="965200"/>
          </a:xfrm>
          <a:prstGeom prst="rect">
            <a:avLst/>
          </a:prstGeom>
          <a:noFill/>
        </p:spPr>
        <p:txBody>
          <a:bodyPr wrap="square" lIns="0" rIns="0" tIns="0" bIns="0">
            <a:noAutofit/>
          </a:bodyPr>
          <a:lstStyle/>
          <a:p>
            <a:pPr algn="ctr">
              <a:lnSpc>
                <a:spcPct val="106000"/>
              </a:lnSpc>
            </a:pPr>
            <a:r>
              <a:rPr sz="2800" b="1">
                <a:solidFill>
                  <a:srgbClr val="7C332A"/>
                </a:solidFill>
                <a:latin typeface="Avenir Next"/>
                <a:ea typeface="Hiragino Sans"/>
                <a:cs typeface="Hiragino Sans"/>
              </a:rPr>
              <a:t>P は角度、Q は電圧、周波数は系統全体。制約は最小値で効き、対策は律速から打つ</a:t>
            </a:r>
          </a:p>
        </p:txBody>
      </p:sp>
      <p:sp>
        <p:nvSpPr>
          <p:cNvPr id="5" name="TextBox 4"/>
          <p:cNvSpPr txBox="1"/>
          <p:nvPr/>
        </p:nvSpPr>
        <p:spPr>
          <a:xfrm>
            <a:off x="1847088" y="3926332"/>
            <a:ext cx="8497519" cy="939800"/>
          </a:xfrm>
          <a:prstGeom prst="rect">
            <a:avLst/>
          </a:prstGeom>
          <a:noFill/>
        </p:spPr>
        <p:txBody>
          <a:bodyPr wrap="square" lIns="0" rIns="0" tIns="0" bIns="0">
            <a:noAutofit/>
          </a:bodyPr>
          <a:lstStyle/>
          <a:p>
            <a:pPr>
              <a:spcBef>
                <a:spcPts val="800"/>
              </a:spcBef>
            </a:pPr>
            <a:r>
              <a:rPr sz="1600">
                <a:solidFill>
                  <a:srgbClr val="33221E"/>
                </a:solidFill>
                <a:latin typeface="Avenir Next"/>
                <a:ea typeface="Hiragino Sans"/>
                <a:cs typeface="Hiragino Sans"/>
              </a:rPr>
              <a:t>•  潮流：Y_bus と電力方程式を NR 法で解き、電圧と潮流を読む（第3〜6回）</a:t>
            </a:r>
          </a:p>
          <a:p>
            <a:pPr>
              <a:spcBef>
                <a:spcPts val="800"/>
              </a:spcBef>
            </a:pPr>
            <a:r>
              <a:rPr sz="1600">
                <a:solidFill>
                  <a:srgbClr val="33221E"/>
                </a:solidFill>
                <a:latin typeface="Avenir Next"/>
                <a:ea typeface="Hiragino Sans"/>
                <a:cs typeface="Hiragino Sans"/>
              </a:rPr>
              <a:t>•  ダイナミクス：等面積法と ΔP = KΔF。慣性 H が時間の余裕を決める（第7〜9回）</a:t>
            </a:r>
          </a:p>
          <a:p>
            <a:pPr>
              <a:spcBef>
                <a:spcPts val="800"/>
              </a:spcBef>
            </a:pPr>
            <a:r>
              <a:rPr sz="1600">
                <a:solidFill>
                  <a:srgbClr val="33221E"/>
                </a:solidFill>
                <a:latin typeface="Avenir Next"/>
                <a:ea typeface="Hiragino Sans"/>
                <a:cs typeface="Hiragino Sans"/>
              </a:rPr>
              <a:t>•  予測と最適化：区間で予測し、λ を揃え、6 制約の最小値で連系可能量（第10〜15回）</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7C332A"/>
        </a:solidFill>
        <a:effectLst/>
      </p:bgPr>
    </p:bg>
    <p:spTree>
      <p:nvGrpSpPr>
        <p:cNvPr id="1" name=""/>
        <p:cNvGrpSpPr/>
        <p:nvPr/>
      </p:nvGrpSpPr>
      <p:grpSpPr/>
      <p:sp>
        <p:nvSpPr>
          <p:cNvPr id="2" name="Rectangle 1"/>
          <p:cNvSpPr/>
          <p:nvPr/>
        </p:nvSpPr>
        <p:spPr>
          <a:xfrm>
            <a:off x="5592927" y="2697480"/>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80360"/>
            <a:ext cx="10362895" cy="746252"/>
          </a:xfrm>
          <a:prstGeom prst="rect">
            <a:avLst/>
          </a:prstGeom>
          <a:noFill/>
        </p:spPr>
        <p:txBody>
          <a:bodyPr wrap="square" lIns="0" rIns="0" tIns="0" bIns="0">
            <a:noAutofit/>
          </a:bodyPr>
          <a:lstStyle/>
          <a:p>
            <a:pPr algn="ctr">
              <a:defRPr sz="4520" b="1">
                <a:solidFill>
                  <a:srgbClr val="FFFFFF"/>
                </a:solidFill>
                <a:latin typeface="Avenir Next"/>
                <a:ea typeface="Hiragino Sans"/>
                <a:cs typeface="Hiragino Sans"/>
              </a:defRPr>
            </a:pPr>
            <a:r>
              <a:rPr>
                <a:ea typeface="Hiragino Sans"/>
                <a:cs typeface="Hiragino Sans"/>
              </a:rPr>
              <a:t>第16回：最終試験（90 分）</a:t>
            </a:r>
          </a:p>
        </p:txBody>
      </p:sp>
      <p:sp>
        <p:nvSpPr>
          <p:cNvPr id="4" name="TextBox 3"/>
          <p:cNvSpPr txBox="1"/>
          <p:nvPr/>
        </p:nvSpPr>
        <p:spPr>
          <a:xfrm>
            <a:off x="914400" y="4160520"/>
            <a:ext cx="10362895" cy="822960"/>
          </a:xfrm>
          <a:prstGeom prst="rect">
            <a:avLst/>
          </a:prstGeom>
          <a:noFill/>
        </p:spPr>
        <p:txBody>
          <a:bodyPr wrap="square" lIns="0" rIns="0" tIns="0" bIns="0">
            <a:noAutofit/>
          </a:bodyPr>
          <a:lstStyle/>
          <a:p>
            <a:pPr algn="ctr">
              <a:defRPr sz="1800">
                <a:solidFill>
                  <a:srgbClr val="EBE0DF"/>
                </a:solidFill>
                <a:latin typeface="Avenir Next"/>
                <a:ea typeface="Hiragino Sans"/>
                <a:cs typeface="Hiragino Sans"/>
              </a:defRPr>
            </a:pPr>
            <a:r>
              <a:rPr>
                <a:ea typeface="Hiragino Sans"/>
                <a:cs typeface="Hiragino Sans"/>
              </a:rPr>
              <a:t>演習 ex/ch15.html と viz/island.html で総復習</a:t>
            </a:r>
          </a:p>
          <a:p>
            <a:pPr algn="ctr">
              <a:spcBef>
                <a:spcPts val="400"/>
              </a:spcBef>
              <a:defRPr sz="1800">
                <a:solidFill>
                  <a:srgbClr val="EBE0DF"/>
                </a:solidFill>
                <a:latin typeface="Avenir Next"/>
                <a:ea typeface="Hiragino Sans"/>
                <a:cs typeface="Hiragino Sans"/>
              </a:defRPr>
            </a:pPr>
            <a:r>
              <a:rPr>
                <a:ea typeface="Hiragino Sans"/>
                <a:cs typeface="Hiragino Sans"/>
              </a:rPr>
              <a:t>各回の「持ち帰る 3 点」と記号表（notes/symbols.html）を見直しておく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