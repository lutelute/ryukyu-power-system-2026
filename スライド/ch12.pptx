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 3 の最終コマ。第11回の統計モデルと同じデータ・同じ検証期間で比べるので、差がそのまま手法の差になる。</a:t>
            </a:r>
          </a:p>
          <a:p/>
          <a:p>
            <a:r>
              <a:t>_class: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「強い」と「使える」は違う。今日は限界の方を丁寧に扱う。</a:t>
            </a:r>
          </a:p>
          <a:p/>
          <a:p>
            <a:r>
              <a:t>_class: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右下が今日の落としどころ。モデルを凝るより、入力（気象予報）の質を上げる方が効く場面が多い。</a:t>
            </a:r>
          </a:p>
          <a:p/>
          <a:p>
            <a:r>
              <a:t>_class: graphical-abstract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どちらも検証では見えない。だから今日は「検証の設計」を手法と同じ重さで扱う。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 5 行は第12回の全体を先取りしている。残差・学習率・リーク・外挿不能が、あとで順番に式やグラフになって出てくる。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分割の基準は分散減少（SSE の減少）。分類なら Gini 係数やエントロピーを使う。　図の要点：全特徴量・全閾値を試して SSE 最小を選ぶ／葉の値はそこに入ったデータの 平均／時刻の周期成分が最も効く／気温・THI がそれに続く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③が名前の由来。損失を二乗誤差から変えれば、分位点回帰にもロバスト回帰にもなる。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③が名前の由来。損失を二乗誤差から変えれば、分位点回帰にもロバスト回帰にもなる。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③が名前の由来。損失を二乗誤差から変えれば、分位点回帰にもロバスト回帰にもなる。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深さ 2 の木を 80 本。1 本ずつは「切り株」に近いが、足し合わせると滑らかな関数になる。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実務では検証誤差が N 回連続で改善しなければ打ち切る（patience）。　図の要点：学習誤差は単調に減る／検証誤差は底を打って上がる（過学習）／底が 149 本、検証 RMSE 29.0 MW／ここで止めるのが早期停止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第11回で度日とフーリエ項を入れた線形が 34.4 MW。特徴量設計を手抜きすると木の差が大きく開く。　図の要点：線形回帰（第11回と同じ特徴量）34.4 MW／勾配ブースティング 32.2 MW／差は 6%。大差ではない／右図：暑い日の昼だけ跳ねる形を表現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ランダムフォレストは並列に育てて平均（分散を減らす）、ブースティングは直列に積む（バイアスを減らす）。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これがテキサス寒波で起きたこと。実務では「学習範囲外の入力が来た」ことを検知して警告する仕組みを入れる。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これがリークの最も一般的な形。モデルを凝るより気象予報を良くする方が効く場面が多い、という含意もある。　図の要点：実測気温で検証：34.5 MW／予報気温 σ=1.5 °C：59.0 MW（1.7 倍）／σ=3.0 °C なら 97.4 MW／気温 1 °C の誤差 ≈ 需要 19 MW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モデルの改善余地（34.4 → 31.2 MW）より、入力の改善余地（59.0 → 34.5 MW）の方が大きい。</a:t>
            </a:r>
          </a:p>
          <a:p/>
          <a:p>
            <a:r>
              <a:t>_class: kpi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PICP が目標 90% を下回るのは、検証期間が学習期間と分布が違うため。実務ではここを補正する。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個別の予測を説明したいなら SHAP。ここでは実装が簡単で解釈も明快な置換重要度を使っている。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深層学習が強いのは、画像・音声・自然言語のように「特徴量設計が難しい」データ。需要予測は特徴量が明快なので木が強い。　図の要点：忘却ゲート：何を捨てるか／入力ゲート：何を覚えるか／出力ゲート：何を出すか／セル状態は 加算 で更新される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学生に 3 の残差を計算させる。ν を 1.0 にすると一度に消えるが、過学習しやすくなることも触れる。</a:t>
            </a:r>
          </a:p>
          <a:p/>
          <a:p>
            <a:r>
              <a:t>_class: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blocks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takeaway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ea typeface="Hiragino Sans"/>
                <a:cs typeface="Hiragino Sans"/>
              </a:rPr>
              <a:t>Click to edit Master subtitle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Hiragino Sans"/>
                <a:cs typeface="Hiragino Sans"/>
              </a:defRPr>
            </a:lvl1pPr>
            <a:lvl2pPr>
              <a:defRPr sz="2800">
                <a:ea typeface="Hiragino Sans"/>
                <a:cs typeface="Hiragino Sans"/>
              </a:defRPr>
            </a:lvl2pPr>
            <a:lvl3pPr>
              <a:defRPr sz="2400">
                <a:ea typeface="Hiragino Sans"/>
                <a:cs typeface="Hiragino Sans"/>
              </a:defRPr>
            </a:lvl3pPr>
            <a:lvl4pPr>
              <a:defRPr sz="2000">
                <a:ea typeface="Hiragino Sans"/>
                <a:cs typeface="Hiragino Sans"/>
              </a:defRPr>
            </a:lvl4pPr>
            <a:lvl5pPr>
              <a:defRPr sz="2000">
                <a:ea typeface="Hiragino Sans"/>
                <a:cs typeface="Hiragino Sans"/>
              </a:defRPr>
            </a:lvl5pPr>
            <a:lvl6pPr>
              <a:defRPr sz="2000">
                <a:ea typeface="Hiragino Sans"/>
                <a:cs typeface="Hiragino Sans"/>
              </a:defRPr>
            </a:lvl6pPr>
            <a:lvl7pPr>
              <a:defRPr sz="2000">
                <a:ea typeface="Hiragino Sans"/>
                <a:cs typeface="Hiragino Sans"/>
              </a:defRPr>
            </a:lvl7pPr>
            <a:lvl8pPr>
              <a:defRPr sz="2000">
                <a:ea typeface="Hiragino Sans"/>
                <a:cs typeface="Hiragino Sans"/>
              </a:defRPr>
            </a:lvl8pPr>
            <a:lvl9pPr>
              <a:defRPr sz="20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ea typeface="Hiragino Sans"/>
                <a:cs typeface="Hiragino Sans"/>
              </a:defRPr>
            </a:lvl1pPr>
            <a:lvl2pPr marL="457200" indent="0">
              <a:buNone/>
              <a:defRPr sz="2800">
                <a:ea typeface="Hiragino Sans"/>
                <a:cs typeface="Hiragino Sans"/>
              </a:defRPr>
            </a:lvl2pPr>
            <a:lvl3pPr marL="914400" indent="0">
              <a:buNone/>
              <a:defRPr sz="2400">
                <a:ea typeface="Hiragino Sans"/>
                <a:cs typeface="Hiragino Sans"/>
              </a:defRPr>
            </a:lvl3pPr>
            <a:lvl4pPr marL="1371600" indent="0">
              <a:buNone/>
              <a:defRPr sz="2000">
                <a:ea typeface="Hiragino Sans"/>
                <a:cs typeface="Hiragino Sans"/>
              </a:defRPr>
            </a:lvl4pPr>
            <a:lvl5pPr marL="1828800" indent="0">
              <a:buNone/>
              <a:defRPr sz="2000">
                <a:ea typeface="Hiragino Sans"/>
                <a:cs typeface="Hiragino Sans"/>
              </a:defRPr>
            </a:lvl5pPr>
            <a:lvl6pPr marL="2286000" indent="0">
              <a:buNone/>
              <a:defRPr sz="2000">
                <a:ea typeface="Hiragino Sans"/>
                <a:cs typeface="Hiragino Sans"/>
              </a:defRPr>
            </a:lvl6pPr>
            <a:lvl7pPr marL="2743200" indent="0">
              <a:buNone/>
              <a:defRPr sz="2000">
                <a:ea typeface="Hiragino Sans"/>
                <a:cs typeface="Hiragino Sans"/>
              </a:defRPr>
            </a:lvl7pPr>
            <a:lvl8pPr marL="3200400" indent="0">
              <a:buNone/>
              <a:defRPr sz="2000">
                <a:ea typeface="Hiragino Sans"/>
                <a:cs typeface="Hiragino Sans"/>
              </a:defRPr>
            </a:lvl8pPr>
            <a:lvl9pPr marL="3657600" indent="0">
              <a:buNone/>
              <a:defRPr sz="2000">
                <a:ea typeface="Hiragino Sans"/>
                <a:cs typeface="Hiragino Sans"/>
              </a:defRPr>
            </a:lvl9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Hiragino Sans"/>
          <a:cs typeface="Hiragino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9pPr>
    </p:bodyStyle>
    <p:otherStyle>
      <a:defPPr>
        <a:defRPr lang="en-US">
          <a:ea typeface="Hiragino Sans"/>
          <a:cs typeface="Hiragino Sans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7.xml"/><Relationship Id="rId4" Type="http://schemas.openxmlformats.org/officeDocument/2006/relationships/slide" Target="slide14.xml"/><Relationship Id="rId5" Type="http://schemas.openxmlformats.org/officeDocument/2006/relationships/slide" Target="slide17.xml"/><Relationship Id="rId6" Type="http://schemas.openxmlformats.org/officeDocument/2006/relationships/slide" Target="slide2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3172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木は「間違いノート」で賢くなる — そして地図の外は歩けない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5592927" y="2889504"/>
            <a:ext cx="1005840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54096"/>
            <a:ext cx="10728655" cy="1817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6000"/>
              </a:lnSpc>
              <a:defRPr sz="54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第12回 機械学習を用いた予測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00066"/>
            <a:ext cx="9997135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rPr>
              <a:t>重信颯人（福井大学）／ Day 3・コマ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38647" y="2330958"/>
            <a:ext cx="91440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586990"/>
            <a:ext cx="9997135" cy="17754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rPr>
              <a:t>表形式のデータでは、決定木を残差で積み上げる勾配ブースティングが強い。ただし木は外挿ができず、入力の誤差はそのまま出力に出る。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この回の全体像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一枚で｜問い → 課題 → 道具 → 到達点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29232"/>
            <a:ext cx="11057839" cy="112845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4728" y="1907032"/>
            <a:ext cx="10702239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問い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4728" y="2268728"/>
            <a:ext cx="10702239" cy="4111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機械学習は統計モデルより当たるのか。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どこまで信じて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運用に載せてよいのか。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022282"/>
            <a:ext cx="3082442" cy="2391474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4728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課題</a:t>
            </a:r>
          </a:p>
        </p:txBody>
      </p:sp>
      <p:pic>
        <p:nvPicPr>
          <p:cNvPr id="9" name="Picture 8" descr="ch12_boo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179" y="3561778"/>
            <a:ext cx="1573940" cy="9026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4728" y="4540631"/>
            <a:ext cx="2726842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残差を小さな木で積み上げていく。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3850538" y="4014819"/>
            <a:ext cx="502920" cy="406400"/>
          </a:xfrm>
          <a:prstGeom prst="chevron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4626" y="3022282"/>
            <a:ext cx="3082442" cy="2391474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19050">
            <a:solidFill>
              <a:srgbClr val="B85042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2426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道具</a:t>
            </a:r>
          </a:p>
        </p:txBody>
      </p:sp>
      <p:pic>
        <p:nvPicPr>
          <p:cNvPr id="14" name="Picture 13" descr="ch12_learning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0473" y="3561778"/>
            <a:ext cx="1710747" cy="7550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32426" y="4392994"/>
            <a:ext cx="2726842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25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木 ▶ ブースティング ▶ 早期停止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2426" y="4850194"/>
            <a:ext cx="2726842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検証誤差で </a:t>
            </a:r>
            <a:r>
              <a:rPr sz="1500">
                <a:solidFill>
                  <a:srgbClr val="33221E"/>
                </a:solidFill>
                <a:highlight>
                  <a:srgbClr val="EBCECA"/>
                </a:highlight>
                <a:latin typeface="Avenir Next"/>
                <a:ea typeface="Hiragino Sans"/>
                <a:cs typeface="Hiragino Sans"/>
              </a:rPr>
              <a:t>止める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。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8236" y="4014819"/>
            <a:ext cx="502920" cy="406400"/>
          </a:xfrm>
          <a:prstGeom prst="chevron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42324" y="3022282"/>
            <a:ext cx="3082442" cy="2391474"/>
          </a:xfrm>
          <a:prstGeom prst="roundRect">
            <a:avLst>
              <a:gd name="adj" fmla="val 3500"/>
            </a:avLst>
          </a:prstGeom>
          <a:solidFill>
            <a:srgbClr val="7C3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0124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到達点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0124" y="3561778"/>
            <a:ext cx="2726842" cy="8032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5059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1.7 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0124" y="4365052"/>
            <a:ext cx="2726842" cy="8709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EBE0DF"/>
                </a:solidFill>
                <a:latin typeface="Avenir Next"/>
                <a:ea typeface="Hiragino Sans"/>
                <a:cs typeface="Hiragino Sans"/>
              </a:rPr>
              <a:t>気温を予報値にすると誤差は 1.7 倍になる。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523484"/>
            <a:ext cx="11057839" cy="648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数値はすべて本資料の Python コード（コード/fig_ch12.py）で計算。木もブースティングも numpy で自作。第11回と同じデータ・検証期間。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現場で起きたこと — 検証では見えない失敗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57873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2021年2月 テキサス寒波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70835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記録的な低温は学習データの </a:t>
            </a:r>
            <a:r>
              <a:rPr sz="1500">
                <a:solidFill>
                  <a:srgbClr val="33221E"/>
                </a:solidFill>
                <a:highlight>
                  <a:srgbClr val="EBCECA"/>
                </a:highlight>
                <a:latin typeface="Avenir Next"/>
                <a:ea typeface="Hiragino Sans"/>
                <a:cs typeface="Hiragino Sans"/>
              </a:rPr>
              <a:t>範囲の外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だった。需要予測は暖房需要の急増を捉えきれず、供給側も設備の凍結で次々に脱落。数百万世帯が数日停電した。外挿の失敗と供給脱落が重なった事例である。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718052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95344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データリーク — 模試は満点、本番は零点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87444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「未来の実績」や「当日にならないと分からない値」が特徴量に紛れると、検証精度が現実離れして高くなる。運用に出した瞬間に精度が崩れる。最も多いのは、気温を実測値で検証してしまう形である。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たとえ話 — 間違いノートと地図の外</a:t>
            </a:r>
          </a:p>
        </p:txBody>
      </p:sp>
      <p:pic>
        <p:nvPicPr>
          <p:cNvPr id="3" name="Picture 2" descr="ch12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16" y="713232"/>
            <a:ext cx="11176863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たとえ話が崩れる点も押さえておく。間違いノートは覚えるほど賢くなるが、覚えすぎると別の間違い（過学習）を生む。木の深さ・本数・早期停止で止めるのはそのため。　出典｜コード/fig_ch12.py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この回の地図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2763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01</a:t>
            </a:r>
          </a:p>
        </p:txBody>
      </p:sp>
      <p:sp>
        <p:nvSpPr>
          <p:cNvPr id="4" name="agenda:item:0"/>
          <p:cNvSpPr txBox="1"/>
          <p:nvPr/>
        </p:nvSpPr>
        <p:spPr>
          <a:xfrm>
            <a:off x="1572768" y="162763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3" action="ppaction://hlinksldjump"/>
              </a:rPr>
              <a:t>決定木 — 1 回の分割で何が起きているか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66649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67919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02</a:t>
            </a:r>
          </a:p>
        </p:txBody>
      </p:sp>
      <p:sp>
        <p:nvSpPr>
          <p:cNvPr id="7" name="agenda:item:1"/>
          <p:cNvSpPr txBox="1"/>
          <p:nvPr/>
        </p:nvSpPr>
        <p:spPr>
          <a:xfrm>
            <a:off x="1572768" y="267919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4" action="ppaction://hlinksldjump"/>
              </a:rPr>
              <a:t>ブースティング — 残差を積み上げる、早期停止で止める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71805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73075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03</a:t>
            </a:r>
          </a:p>
        </p:txBody>
      </p:sp>
      <p:sp>
        <p:nvSpPr>
          <p:cNvPr id="10" name="agenda:item:2"/>
          <p:cNvSpPr txBox="1"/>
          <p:nvPr/>
        </p:nvSpPr>
        <p:spPr>
          <a:xfrm>
            <a:off x="1572768" y="373075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5" action="ppaction://hlinksldjump"/>
              </a:rPr>
              <a:t>限界 — 外挿できない、入力の誤差がそのまま出る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76961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8231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04</a:t>
            </a:r>
          </a:p>
        </p:txBody>
      </p:sp>
      <p:sp>
        <p:nvSpPr>
          <p:cNvPr id="13" name="agenda:item:3"/>
          <p:cNvSpPr txBox="1"/>
          <p:nvPr/>
        </p:nvSpPr>
        <p:spPr>
          <a:xfrm>
            <a:off x="1572768" y="478231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6" action="ppaction://hlinksldjump"/>
              </a:rPr>
              <a:t>実務 — 区間で出す、重要度で説明する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Ⅰ. 決定木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「どこで分けるか」を全探索する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 回の分割 — 誤差が最も減る場所を選ぶ</a:t>
            </a:r>
          </a:p>
        </p:txBody>
      </p:sp>
      <p:pic>
        <p:nvPicPr>
          <p:cNvPr id="3" name="Picture 2" descr="ch12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28482"/>
            <a:ext cx="11734495" cy="44918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木は「閾値で場合分けする」モデルで、冷房が入る温度のような折れ点を人が指定せずに見つける（左が実際の分割、右がどの特徴量が有効かを示す）。　出典｜コード/fig_ch12.py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勾配ブースティングの考え方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229993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① まず平均で予測する｜F₀ = 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22093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最初のモデルは全データの平均。残差 r = y − F₀ が「まだ説明できていない分」になる。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059747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ild:ghost"/>
          <p:cNvSpPr txBox="1"/>
          <p:nvPr/>
        </p:nvSpPr>
        <p:spPr>
          <a:xfrm>
            <a:off x="566928" y="3237039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C1C9C5"/>
                </a:solidFill>
                <a:latin typeface="Avenir Next"/>
                <a:ea typeface="Hiragino Sans"/>
                <a:cs typeface="Hiragino Sans"/>
              </a:rPr>
              <a:t>② 残差を木で学ぶ｜h₁ ≈ r</a:t>
            </a:r>
          </a:p>
        </p:txBody>
      </p:sp>
      <p:sp>
        <p:nvSpPr>
          <p:cNvPr id="7" name="build:ghost"/>
          <p:cNvSpPr txBox="1"/>
          <p:nvPr/>
        </p:nvSpPr>
        <p:spPr>
          <a:xfrm>
            <a:off x="822960" y="3529139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浅い木（深さ 2〜6）で残差を近似する。これを </a:t>
            </a:r>
            <a:r>
              <a:rPr sz="1500" b="1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F₁ = F₀ + ν h₁</a:t>
            </a: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 として足す。ν は学習率で 0.05〜0.3。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066793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uild:ghost"/>
          <p:cNvSpPr txBox="1"/>
          <p:nvPr/>
        </p:nvSpPr>
        <p:spPr>
          <a:xfrm>
            <a:off x="566928" y="424408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C1C9C5"/>
                </a:solidFill>
                <a:latin typeface="Avenir Next"/>
                <a:ea typeface="Hiragino Sans"/>
                <a:cs typeface="Hiragino Sans"/>
              </a:rPr>
              <a:t>③ 繰り返す｜F_m = F_(m−1) + ν h_m</a:t>
            </a:r>
          </a:p>
        </p:txBody>
      </p:sp>
      <p:sp>
        <p:nvSpPr>
          <p:cNvPr id="10" name="build:ghost"/>
          <p:cNvSpPr txBox="1"/>
          <p:nvPr/>
        </p:nvSpPr>
        <p:spPr>
          <a:xfrm>
            <a:off x="822960" y="4536185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新しい残差をまた木で学ぶ。二乗誤差の場合、残差はそのまま損失の負の勾配なので </a:t>
            </a:r>
            <a:r>
              <a:rPr sz="1500" b="1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勾配降下法を関数空間で行っている</a:t>
            </a: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ことになる。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勾配ブースティングの考え方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229993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① まず平均で予測する｜F₀ = 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22093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最初のモデルは全データの平均。残差 r = y − F₀ が「まだ説明できていない分」になる。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059747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237039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② 残差を木で学ぶ｜h₁ ≈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9139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浅い木（深さ 2〜6）で残差を近似する。これを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F₁ = F₀ + ν h₁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として足す。ν は学習率で 0.05〜0.3。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066793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uild:ghost"/>
          <p:cNvSpPr txBox="1"/>
          <p:nvPr/>
        </p:nvSpPr>
        <p:spPr>
          <a:xfrm>
            <a:off x="566928" y="424408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C1C9C5"/>
                </a:solidFill>
                <a:latin typeface="Avenir Next"/>
                <a:ea typeface="Hiragino Sans"/>
                <a:cs typeface="Hiragino Sans"/>
              </a:rPr>
              <a:t>③ 繰り返す｜F_m = F_(m−1) + ν h_m</a:t>
            </a:r>
          </a:p>
        </p:txBody>
      </p:sp>
      <p:sp>
        <p:nvSpPr>
          <p:cNvPr id="10" name="build:ghost"/>
          <p:cNvSpPr txBox="1"/>
          <p:nvPr/>
        </p:nvSpPr>
        <p:spPr>
          <a:xfrm>
            <a:off x="822960" y="4536185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新しい残差をまた木で学ぶ。二乗誤差の場合、残差はそのまま損失の負の勾配なので </a:t>
            </a:r>
            <a:r>
              <a:rPr sz="1500" b="1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勾配降下法を関数空間で行っている</a:t>
            </a:r>
            <a:r>
              <a:rPr sz="1500">
                <a:solidFill>
                  <a:srgbClr val="C1BCBB"/>
                </a:solidFill>
                <a:latin typeface="Avenir Next"/>
                <a:ea typeface="Hiragino Sans"/>
                <a:cs typeface="Hiragino Sans"/>
              </a:rPr>
              <a:t>ことになる。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勾配ブースティングの考え方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229993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① まず平均で予測する｜F₀ = 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22093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最初のモデルは全データの平均。残差 r = y − F₀ が「まだ説明できていない分」になる。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059747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237039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② 残差を木で学ぶ｜h₁ ≈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9139"/>
            <a:ext cx="10801807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浅い木（深さ 2〜6）で残差を近似する。これを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F₁ = F₀ + ν h₁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として足す。ν は学習率で 0.05〜0.3。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066793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24408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③ 繰り返す｜F_m = F_(m−1) + ν h_m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36185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新しい残差をまた木で学ぶ。二乗誤差の場合、残差はそのまま損失の負の勾配なので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勾配降下法を関数空間で行っている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ことになる。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木を足すたびに形が細かくなる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読み方｜灰色が実績、赤が予測。木の本数だけを変えている</a:t>
            </a:r>
          </a:p>
        </p:txBody>
      </p:sp>
      <p:pic>
        <p:nvPicPr>
          <p:cNvPr id="4" name="Picture 3" descr="ch12_boo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530655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530655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出典｜コード/fig_ch12.py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1631" y="2629725"/>
            <a:ext cx="5143136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1 本：大まかな段差だけ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5 本：気温の傾向を捉え始める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20 本：ばらつきの形が見えてくる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80 本：かなり細かく追従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1 本の木は弱いが、残差を積み上げると強くなる。ただし積みすぎるとノイズまで覚える。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早期停止 — 検証誤差が反転する前に止める</a:t>
            </a:r>
          </a:p>
        </p:txBody>
      </p:sp>
      <p:pic>
        <p:nvPicPr>
          <p:cNvPr id="3" name="Picture 2" descr="ch12_lear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84957"/>
            <a:ext cx="11734495" cy="517886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学習誤差は下がり続けるが、検証誤差はどこかで底を打って反転する。「木を増やすほど良い」わけではなく、止めどきを教えるのが検証データの役割である。　出典｜コード/fig_ch12.py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Ⅱ. 統計モデルとの比較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どこで勝ち、どこで負けるか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線形と木 — 交互作用を自動で拾う</a:t>
            </a:r>
          </a:p>
        </p:txBody>
      </p:sp>
      <p:pic>
        <p:nvPicPr>
          <p:cNvPr id="3" name="Picture 2" descr="ch12_linear_vs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28482"/>
            <a:ext cx="11734495" cy="44918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特徴量を丁寧に設計した線形モデルは強く、精度の差はわずか（左）。木の利点は、気温×時刻のような交互作用を設計しなくても拾えること（右）にある。　出典｜コード/fig_ch12.py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モデルを並べて比べる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読み方｜同じデータ・同じ検証期間での RMSE</a:t>
            </a:r>
          </a:p>
        </p:txBody>
      </p:sp>
      <p:pic>
        <p:nvPicPr>
          <p:cNvPr id="4" name="Picture 3" descr="ch12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988629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988629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出典｜コード/fig_ch12.py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39605" y="2629725"/>
            <a:ext cx="4685162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前週同曜日：99.2 MW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決定木 1 本：120.6 MW（弱い）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ランダムフォレスト：66.9 MW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勾配ブースティング：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31.2 MW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木 1 本はベースラインにも負ける。弱い学習器を束ねる方法（バギング・ブースティング）が効いている。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Ⅲ. 限界を知る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外挿できない、入力の誤差が出る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外挿 — 学習範囲の外では平らになる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読み方｜32 °C 以上を学習させずに、40 °C まで予測させた</a:t>
            </a:r>
          </a:p>
        </p:txBody>
      </p:sp>
      <p:pic>
        <p:nvPicPr>
          <p:cNvPr id="4" name="Picture 3" descr="ch12_extrapo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6261208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6261208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出典｜コード/fig_ch12.py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12184" y="2470975"/>
            <a:ext cx="4412583" cy="1968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線形回帰は傾きを保って伸びる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木は学習範囲の端で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平ら</a:t>
            </a: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になる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40 °C で線形 1,551 MW、木 1,225 MW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差は 326 MW（系統容量の 2 割超）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木の出力は「葉に入った学習データの平均」でしかない。記録更新の日は、線形側を信じる方が安全である。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入力の誤差はそのまま出力に出る</a:t>
            </a:r>
          </a:p>
        </p:txBody>
      </p:sp>
      <p:pic>
        <p:nvPicPr>
          <p:cNvPr id="3" name="Picture 2" descr="ch12_l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15481"/>
            <a:ext cx="11734495" cy="4517817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検証を実測気温で行うと、運用の実力を大きく見誤る（左）。誤差は気温予報の精度にほぼ比例するので（右）、前日予測の検証には「前日時点の予報」を使う。　出典｜コード/fig_ch12.py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何が効いているか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2857627"/>
            <a:ext cx="3503066" cy="1746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8576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124327"/>
            <a:ext cx="3045866" cy="1250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31.2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ブースティングの RMSE [MW]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4314" y="2857627"/>
            <a:ext cx="3503066" cy="1746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4314" y="28576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914" y="3124327"/>
            <a:ext cx="3045866" cy="1250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1.7 倍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気温を予報値にしたときの悪化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1700" y="2857627"/>
            <a:ext cx="3503066" cy="1746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1700" y="28576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0300" y="3124327"/>
            <a:ext cx="3045866" cy="1250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19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気温 1 °C あたりの誤差 [MW]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Ⅳ. 運用に載せる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区間で出し、理由を示す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点ではなく区間で予測する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読み方｜帯が 90% 予測区間、点が区間から外れた時刻</a:t>
            </a:r>
          </a:p>
        </p:txBody>
      </p:sp>
      <p:pic>
        <p:nvPicPr>
          <p:cNvPr id="4" name="Picture 3" descr="ch12_quant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983629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983629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出典｜コード/fig_ch12.py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34605" y="2470975"/>
            <a:ext cx="4690162" cy="1968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時刻ごとに残差の分位点から幅を決める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PICP（区間に入った割合）=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84.2%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PINAW（幅の指標）= 0.078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朝夕のピークで幅が広がる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当てるだけなら幅を広げればよい。狭くて当たる区間が価値で、予備力はこの上端で決める。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何が効いているかを測る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読み方｜その特徴量をわざと壊したとき、誤差がどれだけ増えるか</a:t>
            </a:r>
          </a:p>
        </p:txBody>
      </p:sp>
      <p:pic>
        <p:nvPicPr>
          <p:cNvPr id="4" name="Picture 3" descr="ch12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6123689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6123689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出典｜コード/fig_ch12.py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4665" y="2629725"/>
            <a:ext cx="4550102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THI（不快指数）が最も効く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時刻の周期成分がそれに続く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平日・曜日は寄与が小さい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壊しても増えないなら不要な特徴量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Permutation Importance はモデルによらず使える。「なぜこの予測になったか」を説明する第一歩。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LSTM — 長い記憶を保つ仕組み</a:t>
            </a:r>
          </a:p>
        </p:txBody>
      </p:sp>
      <p:pic>
        <p:nvPicPr>
          <p:cNvPr id="3" name="Picture 2" descr="ch12_ls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55467"/>
            <a:ext cx="11734495" cy="503784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3 つのゲートがセル状態への出入りを制御し、加算更新だから勾配が消えにくく長い系列を扱える。ただし表形式のデータでは、木モデルに勝てないことが多い。　出典｜コード/fig_ch12.py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例題 1 — ブースティングの 1 ステップ</a:t>
            </a:r>
          </a:p>
        </p:txBody>
      </p:sp>
      <p:sp>
        <p:nvSpPr>
          <p:cNvPr id="3" name="Oval 2"/>
          <p:cNvSpPr/>
          <p:nvPr/>
        </p:nvSpPr>
        <p:spPr>
          <a:xfrm>
            <a:off x="1597113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出発点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5 点の需要、F₀ = 平均 1,000。残差 r = [+80, −40, +20, −60, 0]、SSE = 12,000</a:t>
            </a:r>
          </a:p>
        </p:txBody>
      </p:sp>
      <p:sp>
        <p:nvSpPr>
          <p:cNvPr id="6" name="Oval 5"/>
          <p:cNvSpPr/>
          <p:nvPr/>
        </p:nvSpPr>
        <p:spPr>
          <a:xfrm>
            <a:off x="4425580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5395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3995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木 1 本（分割 1 回）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気温で 2 葉に分け、葉の値は残差の平均 {+33.3, −50}</a:t>
            </a:r>
          </a:p>
        </p:txBody>
      </p:sp>
      <p:sp>
        <p:nvSpPr>
          <p:cNvPr id="9" name="Oval 8"/>
          <p:cNvSpPr/>
          <p:nvPr/>
        </p:nvSpPr>
        <p:spPr>
          <a:xfrm>
            <a:off x="7254047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2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2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学習率 ν = 0.5 で足す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F₁ = F₀ + 0.5 h₁。新しい残差 [+63.3, −15, +3.3, −35, −16.7]</a:t>
            </a:r>
          </a:p>
        </p:txBody>
      </p:sp>
      <p:sp>
        <p:nvSpPr>
          <p:cNvPr id="12" name="Oval 11"/>
          <p:cNvSpPr/>
          <p:nvPr/>
        </p:nvSpPr>
        <p:spPr>
          <a:xfrm>
            <a:off x="10082514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329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0929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結果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SSE 12,000 → 5,745（52% 減）。次の木はこの残差を学ぶ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動く図で試す — viz/ml.html</a:t>
            </a:r>
          </a:p>
        </p:txBody>
      </p:sp>
      <p:pic>
        <p:nvPicPr>
          <p:cNvPr id="3" name="Picture 2" descr="ch12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217" y="1353312"/>
            <a:ext cx="4827260" cy="32423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4732782"/>
            <a:ext cx="11057839" cy="298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動く図 木のブースティング・リークの逆転・外挿・分位点区間をブラウザ内で実計算する 13 枚のスライド。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4112"/>
            <a:ext cx="11057839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木を 1 本ずつ足して、検証誤差が下がり、やがて上がり始めるのを見る</a:t>
            </a:r>
          </a:p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線形回帰と深さ 2 の木を同じデータで比べ、交互作用で木が勝つのを見る</a:t>
            </a:r>
          </a:p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気温を学習範囲の外に出し、木が平らになる（外挿不能）のを見る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なぜそう考えるか — 外挿・表形式・リーク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2121916"/>
            <a:ext cx="11057839" cy="310896"/>
          </a:xfrm>
          <a:prstGeom prst="rect">
            <a:avLst/>
          </a:prstGeom>
          <a:solidFill>
            <a:srgbClr val="5C7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2191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なぜ木は外挿できないのか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432812"/>
            <a:ext cx="11057839" cy="712216"/>
          </a:xfrm>
          <a:prstGeom prst="rect">
            <a:avLst/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478532"/>
            <a:ext cx="10655503" cy="639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木の出力は「葉に入った学習データの平均」。学習範囲を超えた入力は端の葉に落ち、端の平均値を返し続ける。記録更新の日は線形の方が素直に伸びる。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346196"/>
            <a:ext cx="11057839" cy="310896"/>
          </a:xfrm>
          <a:prstGeom prst="rect">
            <a:avLst/>
          </a:prstGeom>
          <a:solidFill>
            <a:srgbClr val="146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4619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なぜ表形式では木が強いのか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657092"/>
            <a:ext cx="11057839" cy="712216"/>
          </a:xfrm>
          <a:prstGeom prst="rect">
            <a:avLst/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3702812"/>
            <a:ext cx="10655503" cy="639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気温 × 時刻 × 曜日のような交互作用と、冷房が入る温度のような閾値を、分割の組合せで自然に表せる。線形回帰は人が項を書かないと表せない。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570476"/>
            <a:ext cx="11057839" cy="310896"/>
          </a:xfrm>
          <a:prstGeom prst="rect">
            <a:avLst/>
          </a:prstGeom>
          <a:solidFill>
            <a:srgbClr val="9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047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リークの見つけ方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881372"/>
            <a:ext cx="11057839" cy="458216"/>
          </a:xfrm>
          <a:prstGeom prst="rect">
            <a:avLst/>
          </a:prstGeom>
          <a:solidFill>
            <a:srgbClr val="F8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927092"/>
            <a:ext cx="10655503" cy="385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「予測時点で本当に手に入るか」を特徴量 1 つずつ問う。精度が良すぎたら疑う。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よくある誤解 — 3 つとも「検証を信じすぎた」結果</a:t>
            </a:r>
          </a:p>
        </p:txBody>
      </p:sp>
      <p:pic>
        <p:nvPicPr>
          <p:cNvPr id="3" name="Picture 2" descr="ch12_my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21" y="713232"/>
            <a:ext cx="11617452" cy="5532119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試験でも実務でも、この 3 つが最も多い。高すぎる精度を見たら、まずリークと外挿を疑う習慣をつける。　出典｜コード/fig_ch12.py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持ち帰る 3 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207" y="2394204"/>
            <a:ext cx="10972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2595372"/>
            <a:ext cx="10143439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rPr>
              <a:t>残差を積む木は強いが、地図の外は歩けない。入力の質が精度の上限を決める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3926332"/>
            <a:ext cx="8497519" cy="93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F_m = F_(m−1) + ν h_m。浅い木を多数、検証誤差で早期停止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木は外挿不能。記録更新の日は線形側を信じる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気温 1 °C の予報誤差が需要 19 MW の誤差になる。区間で出して予備力へ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92927" y="2697480"/>
            <a:ext cx="1005840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2895" cy="7462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452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次回：第13回 AI × 系統解析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60520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演習 ex/ch12.html で数値を変えて確かめる</a:t>
            </a:r>
          </a:p>
          <a:p>
            <a:pPr algn="ctr">
              <a:spcBef>
                <a:spcPts val="400"/>
              </a:spcBef>
              <a:def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系統はグラフ — 隣から伝わる情報で状態を推定し、異常を見つける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