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物理から経済へ。ここまでの制約（電圧・容量・安定度）が、そのまま最適化の制約条件になる。</a:t>
            </a:r>
          </a:p>
          <a:p/>
          <a:p>
            <a:r>
              <a:t>_class: 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「揃える」が今日のキーワード。水面が揃う、という直感を最後まで使う。</a:t>
            </a:r>
          </a:p>
          <a:p/>
          <a:p>
            <a:r>
              <a:t>_class: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右下が結論。物理的な制約（線路容量）が、価格という形で経済に現れる。</a:t>
            </a:r>
          </a:p>
          <a:p/>
          <a:p>
            <a:r>
              <a:t>_class: graphical-abstract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今日の λ が、市場では「価格」として目に見える。理論と制度が直結している回。</a:t>
            </a:r>
          </a:p>
          <a:p/>
          <a:p>
            <a:r>
              <a:t>_class: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表の5行は本日の全体を先取りしている。λ・費用曲線・出力上限・混雑・LMP が、あとで順番に式になって出てくる。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agenda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次近似は実務でも使う。実際には弁点効果（valve point）でギザギザするが、まずはこの形で考える。　図の要点：費用は出力の 2 次関数で近似する／傾き（限界費用）は右上がりの直線／石炭は安いが傾きが急／石油は高いが傾きは緩い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③の説明が最も腑に落ちる。数式より先にこちらを話してもよい。</a:t>
            </a:r>
          </a:p>
          <a:p/>
          <a:p>
            <a:r>
              <a:t>_class: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③の説明が最も腑に落ちる。数式より先にこちらを話してもよい。</a:t>
            </a:r>
          </a:p>
          <a:p/>
          <a:p>
            <a:r>
              <a:t>_class: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③の説明が最も腑に落ちる。数式より先にこちらを話してもよい。</a:t>
            </a:r>
          </a:p>
          <a:p/>
          <a:p>
            <a:r>
              <a:t>_class: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均等配分は極端な比較だが、λ を揃える価値を実感させるには分かりやすい。　図の要点：需要 600 MW、λ = 17.81 千円/MWh／石炭 245 MW、LNG 242 MW、石油 113 MW／均等配分（各 200 MW）より安い／差は 123 千円/h ＝ 年 10.7 億円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単調性があるので二分法で確実に解ける。実装は数十行で済む。　図の要点：λ を仮に決めると各機の出力が決まる／合計が需要より少なければ λ を上げる／12 回程度の反復で収束／上下限に当たった機は固定して残りで揃える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折れ点は「ある機が上限に達した」瞬間。そこから先は残りの機で需要増を賄うので λ の上がり方が急になる。　図の要点：需要が小さいうちは安い機が主体／増えると高い機が入ってくる／λ は 11.6 → 23.8 千円/MWh へ上昇／上限に当たると傾きが変わる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これが限界費用価格（marginal pricing）。全員が同じ価格で約定するので、単一価格オークションとも呼ばれる。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実際には「焚けるものが無い」状態になると価格は上限（当時 200 円）まで跳ね上がる。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逆転価格は燃料費の前提で大きく動く。燃料が高騰すれば、より低い炭素価格で逆転する。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第4回の直流法がここで効いてくる。近似だからこそ、市場という「毎日必ず解く」場面で使える。</a:t>
            </a:r>
          </a:p>
          <a:p/>
          <a:p>
            <a:r>
              <a:t>_class: equation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三角形の系統なので、母線1 の出力は 1–3 と 1–2–3 の 2 経路に分かれて流れる。だから 1–3 の容量が 120 でも 60 MW しか出せない。　図の要点：混雑なし：安い母線1 が 300 MW すべて／容量 120 MW に制限すると／母線1 は 60 MW、母線2 が 240 MW／費用は 3.30 → 5.41 百万円/h に増加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②が直感の核心。「安い電気が届かないから高い電気を使う」という当たり前のことを価格が表している。</a:t>
            </a:r>
          </a:p>
          <a:p/>
          <a:p>
            <a:r>
              <a:t>_class: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②が直感の核心。「安い電気が届かないから高い電気を使う」という当たり前のことを価格が表している。</a:t>
            </a:r>
          </a:p>
          <a:p/>
          <a:p>
            <a:r>
              <a:t>_class: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②が直感の核心。「安い電気が届かないから高い電気を使う」という当たり前のことを価格が表している。</a:t>
            </a:r>
          </a:p>
          <a:p/>
          <a:p>
            <a:r>
              <a:t>_class: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混雑レント（価格差 × 潮流）は送電事業者の収入にもなる。制度設計と物理がつながる場所。　図の要点：容量が十分なら費用も価格も一定／絞るほど費用が増える／LMP は混雑した瞬間から跳ね上がる／14.0 → 36.5 千円/MWh（2.6 倍）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kpi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講義全体の構造がここで見える。第4〜8回の物理が、第13〜14回の運用を支えている。　図の要点：状態推定で今を知る（第13回）／N-1 で危ない箇所を洗い出す／OPF で制約を守る最安の配分／ELD / LFC で発電機へ指令（第8回）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blocks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直感に反して「安い機の出力が少ない」。傾き（c）が急だからで、ここが等 λ の面白いところ。</a:t>
            </a:r>
          </a:p>
          <a:p/>
          <a:p>
            <a:r>
              <a:t>_class: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figure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takeaway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>
                <a:ea typeface="Hiragino Sans"/>
                <a:cs typeface="Hiragino Sans"/>
              </a:rPr>
              <a:t>Click to edit Master subtitle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ea typeface="Hiragino Sans"/>
                <a:cs typeface="Hiragino Sans"/>
              </a:defRPr>
            </a:lvl1pPr>
            <a:lvl2pPr>
              <a:defRPr sz="2400">
                <a:ea typeface="Hiragino Sans"/>
                <a:cs typeface="Hiragino Sans"/>
              </a:defRPr>
            </a:lvl2pPr>
            <a:lvl3pPr>
              <a:defRPr sz="2000">
                <a:ea typeface="Hiragino Sans"/>
                <a:cs typeface="Hiragino Sans"/>
              </a:defRPr>
            </a:lvl3pPr>
            <a:lvl4pPr>
              <a:defRPr sz="1800">
                <a:ea typeface="Hiragino Sans"/>
                <a:cs typeface="Hiragino Sans"/>
              </a:defRPr>
            </a:lvl4pPr>
            <a:lvl5pPr>
              <a:defRPr sz="1800">
                <a:ea typeface="Hiragino Sans"/>
                <a:cs typeface="Hiragino Sans"/>
              </a:defRPr>
            </a:lvl5pPr>
            <a:lvl6pPr>
              <a:defRPr sz="1800">
                <a:ea typeface="Hiragino Sans"/>
                <a:cs typeface="Hiragino Sans"/>
              </a:defRPr>
            </a:lvl6pPr>
            <a:lvl7pPr>
              <a:defRPr sz="1800">
                <a:ea typeface="Hiragino Sans"/>
                <a:cs typeface="Hiragino Sans"/>
              </a:defRPr>
            </a:lvl7pPr>
            <a:lvl8pPr>
              <a:defRPr sz="1800">
                <a:ea typeface="Hiragino Sans"/>
                <a:cs typeface="Hiragino Sans"/>
              </a:defRPr>
            </a:lvl8pPr>
            <a:lvl9pPr>
              <a:defRPr sz="18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ea typeface="Hiragino Sans"/>
                <a:cs typeface="Hiragino Sans"/>
              </a:defRPr>
            </a:lvl1pPr>
            <a:lvl2pPr>
              <a:defRPr sz="2400">
                <a:ea typeface="Hiragino Sans"/>
                <a:cs typeface="Hiragino Sans"/>
              </a:defRPr>
            </a:lvl2pPr>
            <a:lvl3pPr>
              <a:defRPr sz="2000">
                <a:ea typeface="Hiragino Sans"/>
                <a:cs typeface="Hiragino Sans"/>
              </a:defRPr>
            </a:lvl3pPr>
            <a:lvl4pPr>
              <a:defRPr sz="1800">
                <a:ea typeface="Hiragino Sans"/>
                <a:cs typeface="Hiragino Sans"/>
              </a:defRPr>
            </a:lvl4pPr>
            <a:lvl5pPr>
              <a:defRPr sz="1800">
                <a:ea typeface="Hiragino Sans"/>
                <a:cs typeface="Hiragino Sans"/>
              </a:defRPr>
            </a:lvl5pPr>
            <a:lvl6pPr>
              <a:defRPr sz="1800">
                <a:ea typeface="Hiragino Sans"/>
                <a:cs typeface="Hiragino Sans"/>
              </a:defRPr>
            </a:lvl6pPr>
            <a:lvl7pPr>
              <a:defRPr sz="1800">
                <a:ea typeface="Hiragino Sans"/>
                <a:cs typeface="Hiragino Sans"/>
              </a:defRPr>
            </a:lvl7pPr>
            <a:lvl8pPr>
              <a:defRPr sz="1800">
                <a:ea typeface="Hiragino Sans"/>
                <a:cs typeface="Hiragino Sans"/>
              </a:defRPr>
            </a:lvl8pPr>
            <a:lvl9pPr>
              <a:defRPr sz="18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a typeface="Hiragino Sans"/>
                <a:cs typeface="Hiragino Sans"/>
              </a:defRPr>
            </a:lvl1pPr>
            <a:lvl2pPr marL="457200" indent="0">
              <a:buNone/>
              <a:defRPr sz="2000" b="1">
                <a:ea typeface="Hiragino Sans"/>
                <a:cs typeface="Hiragino Sans"/>
              </a:defRPr>
            </a:lvl2pPr>
            <a:lvl3pPr marL="914400" indent="0">
              <a:buNone/>
              <a:defRPr sz="1800" b="1">
                <a:ea typeface="Hiragino Sans"/>
                <a:cs typeface="Hiragino Sans"/>
              </a:defRPr>
            </a:lvl3pPr>
            <a:lvl4pPr marL="1371600" indent="0">
              <a:buNone/>
              <a:defRPr sz="1600" b="1">
                <a:ea typeface="Hiragino Sans"/>
                <a:cs typeface="Hiragino Sans"/>
              </a:defRPr>
            </a:lvl4pPr>
            <a:lvl5pPr marL="1828800" indent="0">
              <a:buNone/>
              <a:defRPr sz="1600" b="1">
                <a:ea typeface="Hiragino Sans"/>
                <a:cs typeface="Hiragino Sans"/>
              </a:defRPr>
            </a:lvl5pPr>
            <a:lvl6pPr marL="2286000" indent="0">
              <a:buNone/>
              <a:defRPr sz="1600" b="1">
                <a:ea typeface="Hiragino Sans"/>
                <a:cs typeface="Hiragino Sans"/>
              </a:defRPr>
            </a:lvl6pPr>
            <a:lvl7pPr marL="2743200" indent="0">
              <a:buNone/>
              <a:defRPr sz="1600" b="1">
                <a:ea typeface="Hiragino Sans"/>
                <a:cs typeface="Hiragino Sans"/>
              </a:defRPr>
            </a:lvl7pPr>
            <a:lvl8pPr marL="3200400" indent="0">
              <a:buNone/>
              <a:defRPr sz="1600" b="1">
                <a:ea typeface="Hiragino Sans"/>
                <a:cs typeface="Hiragino Sans"/>
              </a:defRPr>
            </a:lvl8pPr>
            <a:lvl9pPr marL="3657600" indent="0">
              <a:buNone/>
              <a:defRPr sz="1600" b="1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ea typeface="Hiragino Sans"/>
                <a:cs typeface="Hiragino Sans"/>
              </a:defRPr>
            </a:lvl1pPr>
            <a:lvl2pPr>
              <a:defRPr sz="2000">
                <a:ea typeface="Hiragino Sans"/>
                <a:cs typeface="Hiragino Sans"/>
              </a:defRPr>
            </a:lvl2pPr>
            <a:lvl3pPr>
              <a:defRPr sz="1800">
                <a:ea typeface="Hiragino Sans"/>
                <a:cs typeface="Hiragino Sans"/>
              </a:defRPr>
            </a:lvl3pPr>
            <a:lvl4pPr>
              <a:defRPr sz="1600">
                <a:ea typeface="Hiragino Sans"/>
                <a:cs typeface="Hiragino Sans"/>
              </a:defRPr>
            </a:lvl4pPr>
            <a:lvl5pPr>
              <a:defRPr sz="1600">
                <a:ea typeface="Hiragino Sans"/>
                <a:cs typeface="Hiragino Sans"/>
              </a:defRPr>
            </a:lvl5pPr>
            <a:lvl6pPr>
              <a:defRPr sz="1600">
                <a:ea typeface="Hiragino Sans"/>
                <a:cs typeface="Hiragino Sans"/>
              </a:defRPr>
            </a:lvl6pPr>
            <a:lvl7pPr>
              <a:defRPr sz="1600">
                <a:ea typeface="Hiragino Sans"/>
                <a:cs typeface="Hiragino Sans"/>
              </a:defRPr>
            </a:lvl7pPr>
            <a:lvl8pPr>
              <a:defRPr sz="1600">
                <a:ea typeface="Hiragino Sans"/>
                <a:cs typeface="Hiragino Sans"/>
              </a:defRPr>
            </a:lvl8pPr>
            <a:lvl9pPr>
              <a:defRPr sz="16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a typeface="Hiragino Sans"/>
                <a:cs typeface="Hiragino Sans"/>
              </a:defRPr>
            </a:lvl1pPr>
            <a:lvl2pPr marL="457200" indent="0">
              <a:buNone/>
              <a:defRPr sz="2000" b="1">
                <a:ea typeface="Hiragino Sans"/>
                <a:cs typeface="Hiragino Sans"/>
              </a:defRPr>
            </a:lvl2pPr>
            <a:lvl3pPr marL="914400" indent="0">
              <a:buNone/>
              <a:defRPr sz="1800" b="1">
                <a:ea typeface="Hiragino Sans"/>
                <a:cs typeface="Hiragino Sans"/>
              </a:defRPr>
            </a:lvl3pPr>
            <a:lvl4pPr marL="1371600" indent="0">
              <a:buNone/>
              <a:defRPr sz="1600" b="1">
                <a:ea typeface="Hiragino Sans"/>
                <a:cs typeface="Hiragino Sans"/>
              </a:defRPr>
            </a:lvl4pPr>
            <a:lvl5pPr marL="1828800" indent="0">
              <a:buNone/>
              <a:defRPr sz="1600" b="1">
                <a:ea typeface="Hiragino Sans"/>
                <a:cs typeface="Hiragino Sans"/>
              </a:defRPr>
            </a:lvl5pPr>
            <a:lvl6pPr marL="2286000" indent="0">
              <a:buNone/>
              <a:defRPr sz="1600" b="1">
                <a:ea typeface="Hiragino Sans"/>
                <a:cs typeface="Hiragino Sans"/>
              </a:defRPr>
            </a:lvl6pPr>
            <a:lvl7pPr marL="2743200" indent="0">
              <a:buNone/>
              <a:defRPr sz="1600" b="1">
                <a:ea typeface="Hiragino Sans"/>
                <a:cs typeface="Hiragino Sans"/>
              </a:defRPr>
            </a:lvl7pPr>
            <a:lvl8pPr marL="3200400" indent="0">
              <a:buNone/>
              <a:defRPr sz="1600" b="1">
                <a:ea typeface="Hiragino Sans"/>
                <a:cs typeface="Hiragino Sans"/>
              </a:defRPr>
            </a:lvl8pPr>
            <a:lvl9pPr marL="3657600" indent="0">
              <a:buNone/>
              <a:defRPr sz="1600" b="1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ea typeface="Hiragino Sans"/>
                <a:cs typeface="Hiragino Sans"/>
              </a:defRPr>
            </a:lvl1pPr>
            <a:lvl2pPr>
              <a:defRPr sz="2000">
                <a:ea typeface="Hiragino Sans"/>
                <a:cs typeface="Hiragino Sans"/>
              </a:defRPr>
            </a:lvl2pPr>
            <a:lvl3pPr>
              <a:defRPr sz="1800">
                <a:ea typeface="Hiragino Sans"/>
                <a:cs typeface="Hiragino Sans"/>
              </a:defRPr>
            </a:lvl3pPr>
            <a:lvl4pPr>
              <a:defRPr sz="1600">
                <a:ea typeface="Hiragino Sans"/>
                <a:cs typeface="Hiragino Sans"/>
              </a:defRPr>
            </a:lvl4pPr>
            <a:lvl5pPr>
              <a:defRPr sz="1600">
                <a:ea typeface="Hiragino Sans"/>
                <a:cs typeface="Hiragino Sans"/>
              </a:defRPr>
            </a:lvl5pPr>
            <a:lvl6pPr>
              <a:defRPr sz="1600">
                <a:ea typeface="Hiragino Sans"/>
                <a:cs typeface="Hiragino Sans"/>
              </a:defRPr>
            </a:lvl6pPr>
            <a:lvl7pPr>
              <a:defRPr sz="1600">
                <a:ea typeface="Hiragino Sans"/>
                <a:cs typeface="Hiragino Sans"/>
              </a:defRPr>
            </a:lvl7pPr>
            <a:lvl8pPr>
              <a:defRPr sz="1600">
                <a:ea typeface="Hiragino Sans"/>
                <a:cs typeface="Hiragino Sans"/>
              </a:defRPr>
            </a:lvl8pPr>
            <a:lvl9pPr>
              <a:defRPr sz="16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ea typeface="Hiragino Sans"/>
                <a:cs typeface="Hiragino Sans"/>
              </a:defRPr>
            </a:lvl1pPr>
            <a:lvl2pPr>
              <a:defRPr sz="2800">
                <a:ea typeface="Hiragino Sans"/>
                <a:cs typeface="Hiragino Sans"/>
              </a:defRPr>
            </a:lvl2pPr>
            <a:lvl3pPr>
              <a:defRPr sz="2400">
                <a:ea typeface="Hiragino Sans"/>
                <a:cs typeface="Hiragino Sans"/>
              </a:defRPr>
            </a:lvl3pPr>
            <a:lvl4pPr>
              <a:defRPr sz="2000">
                <a:ea typeface="Hiragino Sans"/>
                <a:cs typeface="Hiragino Sans"/>
              </a:defRPr>
            </a:lvl4pPr>
            <a:lvl5pPr>
              <a:defRPr sz="2000">
                <a:ea typeface="Hiragino Sans"/>
                <a:cs typeface="Hiragino Sans"/>
              </a:defRPr>
            </a:lvl5pPr>
            <a:lvl6pPr>
              <a:defRPr sz="2000">
                <a:ea typeface="Hiragino Sans"/>
                <a:cs typeface="Hiragino Sans"/>
              </a:defRPr>
            </a:lvl6pPr>
            <a:lvl7pPr>
              <a:defRPr sz="2000">
                <a:ea typeface="Hiragino Sans"/>
                <a:cs typeface="Hiragino Sans"/>
              </a:defRPr>
            </a:lvl7pPr>
            <a:lvl8pPr>
              <a:defRPr sz="2000">
                <a:ea typeface="Hiragino Sans"/>
                <a:cs typeface="Hiragino Sans"/>
              </a:defRPr>
            </a:lvl8pPr>
            <a:lvl9pPr>
              <a:defRPr sz="20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ea typeface="Hiragino Sans"/>
                <a:cs typeface="Hiragino Sans"/>
              </a:defRPr>
            </a:lvl1pPr>
            <a:lvl2pPr marL="457200" indent="0">
              <a:buNone/>
              <a:defRPr sz="1200">
                <a:ea typeface="Hiragino Sans"/>
                <a:cs typeface="Hiragino Sans"/>
              </a:defRPr>
            </a:lvl2pPr>
            <a:lvl3pPr marL="914400" indent="0">
              <a:buNone/>
              <a:defRPr sz="1000">
                <a:ea typeface="Hiragino Sans"/>
                <a:cs typeface="Hiragino Sans"/>
              </a:defRPr>
            </a:lvl3pPr>
            <a:lvl4pPr marL="1371600" indent="0">
              <a:buNone/>
              <a:defRPr sz="900">
                <a:ea typeface="Hiragino Sans"/>
                <a:cs typeface="Hiragino Sans"/>
              </a:defRPr>
            </a:lvl4pPr>
            <a:lvl5pPr marL="1828800" indent="0">
              <a:buNone/>
              <a:defRPr sz="900">
                <a:ea typeface="Hiragino Sans"/>
                <a:cs typeface="Hiragino Sans"/>
              </a:defRPr>
            </a:lvl5pPr>
            <a:lvl6pPr marL="2286000" indent="0">
              <a:buNone/>
              <a:defRPr sz="900">
                <a:ea typeface="Hiragino Sans"/>
                <a:cs typeface="Hiragino Sans"/>
              </a:defRPr>
            </a:lvl6pPr>
            <a:lvl7pPr marL="2743200" indent="0">
              <a:buNone/>
              <a:defRPr sz="900">
                <a:ea typeface="Hiragino Sans"/>
                <a:cs typeface="Hiragino Sans"/>
              </a:defRPr>
            </a:lvl7pPr>
            <a:lvl8pPr marL="3200400" indent="0">
              <a:buNone/>
              <a:defRPr sz="900">
                <a:ea typeface="Hiragino Sans"/>
                <a:cs typeface="Hiragino Sans"/>
              </a:defRPr>
            </a:lvl8pPr>
            <a:lvl9pPr marL="3657600" indent="0">
              <a:buNone/>
              <a:defRPr sz="9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ea typeface="Hiragino Sans"/>
                <a:cs typeface="Hiragino Sans"/>
              </a:defRPr>
            </a:lvl1pPr>
            <a:lvl2pPr marL="457200" indent="0">
              <a:buNone/>
              <a:defRPr sz="2800">
                <a:ea typeface="Hiragino Sans"/>
                <a:cs typeface="Hiragino Sans"/>
              </a:defRPr>
            </a:lvl2pPr>
            <a:lvl3pPr marL="914400" indent="0">
              <a:buNone/>
              <a:defRPr sz="2400">
                <a:ea typeface="Hiragino Sans"/>
                <a:cs typeface="Hiragino Sans"/>
              </a:defRPr>
            </a:lvl3pPr>
            <a:lvl4pPr marL="1371600" indent="0">
              <a:buNone/>
              <a:defRPr sz="2000">
                <a:ea typeface="Hiragino Sans"/>
                <a:cs typeface="Hiragino Sans"/>
              </a:defRPr>
            </a:lvl4pPr>
            <a:lvl5pPr marL="1828800" indent="0">
              <a:buNone/>
              <a:defRPr sz="2000">
                <a:ea typeface="Hiragino Sans"/>
                <a:cs typeface="Hiragino Sans"/>
              </a:defRPr>
            </a:lvl5pPr>
            <a:lvl6pPr marL="2286000" indent="0">
              <a:buNone/>
              <a:defRPr sz="2000">
                <a:ea typeface="Hiragino Sans"/>
                <a:cs typeface="Hiragino Sans"/>
              </a:defRPr>
            </a:lvl6pPr>
            <a:lvl7pPr marL="2743200" indent="0">
              <a:buNone/>
              <a:defRPr sz="2000">
                <a:ea typeface="Hiragino Sans"/>
                <a:cs typeface="Hiragino Sans"/>
              </a:defRPr>
            </a:lvl7pPr>
            <a:lvl8pPr marL="3200400" indent="0">
              <a:buNone/>
              <a:defRPr sz="2000">
                <a:ea typeface="Hiragino Sans"/>
                <a:cs typeface="Hiragino Sans"/>
              </a:defRPr>
            </a:lvl8pPr>
            <a:lvl9pPr marL="3657600" indent="0">
              <a:buNone/>
              <a:defRPr sz="2000">
                <a:ea typeface="Hiragino Sans"/>
                <a:cs typeface="Hiragino Sans"/>
              </a:defRPr>
            </a:lvl9pPr>
          </a:lstStyle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ea typeface="Hiragino Sans"/>
                <a:cs typeface="Hiragino Sans"/>
              </a:defRPr>
            </a:lvl1pPr>
            <a:lvl2pPr marL="457200" indent="0">
              <a:buNone/>
              <a:defRPr sz="1200">
                <a:ea typeface="Hiragino Sans"/>
                <a:cs typeface="Hiragino Sans"/>
              </a:defRPr>
            </a:lvl2pPr>
            <a:lvl3pPr marL="914400" indent="0">
              <a:buNone/>
              <a:defRPr sz="1000">
                <a:ea typeface="Hiragino Sans"/>
                <a:cs typeface="Hiragino Sans"/>
              </a:defRPr>
            </a:lvl3pPr>
            <a:lvl4pPr marL="1371600" indent="0">
              <a:buNone/>
              <a:defRPr sz="900">
                <a:ea typeface="Hiragino Sans"/>
                <a:cs typeface="Hiragino Sans"/>
              </a:defRPr>
            </a:lvl4pPr>
            <a:lvl5pPr marL="1828800" indent="0">
              <a:buNone/>
              <a:defRPr sz="900">
                <a:ea typeface="Hiragino Sans"/>
                <a:cs typeface="Hiragino Sans"/>
              </a:defRPr>
            </a:lvl5pPr>
            <a:lvl6pPr marL="2286000" indent="0">
              <a:buNone/>
              <a:defRPr sz="900">
                <a:ea typeface="Hiragino Sans"/>
                <a:cs typeface="Hiragino Sans"/>
              </a:defRPr>
            </a:lvl6pPr>
            <a:lvl7pPr marL="2743200" indent="0">
              <a:buNone/>
              <a:defRPr sz="900">
                <a:ea typeface="Hiragino Sans"/>
                <a:cs typeface="Hiragino Sans"/>
              </a:defRPr>
            </a:lvl7pPr>
            <a:lvl8pPr marL="3200400" indent="0">
              <a:buNone/>
              <a:defRPr sz="900">
                <a:ea typeface="Hiragino Sans"/>
                <a:cs typeface="Hiragino Sans"/>
              </a:defRPr>
            </a:lvl8pPr>
            <a:lvl9pPr marL="3657600" indent="0">
              <a:buNone/>
              <a:defRPr sz="9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Hiragino Sans"/>
          <a:cs typeface="Hiragino San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Hiragino Sans"/>
          <a:cs typeface="Hiragino San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Hiragino Sans"/>
          <a:cs typeface="Hiragino San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Hiragino Sans"/>
          <a:cs typeface="Hiragino San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9pPr>
    </p:bodyStyle>
    <p:otherStyle>
      <a:defPPr>
        <a:defRPr lang="en-US">
          <a:ea typeface="Hiragino Sans"/>
          <a:cs typeface="Hiragino Sans"/>
        </a:defRPr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19.xml"/><Relationship Id="rId6" Type="http://schemas.openxmlformats.org/officeDocument/2006/relationships/slide" Target="slide2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92927" y="2889504"/>
            <a:ext cx="1005840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054096"/>
            <a:ext cx="10728655" cy="18173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6000"/>
              </a:lnSpc>
              <a:defRPr sz="54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第14回 系統最適化と市場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100066"/>
            <a:ext cx="9997135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800">
                <a:solidFill>
                  <a:srgbClr val="EBE0DF"/>
                </a:solidFill>
                <a:latin typeface="Avenir Next"/>
                <a:ea typeface="Hiragino Sans"/>
                <a:cs typeface="Hiragino Sans"/>
              </a:rPr>
              <a:t>重信颯人（福井大学）／ Day 4・コマ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38647" y="2330958"/>
            <a:ext cx="91440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586990"/>
            <a:ext cx="9997135" cy="17754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rPr>
              <a:t>発電機を安い順に使うのが経済負荷配分で、最適条件は「限界費用 λ が全機で等しい」。制約を足すと OPF になり、混雑があると地点ごとに価格が分かれる。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 / 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この回の全体像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一枚で｜問い → 課題 → 道具 → 到達点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29232"/>
            <a:ext cx="11057839" cy="112845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4728" y="1907032"/>
            <a:ext cx="10702239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964136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問い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4728" y="2268728"/>
            <a:ext cx="10702239" cy="4111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発電機が何台もある。</a:t>
            </a: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どれをどれだけ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動かせば燃料費が最小になるのか。送電線が詰まったらどうなるのか。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022282"/>
            <a:ext cx="3082442" cy="2613724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4728" y="3200082"/>
            <a:ext cx="2726842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964136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課題</a:t>
            </a:r>
          </a:p>
        </p:txBody>
      </p:sp>
      <p:pic>
        <p:nvPicPr>
          <p:cNvPr id="9" name="Picture 8" descr="ch14_cost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728" y="3561778"/>
            <a:ext cx="2726841" cy="104514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4728" y="4683121"/>
            <a:ext cx="2726842" cy="77508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機ごとに費用の形が違う。</a:t>
            </a:r>
          </a:p>
        </p:txBody>
      </p:sp>
      <p:sp>
        <p:nvSpPr>
          <p:cNvPr id="11" name="Chevron 10"/>
          <p:cNvSpPr/>
          <p:nvPr/>
        </p:nvSpPr>
        <p:spPr>
          <a:xfrm>
            <a:off x="3850538" y="4125944"/>
            <a:ext cx="502920" cy="406400"/>
          </a:xfrm>
          <a:prstGeom prst="chevron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54626" y="3022282"/>
            <a:ext cx="3082442" cy="2613724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19050">
            <a:solidFill>
              <a:srgbClr val="B85042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2426" y="3200082"/>
            <a:ext cx="2726842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964136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道具</a:t>
            </a:r>
          </a:p>
        </p:txBody>
      </p:sp>
      <p:pic>
        <p:nvPicPr>
          <p:cNvPr id="14" name="Picture 13" descr="ch14_equal_lamb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110" y="3561778"/>
            <a:ext cx="2481473" cy="97726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32426" y="4615244"/>
            <a:ext cx="2726842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125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等 λ 法 ▶ OPF ▶ LMP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2426" y="5072444"/>
            <a:ext cx="2726842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限界費用を </a:t>
            </a:r>
            <a:r>
              <a:rPr sz="1500">
                <a:solidFill>
                  <a:srgbClr val="33221E"/>
                </a:solidFill>
                <a:highlight>
                  <a:srgbClr val="EBCECA"/>
                </a:highlight>
                <a:latin typeface="Avenir Next"/>
                <a:ea typeface="Hiragino Sans"/>
                <a:cs typeface="Hiragino Sans"/>
              </a:rPr>
              <a:t>揃える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 。</a:t>
            </a:r>
          </a:p>
        </p:txBody>
      </p:sp>
      <p:sp>
        <p:nvSpPr>
          <p:cNvPr id="17" name="Chevron 16"/>
          <p:cNvSpPr/>
          <p:nvPr/>
        </p:nvSpPr>
        <p:spPr>
          <a:xfrm>
            <a:off x="7838236" y="4125944"/>
            <a:ext cx="502920" cy="406400"/>
          </a:xfrm>
          <a:prstGeom prst="chevron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42324" y="3022282"/>
            <a:ext cx="3082442" cy="2613724"/>
          </a:xfrm>
          <a:prstGeom prst="roundRect">
            <a:avLst>
              <a:gd name="adj" fmla="val 3500"/>
            </a:avLst>
          </a:prstGeom>
          <a:solidFill>
            <a:srgbClr val="7C3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0124" y="3200082"/>
            <a:ext cx="2726842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到達点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0124" y="3561778"/>
            <a:ext cx="2726842" cy="80327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5059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2.6 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0124" y="4365052"/>
            <a:ext cx="2726842" cy="10931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EBE0DF"/>
                </a:solidFill>
                <a:latin typeface="Avenir Next"/>
                <a:ea typeface="Hiragino Sans"/>
                <a:cs typeface="Hiragino Sans"/>
              </a:rPr>
              <a:t>線路が混雑すると、地点価格が 14.0 → 36.5 千円/MWh に。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745734"/>
            <a:ext cx="11057839" cy="42646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数値はすべて本資料の Python コード（コード/fig_ch14.py）で計算。3 機の経済負荷配分と 3 母線の DC-OPF。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 / 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現場で起きたこと — 価格は「限界」で決まる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578735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2021年1月 スポット価格が 200 円/kWh を超えた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70835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日本卸電力取引所（JEPX）のスポット市場は、安い電源から順に積み上げて需要と交わる点で価格が決まる。寒波と LNG 在庫不足で </a:t>
            </a:r>
            <a:r>
              <a:rPr sz="1500">
                <a:solidFill>
                  <a:srgbClr val="33221E"/>
                </a:solidFill>
                <a:highlight>
                  <a:srgbClr val="EBCECA"/>
                </a:highlight>
                <a:latin typeface="Avenir Next"/>
                <a:ea typeface="Hiragino Sans"/>
                <a:cs typeface="Hiragino Sans"/>
              </a:rPr>
              <a:t>高い電源まで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 使う日が続き、価格は平時の 10 倍以上に跳ねた。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718052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895344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地点で違う価格 — 米国 PJM の LMP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87444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送電線が混雑すると、安い電気を運びきれない地点では高い電源で賄うしかなく、その地点の価格（地点別限界価格 LMP）が上がる。沖縄は他地域と連系がなく市場取引もないため、沖縄電力が自社内で経済負荷配分を行う。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4 / 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たとえ話 — つながった水槽と渋滞</a:t>
            </a:r>
          </a:p>
        </p:txBody>
      </p:sp>
      <p:pic>
        <p:nvPicPr>
          <p:cNvPr id="3" name="Picture 2" descr="ch14_an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16" y="713232"/>
            <a:ext cx="11176863" cy="532231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たとえ話が崩れる点も押さえておく。水槽は独立に上限があるだけだが、発電機は起動・停止に時間と費用がかかる。それを扱うのがユニットコミットメント（UC）である。　出典｜コード/fig_ch14.py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5 / 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この回の地図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627632"/>
            <a:ext cx="822960" cy="1051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01</a:t>
            </a:r>
          </a:p>
        </p:txBody>
      </p:sp>
      <p:sp>
        <p:nvSpPr>
          <p:cNvPr id="4" name="agenda:item:0"/>
          <p:cNvSpPr txBox="1"/>
          <p:nvPr/>
        </p:nvSpPr>
        <p:spPr>
          <a:xfrm>
            <a:off x="1572768" y="1627632"/>
            <a:ext cx="1005199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33221E"/>
                </a:solidFill>
                <a:latin typeface="Avenir Next"/>
                <a:ea typeface="Hiragino Sans"/>
                <a:cs typeface="Hiragino Sans"/>
              </a:defRPr>
            </a:pPr>
            <a:r>
              <a:rPr u="none">
                <a:ea typeface="Hiragino Sans"/>
                <a:cs typeface="Hiragino Sans"/>
                <a:hlinkClick r:id="rId3" action="ppaction://hlinksldjump"/>
              </a:rPr>
              <a:t>経済負荷配分（ELD）と等 λ 法 — なぜ「等しい」が最適か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666492"/>
            <a:ext cx="11057839" cy="9525"/>
          </a:xfrm>
          <a:prstGeom prst="rect">
            <a:avLst/>
          </a:prstGeom>
          <a:solidFill>
            <a:srgbClr val="DF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679192"/>
            <a:ext cx="822960" cy="1051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02</a:t>
            </a:r>
          </a:p>
        </p:txBody>
      </p:sp>
      <p:sp>
        <p:nvSpPr>
          <p:cNvPr id="7" name="agenda:item:1"/>
          <p:cNvSpPr txBox="1"/>
          <p:nvPr/>
        </p:nvSpPr>
        <p:spPr>
          <a:xfrm>
            <a:off x="1572768" y="2679192"/>
            <a:ext cx="1005199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33221E"/>
                </a:solidFill>
                <a:latin typeface="Avenir Next"/>
                <a:ea typeface="Hiragino Sans"/>
                <a:cs typeface="Hiragino Sans"/>
              </a:defRPr>
            </a:pPr>
            <a:r>
              <a:rPr u="none">
                <a:ea typeface="Hiragino Sans"/>
                <a:cs typeface="Hiragino Sans"/>
                <a:hlinkClick r:id="rId4" action="ppaction://hlinksldjump"/>
              </a:rPr>
              <a:t>市場のメリットオーダーと価格の決まり方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718052"/>
            <a:ext cx="11057839" cy="9525"/>
          </a:xfrm>
          <a:prstGeom prst="rect">
            <a:avLst/>
          </a:prstGeom>
          <a:solidFill>
            <a:srgbClr val="DF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730752"/>
            <a:ext cx="822960" cy="1051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03</a:t>
            </a:r>
          </a:p>
        </p:txBody>
      </p:sp>
      <p:sp>
        <p:nvSpPr>
          <p:cNvPr id="10" name="agenda:item:2"/>
          <p:cNvSpPr txBox="1"/>
          <p:nvPr/>
        </p:nvSpPr>
        <p:spPr>
          <a:xfrm>
            <a:off x="1572768" y="3730752"/>
            <a:ext cx="1005199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33221E"/>
                </a:solidFill>
                <a:latin typeface="Avenir Next"/>
                <a:ea typeface="Hiragino Sans"/>
                <a:cs typeface="Hiragino Sans"/>
              </a:defRPr>
            </a:pPr>
            <a:r>
              <a:rPr u="none">
                <a:ea typeface="Hiragino Sans"/>
                <a:cs typeface="Hiragino Sans"/>
                <a:hlinkClick r:id="rId5" action="ppaction://hlinksldjump"/>
              </a:rPr>
              <a:t>OPF と DC-OPF — 制約を足すとどうなるか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769612"/>
            <a:ext cx="11057839" cy="9525"/>
          </a:xfrm>
          <a:prstGeom prst="rect">
            <a:avLst/>
          </a:prstGeom>
          <a:solidFill>
            <a:srgbClr val="DF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782312"/>
            <a:ext cx="822960" cy="1051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04</a:t>
            </a:r>
          </a:p>
        </p:txBody>
      </p:sp>
      <p:sp>
        <p:nvSpPr>
          <p:cNvPr id="13" name="agenda:item:3"/>
          <p:cNvSpPr txBox="1"/>
          <p:nvPr/>
        </p:nvSpPr>
        <p:spPr>
          <a:xfrm>
            <a:off x="1572768" y="4782312"/>
            <a:ext cx="1005199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33221E"/>
                </a:solidFill>
                <a:latin typeface="Avenir Next"/>
                <a:ea typeface="Hiragino Sans"/>
                <a:cs typeface="Hiragino Sans"/>
              </a:defRPr>
            </a:pPr>
            <a:r>
              <a:rPr u="none">
                <a:ea typeface="Hiragino Sans"/>
                <a:cs typeface="Hiragino Sans"/>
                <a:hlinkClick r:id="rId6" action="ppaction://hlinksldjump"/>
              </a:rPr>
              <a:t>LMP と混雑、そして EMS の中での位置づけ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6 / 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:ghost-number"/>
          <p:cNvSpPr txBox="1"/>
          <p:nvPr/>
        </p:nvSpPr>
        <p:spPr>
          <a:xfrm>
            <a:off x="777240" y="777240"/>
            <a:ext cx="4572000" cy="2381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FE6E5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A03A2E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5721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Ⅰ. 経済負荷配分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321175"/>
            <a:ext cx="6400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31487"/>
            <a:ext cx="10362895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なぜ「限界費用を揃える」のが最適か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7 / 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費用曲線と限界費用</a:t>
            </a:r>
          </a:p>
        </p:txBody>
      </p:sp>
      <p:pic>
        <p:nvPicPr>
          <p:cNvPr id="3" name="Picture 2" descr="ch14_cost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30495"/>
            <a:ext cx="11734495" cy="4497594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300216"/>
            <a:ext cx="1173449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出力を上げるほど限界費用が上がるので、「安い機を全部使う」のが最適とは限らない。　出典｜コード/fig_ch14.py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8 / 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等 λ 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229993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① 問題を書く｜総費用を最小に、需給は一致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22093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min Σ C_i(P_i)、条件 Σ P_i = D。制約付き最小化なのでラグランジュの未定乗数法を使う。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059747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ild:ghost"/>
          <p:cNvSpPr txBox="1"/>
          <p:nvPr/>
        </p:nvSpPr>
        <p:spPr>
          <a:xfrm>
            <a:off x="566928" y="3237039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C1C9C5"/>
                </a:solidFill>
                <a:latin typeface="Avenir Next"/>
                <a:ea typeface="Hiragino Sans"/>
                <a:cs typeface="Hiragino Sans"/>
              </a:rPr>
              <a:t>② 微分する｜L = Σ C_i(P_i) − λ(Σ P_i − D)</a:t>
            </a:r>
          </a:p>
        </p:txBody>
      </p:sp>
      <p:sp>
        <p:nvSpPr>
          <p:cNvPr id="7" name="build:ghost"/>
          <p:cNvSpPr txBox="1"/>
          <p:nvPr/>
        </p:nvSpPr>
        <p:spPr>
          <a:xfrm>
            <a:off x="822960" y="3529139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P_i で偏微分して 0 と置くと </a:t>
            </a:r>
            <a:r>
              <a:rPr sz="1500" b="1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dC_i/dP_i = λ</a:t>
            </a:r>
            <a:r>
              <a:rPr sz="1500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（すべての i で同じ）。これが等 λ 条件である。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066793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uild:ghost"/>
          <p:cNvSpPr txBox="1"/>
          <p:nvPr/>
        </p:nvSpPr>
        <p:spPr>
          <a:xfrm>
            <a:off x="566928" y="4244085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C1C9C5"/>
                </a:solidFill>
                <a:latin typeface="Avenir Next"/>
                <a:ea typeface="Hiragino Sans"/>
                <a:cs typeface="Hiragino Sans"/>
              </a:rPr>
              <a:t>③ 直感で確かめる｜λ が違えば動かす余地がある</a:t>
            </a:r>
          </a:p>
        </p:txBody>
      </p:sp>
      <p:sp>
        <p:nvSpPr>
          <p:cNvPr id="10" name="build:ghost"/>
          <p:cNvSpPr txBox="1"/>
          <p:nvPr/>
        </p:nvSpPr>
        <p:spPr>
          <a:xfrm>
            <a:off x="822960" y="4536185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もし機 1 の λ が機 2 より高ければ、機 1 を 1 MW 減らして機 2 を 1 MW 増やすだけで総費用が下がる。</a:t>
            </a:r>
            <a:r>
              <a:rPr sz="1500" b="1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下がらなくなる点が等しい点</a:t>
            </a:r>
            <a:r>
              <a:rPr sz="1500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。λ は「あと 1 MWh の値段」。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9 / 34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等 λ 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229993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① 問題を書く｜総費用を最小に、需給は一致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22093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min Σ C_i(P_i)、条件 Σ P_i = D。制約付き最小化なのでラグランジュの未定乗数法を使う。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059747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237039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② 微分する｜L = Σ C_i(P_i) − λ(Σ P_i − 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9139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P_i で偏微分して 0 と置くと </a:t>
            </a: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dC_i/dP_i = λ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（すべての i で同じ）。これが等 λ 条件である。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066793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uild:ghost"/>
          <p:cNvSpPr txBox="1"/>
          <p:nvPr/>
        </p:nvSpPr>
        <p:spPr>
          <a:xfrm>
            <a:off x="566928" y="4244085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C1C9C5"/>
                </a:solidFill>
                <a:latin typeface="Avenir Next"/>
                <a:ea typeface="Hiragino Sans"/>
                <a:cs typeface="Hiragino Sans"/>
              </a:rPr>
              <a:t>③ 直感で確かめる｜λ が違えば動かす余地がある</a:t>
            </a:r>
          </a:p>
        </p:txBody>
      </p:sp>
      <p:sp>
        <p:nvSpPr>
          <p:cNvPr id="10" name="build:ghost"/>
          <p:cNvSpPr txBox="1"/>
          <p:nvPr/>
        </p:nvSpPr>
        <p:spPr>
          <a:xfrm>
            <a:off x="822960" y="4536185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もし機 1 の λ が機 2 より高ければ、機 1 を 1 MW 減らして機 2 を 1 MW 増やすだけで総費用が下がる。</a:t>
            </a:r>
            <a:r>
              <a:rPr sz="1500" b="1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下がらなくなる点が等しい点</a:t>
            </a:r>
            <a:r>
              <a:rPr sz="1500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。λ は「あと 1 MWh の値段」。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10 / 34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等 λ 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229993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① 問題を書く｜総費用を最小に、需給は一致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22093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min Σ C_i(P_i)、条件 Σ P_i = D。制約付き最小化なのでラグランジュの未定乗数法を使う。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059747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237039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② 微分する｜L = Σ C_i(P_i) − λ(Σ P_i − 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9139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P_i で偏微分して 0 と置くと </a:t>
            </a: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dC_i/dP_i = λ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（すべての i で同じ）。これが等 λ 条件である。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066793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4244085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③ 直感で確かめる｜λ が違えば動かす余地がある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36185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もし機 1 の λ が機 2 より高ければ、機 1 を 1 MW 減らして機 2 を 1 MW 増やすだけで総費用が下がる。</a:t>
            </a: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下がらなくなる点が等しい点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。λ は「あと 1 MWh の値段」。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11 / 34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等 λ で配分する</a:t>
            </a:r>
          </a:p>
        </p:txBody>
      </p:sp>
      <p:pic>
        <p:nvPicPr>
          <p:cNvPr id="3" name="Picture 2" descr="ch14_equal_lamb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68624"/>
            <a:ext cx="11734495" cy="4621335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300216"/>
            <a:ext cx="1173449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限界費用を「揃える」だけで年 10 億円の差になる。3 機でこれなら、数十機の系統では桁が変わる。　出典｜コード/fig_ch14.py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12 / 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λ をどう探すか — 二分法</a:t>
            </a:r>
          </a:p>
        </p:txBody>
      </p:sp>
      <p:pic>
        <p:nvPicPr>
          <p:cNvPr id="3" name="Picture 2" descr="ch14_lambda_it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90758"/>
            <a:ext cx="11734495" cy="4577067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300216"/>
            <a:ext cx="1173449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解くべきは λ という 1 変数の方程式。数十機あっても、探す相手は λ ただ 1 つである。　出典｜コード/fig_ch14.py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13 / 34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需要が増えると何が起きるか</a:t>
            </a:r>
          </a:p>
        </p:txBody>
      </p:sp>
      <p:pic>
        <p:nvPicPr>
          <p:cNvPr id="3" name="Picture 2" descr="ch14_dispatch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19809"/>
            <a:ext cx="11734495" cy="4518965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300216"/>
            <a:ext cx="1173449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λ は「その時点の需要 1 MWh あたりの値段」。これが市場価格の理論値になる。　出典｜コード/fig_ch14.py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14 / 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:ghost-number"/>
          <p:cNvSpPr txBox="1"/>
          <p:nvPr/>
        </p:nvSpPr>
        <p:spPr>
          <a:xfrm>
            <a:off x="777240" y="777240"/>
            <a:ext cx="4572000" cy="2381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FE6E5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A03A2E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5721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Ⅱ. 市場での価格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321175"/>
            <a:ext cx="6400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31487"/>
            <a:ext cx="10362895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メリットオーダーと約定価格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15 / 34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メリットオーダー — 安い順に積む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読み方｜横軸が累積の供給力、縦軸が限界費用。需要線と交わる高さが価格</a:t>
            </a:r>
          </a:p>
        </p:txBody>
      </p:sp>
      <p:pic>
        <p:nvPicPr>
          <p:cNvPr id="4" name="Picture 3" descr="ch14_merit_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3512"/>
            <a:ext cx="5850852" cy="3171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910201"/>
            <a:ext cx="5850852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出典｜コード/fig_ch14.py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01828" y="2629725"/>
            <a:ext cx="4822939" cy="165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再エネ・原子力 → 石炭 → LNG → 石油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需要 900 MW は LNG まで届く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約定価格は </a:t>
            </a:r>
            <a:r>
              <a:rPr sz="20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13 円/kWh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安い電源も同じ価格で売れる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482971"/>
            <a:ext cx="11057839" cy="62522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82971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609971"/>
            <a:ext cx="10600639" cy="3712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価格を決めるのは「最後の 1 台」。安い電源はその差額が利益になり、投資回収の原資になる。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16 / 34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需要が伸びると価格は階段状に跳ねる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読み方｜需要がどの電源まで届くかで、価格が段階的に変わる</a:t>
            </a:r>
          </a:p>
        </p:txBody>
      </p:sp>
      <p:pic>
        <p:nvPicPr>
          <p:cNvPr id="4" name="Picture 3" descr="ch14_price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3512"/>
            <a:ext cx="5660764" cy="3171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910201"/>
            <a:ext cx="5660764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出典｜コード/fig_ch14.py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11740" y="2629725"/>
            <a:ext cx="5013027" cy="165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軽負荷の夜：2 円/kWh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平常：8 円/kWh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猛暑日のピーク：30 円/kWh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段差は電源の切り替わり点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482971"/>
            <a:ext cx="11057839" cy="62522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82971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609971"/>
            <a:ext cx="10600639" cy="3712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2021 年 1 月に価格が 200 円を超えたのは、この階段の一番上まで需要が届いたから。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17 / 34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炭素価格は順位を入れ替える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読み方｜横軸が炭素価格、縦軸が燃料費＋炭素費用</a:t>
            </a:r>
          </a:p>
        </p:txBody>
      </p:sp>
      <p:pic>
        <p:nvPicPr>
          <p:cNvPr id="4" name="Picture 3" descr="ch14_carb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3512"/>
            <a:ext cx="5828803" cy="3171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910201"/>
            <a:ext cx="5828803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出典｜コード/fig_ch14.py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79779" y="2629725"/>
            <a:ext cx="4844988" cy="165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石炭は燃料が安いが CO₂ が多い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LNG は燃料が高いが CO₂ が半分以下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約 </a:t>
            </a:r>
            <a:r>
              <a:rPr sz="20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11,200 円/t-CO₂</a:t>
            </a: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 で逆転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そこを超えると LNG が先に焚かれる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482971"/>
            <a:ext cx="11057839" cy="62522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82971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609971"/>
            <a:ext cx="10600639" cy="3712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価格に環境コストを載せると、メリットオーダーそのものが変わる。制度が運用を動かす仕組み。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18 / 34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:ghost-number"/>
          <p:cNvSpPr txBox="1"/>
          <p:nvPr/>
        </p:nvSpPr>
        <p:spPr>
          <a:xfrm>
            <a:off x="777240" y="777240"/>
            <a:ext cx="4572000" cy="2381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FE6E5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A03A2E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5721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Ⅲ. 制約を足す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321175"/>
            <a:ext cx="6400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31487"/>
            <a:ext cx="10362895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ELD から OPF 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19 / 34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OPF — 潮流方程式と系統制約を足す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991868"/>
            <a:ext cx="11057839" cy="690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34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Para xmlns:m="http://schemas.openxmlformats.org/officeDocument/2006/math">
                <m:oMathParaPr>
                  <m:jc m:val="center"/>
                </m:oMathParaPr>
                <m:oMath>
                  <m:r>
                    <m:rPr>
                      <m:sty m:val="p"/>
                    </m:rPr>
                    <ns0:rPr xmlns:ns0="http://schemas.openxmlformats.org/wordprocessingml/2006/main">
                      <ns0:sz ns0:val="68"/>
                      <ns0:szCs ns0:val="68"/>
                    </ns0:rPr>
                    <m:t>min</m:t>
                  </m:r>
                  <m:nary>
                    <m:naryPr>
                      <m:chr m:val="∑"/>
                      <m:limLoc m:val="undOvr"/>
                      <m:subHide m:val="off"/>
                      <m:supHide m:val="on"/>
                    </m:naryPr>
                    <m:sub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i</m:t>
                      </m:r>
                    </m:sub>
                    <m:sup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​</m:t>
                      </m:r>
                    </m:sup>
                    <m:e>
                      <m:sSub>
                        <m:e>
                          <m:r>
                            <ns0:rPr xmlns:ns0="http://schemas.openxmlformats.org/wordprocessingml/2006/main">
                              <ns0:sz ns0:val="68"/>
                              <ns0:szCs ns0:val="68"/>
                            </ns0:rPr>
                            <m:t>C</m:t>
                          </m:r>
                        </m:e>
                        <m:sub>
                          <m:r>
                            <ns0:rPr xmlns:ns0="http://schemas.openxmlformats.org/wordprocessingml/2006/main">
                              <ns0:sz ns0:val="68"/>
                              <ns0:szCs ns0:val="68"/>
                            </ns0:rPr>
                            <m:t>i</m:t>
                          </m:r>
                        </m:sub>
                      </m:sSub>
                    </m:e>
                  </m:nary>
                  <m:r>
                    <m:rPr>
                      <m:sty m:val="p"/>
                    </m:rPr>
                    <ns0:rPr xmlns:ns0="http://schemas.openxmlformats.org/wordprocessingml/2006/main">
                      <ns0:sz ns0:val="68"/>
                      <ns0:szCs ns0:val="68"/>
                    </ns0:rPr>
                    <m:t>(</m:t>
                  </m:r>
                  <m:sSub>
                    <m:e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P</m:t>
                      </m:r>
                    </m:e>
                    <m:sub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G</m:t>
                      </m:r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i</m:t>
                      </m:r>
                    </m:sub>
                  </m:sSub>
                  <m:r>
                    <m:rPr>
                      <m:sty m:val="p"/>
                    </m:rPr>
                    <ns0:rPr xmlns:ns0="http://schemas.openxmlformats.org/wordprocessingml/2006/main">
                      <ns0:sz ns0:val="68"/>
                      <ns0:szCs ns0:val="68"/>
                    </ns0:rPr>
                    <m:t>)</m:t>
                  </m:r>
                  <m:r>
                    <ns0:rPr xmlns:ns0="http://schemas.openxmlformats.org/wordprocessingml/2006/main">
                      <ns0:sz ns0:val="68"/>
                      <ns0:szCs ns0:val="68"/>
                    </ns0:rPr>
                    <m:t> </m:t>
                  </m:r>
                  <m:r>
                    <m:rPr>
                      <m:nor/>
                      <m:sty m:val="p"/>
                    </m:rPr>
                    <ns0:rPr xmlns:ns0="http://schemas.openxmlformats.org/wordprocessingml/2006/main">
                      <ns0:sz ns0:val="68"/>
                      <ns0:szCs ns0:val="68"/>
                    </ns0:rPr>
                    <m:t>s.t.</m:t>
                  </m:r>
                  <m:r>
                    <ns0:rPr xmlns:ns0="http://schemas.openxmlformats.org/wordprocessingml/2006/main">
                      <ns0:sz ns0:val="68"/>
                      <ns0:szCs ns0:val="68"/>
                    </ns0:rPr>
                    <m:t> </m:t>
                  </m:r>
                  <m:d>
                    <m:dPr>
                      <m:begChr m:val="{"/>
                      <m:sepChr m:val=""/>
                      <m:endChr m:val=""/>
                      <m:grow/>
                    </m:dPr>
                    <m:e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lef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rPr>
                                <m:nor/>
                                <m:sty m:val="p"/>
                              </m:rPr>
                              <ns0:rPr xmlns:ns0="http://schemas.openxmlformats.org/wordprocessingml/2006/main">
                                <ns0:sz ns0:val="68"/>
                                <ns0:szCs ns0:val="68"/>
                              </ns0:rPr>
                              <m:t>潮流方程式（第4回）</m:t>
                            </m:r>
                          </m:e>
                        </m:mr>
                        <m:mr>
                          <m:e>
                            <m:sSubSup>
                              <m:e>
                                <m:r>
                                  <ns0:rPr xmlns:ns0="http://schemas.openxmlformats.org/wordprocessingml/2006/main">
                                    <ns0:sz ns0:val="68"/>
                                    <ns0:szCs ns0:val="68"/>
                                  </ns0:rPr>
                                  <m:t>P</m:t>
                                </m:r>
                              </m:e>
                              <m:sub>
                                <m:r>
                                  <ns0:rPr xmlns:ns0="http://schemas.openxmlformats.org/wordprocessingml/2006/main">
                                    <ns0:sz ns0:val="68"/>
                                    <ns0:szCs ns0:val="68"/>
                                  </ns0:rPr>
                                  <m:t>G</m:t>
                                </m:r>
                                <m:r>
                                  <ns0:rPr xmlns:ns0="http://schemas.openxmlformats.org/wordprocessingml/2006/main">
                                    <ns0:sz ns0:val="68"/>
                                    <ns0:szCs ns0:val="68"/>
                                  </ns0:rPr>
                                  <m:t>i</m:t>
                                </m:r>
                              </m:sub>
                              <m:sup>
                                <m:r>
                                  <m:rPr>
                                    <m:nor/>
                                    <m:sty m:val="p"/>
                                  </m:rPr>
                                  <ns0:rPr xmlns:ns0="http://schemas.openxmlformats.org/wordprocessingml/2006/main">
                                    <ns0:sz ns0:val="68"/>
                                    <ns0:szCs ns0:val="68"/>
                                  </ns0:rPr>
                                  <m:t>min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ns0:rPr xmlns:ns0="http://schemas.openxmlformats.org/wordprocessingml/2006/main">
                                <ns0:sz ns0:val="68"/>
                                <ns0:szCs ns0:val="68"/>
                              </ns0:rPr>
                              <m:t>≤</m:t>
                            </m:r>
                            <m:sSub>
                              <m:e>
                                <m:r>
                                  <ns0:rPr xmlns:ns0="http://schemas.openxmlformats.org/wordprocessingml/2006/main">
                                    <ns0:sz ns0:val="68"/>
                                    <ns0:szCs ns0:val="68"/>
                                  </ns0:rPr>
                                  <m:t>P</m:t>
                                </m:r>
                              </m:e>
                              <m:sub>
                                <m:r>
                                  <ns0:rPr xmlns:ns0="http://schemas.openxmlformats.org/wordprocessingml/2006/main">
                                    <ns0:sz ns0:val="68"/>
                                    <ns0:szCs ns0:val="68"/>
                                  </ns0:rPr>
                                  <m:t>G</m:t>
                                </m:r>
                                <m:r>
                                  <ns0:rPr xmlns:ns0="http://schemas.openxmlformats.org/wordprocessingml/2006/main">
                                    <ns0:sz ns0:val="68"/>
                                    <ns0:szCs ns0:val="68"/>
                                  </ns0:rP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ns0:rPr xmlns:ns0="http://schemas.openxmlformats.org/wordprocessingml/2006/main">
                                <ns0:sz ns0:val="68"/>
                                <ns0:szCs ns0:val="68"/>
                              </ns0:rPr>
                              <m:t>≤</m:t>
                            </m:r>
                            <m:sSubSup>
                              <m:e>
                                <m:r>
                                  <ns0:rPr xmlns:ns0="http://schemas.openxmlformats.org/wordprocessingml/2006/main">
                                    <ns0:sz ns0:val="68"/>
                                    <ns0:szCs ns0:val="68"/>
                                  </ns0:rPr>
                                  <m:t>P</m:t>
                                </m:r>
                              </m:e>
                              <m:sub>
                                <m:r>
                                  <ns0:rPr xmlns:ns0="http://schemas.openxmlformats.org/wordprocessingml/2006/main">
                                    <ns0:sz ns0:val="68"/>
                                    <ns0:szCs ns0:val="68"/>
                                  </ns0:rPr>
                                  <m:t>G</m:t>
                                </m:r>
                                <m:r>
                                  <ns0:rPr xmlns:ns0="http://schemas.openxmlformats.org/wordprocessingml/2006/main">
                                    <ns0:sz ns0:val="68"/>
                                    <ns0:szCs ns0:val="68"/>
                                  </ns0:rPr>
                                  <m:t>i</m:t>
                                </m:r>
                              </m:sub>
                              <m:sup>
                                <m:r>
                                  <m:rPr>
                                    <m:nor/>
                                    <m:sty m:val="p"/>
                                  </m:rPr>
                                  <ns0:rPr xmlns:ns0="http://schemas.openxmlformats.org/wordprocessingml/2006/main">
                                    <ns0:sz ns0:val="68"/>
                                    <ns0:szCs ns0:val="68"/>
                                  </ns0:rPr>
                                  <m:t>max</m:t>
                                </m:r>
                              </m:sup>
                            </m:sSubSup>
                          </m:e>
                        </m:mr>
                        <m:mr>
                          <m:e>
                            <m:sSubSup>
                              <m:e>
                                <m:r>
                                  <ns0:rPr xmlns:ns0="http://schemas.openxmlformats.org/wordprocessingml/2006/main">
                                    <ns0:sz ns0:val="68"/>
                                    <ns0:szCs ns0:val="68"/>
                                  </ns0:rPr>
                                  <m:t>V</m:t>
                                </m:r>
                              </m:e>
                              <m:sub>
                                <m:r>
                                  <ns0:rPr xmlns:ns0="http://schemas.openxmlformats.org/wordprocessingml/2006/main">
                                    <ns0:sz ns0:val="68"/>
                                    <ns0:szCs ns0:val="68"/>
                                  </ns0:rPr>
                                  <m:t>i</m:t>
                                </m:r>
                              </m:sub>
                              <m:sup>
                                <m:r>
                                  <m:rPr>
                                    <m:nor/>
                                    <m:sty m:val="p"/>
                                  </m:rPr>
                                  <ns0:rPr xmlns:ns0="http://schemas.openxmlformats.org/wordprocessingml/2006/main">
                                    <ns0:sz ns0:val="68"/>
                                    <ns0:szCs ns0:val="68"/>
                                  </ns0:rPr>
                                  <m:t>min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ns0:rPr xmlns:ns0="http://schemas.openxmlformats.org/wordprocessingml/2006/main">
                                <ns0:sz ns0:val="68"/>
                                <ns0:szCs ns0:val="68"/>
                              </ns0:rPr>
                              <m:t>≤</m:t>
                            </m:r>
                            <m:sSub>
                              <m:e>
                                <m:r>
                                  <ns0:rPr xmlns:ns0="http://schemas.openxmlformats.org/wordprocessingml/2006/main">
                                    <ns0:sz ns0:val="68"/>
                                    <ns0:szCs ns0:val="68"/>
                                  </ns0:rPr>
                                  <m:t>V</m:t>
                                </m:r>
                              </m:e>
                              <m:sub>
                                <m:r>
                                  <ns0:rPr xmlns:ns0="http://schemas.openxmlformats.org/wordprocessingml/2006/main">
                                    <ns0:sz ns0:val="68"/>
                                    <ns0:szCs ns0:val="68"/>
                                  </ns0:rP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ns0:rPr xmlns:ns0="http://schemas.openxmlformats.org/wordprocessingml/2006/main">
                                <ns0:sz ns0:val="68"/>
                                <ns0:szCs ns0:val="68"/>
                              </ns0:rPr>
                              <m:t>≤</m:t>
                            </m:r>
                            <m:sSubSup>
                              <m:e>
                                <m:r>
                                  <ns0:rPr xmlns:ns0="http://schemas.openxmlformats.org/wordprocessingml/2006/main">
                                    <ns0:sz ns0:val="68"/>
                                    <ns0:szCs ns0:val="68"/>
                                  </ns0:rPr>
                                  <m:t>V</m:t>
                                </m:r>
                              </m:e>
                              <m:sub>
                                <m:r>
                                  <ns0:rPr xmlns:ns0="http://schemas.openxmlformats.org/wordprocessingml/2006/main">
                                    <ns0:sz ns0:val="68"/>
                                    <ns0:szCs ns0:val="68"/>
                                  </ns0:rPr>
                                  <m:t>i</m:t>
                                </m:r>
                              </m:sub>
                              <m:sup>
                                <m:r>
                                  <m:rPr>
                                    <m:nor/>
                                    <m:sty m:val="p"/>
                                  </m:rPr>
                                  <ns0:rPr xmlns:ns0="http://schemas.openxmlformats.org/wordprocessingml/2006/main">
                                    <ns0:sz ns0:val="68"/>
                                    <ns0:szCs ns0:val="68"/>
                                  </ns0:rPr>
                                  <m:t>max</m:t>
                                </m:r>
                              </m:sup>
                            </m:sSubSup>
                          </m:e>
                        </m:mr>
                        <m:mr>
                          <m:e>
                            <m:r>
                              <m:rPr>
                                <m:sty m:val="p"/>
                              </m:rPr>
                              <ns0:rPr xmlns:ns0="http://schemas.openxmlformats.org/wordprocessingml/2006/main">
                                <ns0:sz ns0:val="68"/>
                                <ns0:szCs ns0:val="68"/>
                              </ns0:rPr>
                              <m:t>|</m:t>
                            </m:r>
                            <m:sSub>
                              <m:e>
                                <m:r>
                                  <ns0:rPr xmlns:ns0="http://schemas.openxmlformats.org/wordprocessingml/2006/main">
                                    <ns0:sz ns0:val="68"/>
                                    <ns0:szCs ns0:val="68"/>
                                  </ns0:rPr>
                                  <m:t>P</m:t>
                                </m:r>
                              </m:e>
                              <m:sub>
                                <m:r>
                                  <ns0:rPr xmlns:ns0="http://schemas.openxmlformats.org/wordprocessingml/2006/main">
                                    <ns0:sz ns0:val="68"/>
                                    <ns0:szCs ns0:val="68"/>
                                  </ns0:rPr>
                                  <m:t>i</m:t>
                                </m:r>
                                <m:r>
                                  <ns0:rPr xmlns:ns0="http://schemas.openxmlformats.org/wordprocessingml/2006/main">
                                    <ns0:sz ns0:val="68"/>
                                    <ns0:szCs ns0:val="68"/>
                                  </ns0:rPr>
                                  <m:t>j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ns0:rPr xmlns:ns0="http://schemas.openxmlformats.org/wordprocessingml/2006/main">
                                <ns0:sz ns0:val="68"/>
                                <ns0:szCs ns0:val="68"/>
                              </ns0:rPr>
                              <m:t>|</m:t>
                            </m:r>
                            <m:r>
                              <m:rPr>
                                <m:sty m:val="p"/>
                              </m:rPr>
                              <ns0:rPr xmlns:ns0="http://schemas.openxmlformats.org/wordprocessingml/2006/main">
                                <ns0:sz ns0:val="68"/>
                                <ns0:szCs ns0:val="68"/>
                              </ns0:rPr>
                              <m:t>≤</m:t>
                            </m:r>
                            <m:sSubSup>
                              <m:e>
                                <m:r>
                                  <ns0:rPr xmlns:ns0="http://schemas.openxmlformats.org/wordprocessingml/2006/main">
                                    <ns0:sz ns0:val="68"/>
                                    <ns0:szCs ns0:val="68"/>
                                  </ns0:rPr>
                                  <m:t>P</m:t>
                                </m:r>
                              </m:e>
                              <m:sub>
                                <m:r>
                                  <ns0:rPr xmlns:ns0="http://schemas.openxmlformats.org/wordprocessingml/2006/main">
                                    <ns0:sz ns0:val="68"/>
                                    <ns0:szCs ns0:val="68"/>
                                  </ns0:rPr>
                                  <m:t>i</m:t>
                                </m:r>
                                <m:r>
                                  <ns0:rPr xmlns:ns0="http://schemas.openxmlformats.org/wordprocessingml/2006/main">
                                    <ns0:sz ns0:val="68"/>
                                    <ns0:szCs ns0:val="68"/>
                                  </ns0:rPr>
                                  <m:t>j</m:t>
                                </m:r>
                              </m:sub>
                              <m:sup>
                                <m:r>
                                  <m:rPr>
                                    <m:nor/>
                                    <m:sty m:val="p"/>
                                  </m:rPr>
                                  <ns0:rPr xmlns:ns0="http://schemas.openxmlformats.org/wordprocessingml/2006/main">
                                    <ns0:sz ns0:val="68"/>
                                    <ns0:szCs ns0:val="68"/>
                                  </ns0:rPr>
                                  <m:t>max</m:t>
                                </m:r>
                              </m:sup>
                            </m:sSubSup>
                          </m:e>
                        </m:mr>
                      </m:m>
                    </m:e>
                  </m:d>
                </m:oMath>
              </m:oMathPara>
            </a14:m>
          </a:p>
        </p:txBody>
      </p:sp>
      <p:sp>
        <p:nvSpPr>
          <p:cNvPr id="4" name="TextBox 3"/>
          <p:cNvSpPr txBox="1"/>
          <p:nvPr/>
        </p:nvSpPr>
        <p:spPr>
          <a:xfrm>
            <a:off x="2255367" y="2710180"/>
            <a:ext cx="155448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2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180">
                <a:ea typeface="Hiragino Sans"/>
                <a:cs typeface="Hiragino Sans"/>
              </a:rPr>
              <a:t>WHERE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038447" y="2947924"/>
            <a:ext cx="9525" cy="1755648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55367" y="2911348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2000">
                <a:solidFill>
                  <a:srgbClr val="A03A2E"/>
                </a:solidFill>
                <a:latin typeface="Avenir Next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 xmlns:m="http://schemas.openxmlformats.org/officeDocument/2006/math">
                <m:r>
                  <m:rPr>
                    <m:nor/>
                    <m:sty m:val="p"/>
                  </m:rPr>
                  <ns0:rPr xmlns:ns0="http://schemas.openxmlformats.org/wordprocessingml/2006/main">
                    <ns0:sz ns0:val="40"/>
                    <ns0:szCs ns0:val="40"/>
                  </ns0:rPr>
                  <m:t>s.t.</m:t>
                </m:r>
              </m:oMath>
            </a14:m>
          </a:p>
        </p:txBody>
      </p:sp>
      <p:sp>
        <p:nvSpPr>
          <p:cNvPr id="7" name="TextBox 6"/>
          <p:cNvSpPr txBox="1"/>
          <p:nvPr/>
        </p:nvSpPr>
        <p:spPr>
          <a:xfrm>
            <a:off x="4267047" y="2911348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ELD との違い：需給バランスだけでなく、電圧・線路容量・安定度も守る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55367" y="3368548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2000">
                <a:solidFill>
                  <a:srgbClr val="A03A2E"/>
                </a:solidFill>
                <a:latin typeface="Avenir Next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 xmlns:m="http://schemas.openxmlformats.org/officeDocument/2006/math">
                <m:r>
                  <ns0:rPr xmlns:ns0="http://schemas.openxmlformats.org/wordprocessingml/2006/main">
                    <ns0:sz ns0:val="40"/>
                    <ns0:szCs ns0:val="40"/>
                  </ns0:rPr>
                  <m:t>A</m:t>
                </m:r>
                <m:r>
                  <ns0:rPr xmlns:ns0="http://schemas.openxmlformats.org/wordprocessingml/2006/main">
                    <ns0:sz ns0:val="40"/>
                    <ns0:szCs ns0:val="40"/>
                  </ns0:rPr>
                  <m:t>C</m:t>
                </m:r>
                <m:r>
                  <m:rPr>
                    <m:sty m:val="p"/>
                  </m:rPr>
                  <ns0:rPr xmlns:ns0="http://schemas.openxmlformats.org/wordprocessingml/2006/main">
                    <ns0:sz ns0:val="40"/>
                    <ns0:szCs ns0:val="40"/>
                  </ns0:rPr>
                  <m:t>−</m:t>
                </m:r>
                <m:r>
                  <ns0:rPr xmlns:ns0="http://schemas.openxmlformats.org/wordprocessingml/2006/main">
                    <ns0:sz ns0:val="40"/>
                    <ns0:szCs ns0:val="40"/>
                  </ns0:rPr>
                  <m:t>O</m:t>
                </m:r>
                <m:r>
                  <ns0:rPr xmlns:ns0="http://schemas.openxmlformats.org/wordprocessingml/2006/main">
                    <ns0:sz ns0:val="40"/>
                    <ns0:szCs ns0:val="40"/>
                  </ns0:rPr>
                  <m:t>P</m:t>
                </m:r>
                <m:r>
                  <ns0:rPr xmlns:ns0="http://schemas.openxmlformats.org/wordprocessingml/2006/main">
                    <ns0:sz ns0:val="40"/>
                    <ns0:szCs ns0:val="40"/>
                  </ns0:rPr>
                  <m:t>F</m:t>
                </m:r>
              </m:oMath>
            </a14:m>
          </a:p>
        </p:txBody>
      </p:sp>
      <p:sp>
        <p:nvSpPr>
          <p:cNvPr id="9" name="TextBox 8"/>
          <p:cNvSpPr txBox="1"/>
          <p:nvPr/>
        </p:nvSpPr>
        <p:spPr>
          <a:xfrm>
            <a:off x="4267047" y="3368548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7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厳密だが非線形・非凸。局所解に落ちることがある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5367" y="3825748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2000">
                <a:solidFill>
                  <a:srgbClr val="A03A2E"/>
                </a:solidFill>
                <a:latin typeface="Avenir Next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 xmlns:m="http://schemas.openxmlformats.org/officeDocument/2006/math">
                <m:r>
                  <ns0:rPr xmlns:ns0="http://schemas.openxmlformats.org/wordprocessingml/2006/main">
                    <ns0:sz ns0:val="40"/>
                    <ns0:szCs ns0:val="40"/>
                  </ns0:rPr>
                  <m:t>D</m:t>
                </m:r>
                <m:r>
                  <ns0:rPr xmlns:ns0="http://schemas.openxmlformats.org/wordprocessingml/2006/main">
                    <ns0:sz ns0:val="40"/>
                    <ns0:szCs ns0:val="40"/>
                  </ns0:rPr>
                  <m:t>C</m:t>
                </m:r>
                <m:r>
                  <m:rPr>
                    <m:sty m:val="p"/>
                  </m:rPr>
                  <ns0:rPr xmlns:ns0="http://schemas.openxmlformats.org/wordprocessingml/2006/main">
                    <ns0:sz ns0:val="40"/>
                    <ns0:szCs ns0:val="40"/>
                  </ns0:rPr>
                  <m:t>−</m:t>
                </m:r>
                <m:r>
                  <ns0:rPr xmlns:ns0="http://schemas.openxmlformats.org/wordprocessingml/2006/main">
                    <ns0:sz ns0:val="40"/>
                    <ns0:szCs ns0:val="40"/>
                  </ns0:rPr>
                  <m:t>O</m:t>
                </m:r>
                <m:r>
                  <ns0:rPr xmlns:ns0="http://schemas.openxmlformats.org/wordprocessingml/2006/main">
                    <ns0:sz ns0:val="40"/>
                    <ns0:szCs ns0:val="40"/>
                  </ns0:rPr>
                  <m:t>P</m:t>
                </m:r>
                <m:r>
                  <ns0:rPr xmlns:ns0="http://schemas.openxmlformats.org/wordprocessingml/2006/main">
                    <ns0:sz ns0:val="40"/>
                    <ns0:szCs ns0:val="40"/>
                  </ns0:rPr>
                  <m:t>F</m:t>
                </m:r>
              </m:oMath>
            </a14:m>
          </a:p>
        </p:txBody>
      </p:sp>
      <p:sp>
        <p:nvSpPr>
          <p:cNvPr id="11" name="TextBox 10"/>
          <p:cNvSpPr txBox="1"/>
          <p:nvPr/>
        </p:nvSpPr>
        <p:spPr>
          <a:xfrm>
            <a:off x="4267047" y="3825748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5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第4回の 3 近似で線形化。線形計画なので数万変数でも秒で解ける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5367" y="4282948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2000">
                <a:solidFill>
                  <a:srgbClr val="A03A2E"/>
                </a:solidFill>
                <a:latin typeface="Avenir Next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 xmlns:m="http://schemas.openxmlformats.org/officeDocument/2006/math">
                <m:sSub>
                  <m:e>
                    <m:r>
                      <ns0:rPr xmlns:ns0="http://schemas.openxmlformats.org/wordprocessingml/2006/main">
                        <ns0:sz ns0:val="40"/>
                        <ns0:szCs ns0:val="40"/>
                      </ns0:rPr>
                      <m:t>P</m:t>
                    </m:r>
                  </m:e>
                  <m:sub>
                    <m:r>
                      <ns0:rPr xmlns:ns0="http://schemas.openxmlformats.org/wordprocessingml/2006/main">
                        <ns0:sz ns0:val="40"/>
                        <ns0:szCs ns0:val="40"/>
                      </ns0:rPr>
                      <m:t>i</m:t>
                    </m:r>
                    <m:r>
                      <ns0:rPr xmlns:ns0="http://schemas.openxmlformats.org/wordprocessingml/2006/main">
                        <ns0:sz ns0:val="40"/>
                        <ns0:szCs ns0:val="40"/>
                      </ns0:rPr>
                      <m:t>j</m:t>
                    </m:r>
                  </m:sub>
                </m:sSub>
              </m:oMath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4267047" y="4282948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5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用途：市場の約定計算・混雑管理は DC-OPF、詳細検討は AC-OPF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20 / 34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3 母線の DC-OPF — 混雑で配分が変わる</a:t>
            </a:r>
          </a:p>
        </p:txBody>
      </p:sp>
      <p:pic>
        <p:nvPicPr>
          <p:cNvPr id="3" name="Picture 2" descr="ch14_l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37638"/>
            <a:ext cx="11734495" cy="4683307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300216"/>
            <a:ext cx="1173449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送電線の容量は「物理の制約」だが、結果として「経済の損失」になる。増強の価値はここで測る。　出典｜コード/fig_ch14.py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21 / 34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LMP はなぜ地点で違うのか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075212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① LMP の定義｜その地点で需要を 1 MW 増やしたときの総費用の増分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67312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λ と同じ考え方を「地点ごと」に適用する。混雑がなければ、どの地点で増やしても同じ機が応じるので </a:t>
            </a: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全地点で同じ値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になる。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214529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ild:ghost"/>
          <p:cNvSpPr txBox="1"/>
          <p:nvPr/>
        </p:nvSpPr>
        <p:spPr>
          <a:xfrm>
            <a:off x="566928" y="3391821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C1C9C5"/>
                </a:solidFill>
                <a:latin typeface="Avenir Next"/>
                <a:ea typeface="Hiragino Sans"/>
                <a:cs typeface="Hiragino Sans"/>
              </a:rPr>
              <a:t>② 混雑すると届かない｜安い電気が入ってこられない</a:t>
            </a:r>
          </a:p>
        </p:txBody>
      </p:sp>
      <p:sp>
        <p:nvSpPr>
          <p:cNvPr id="7" name="build:ghost"/>
          <p:cNvSpPr txBox="1"/>
          <p:nvPr/>
        </p:nvSpPr>
        <p:spPr>
          <a:xfrm>
            <a:off x="822960" y="3683921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線路が満杯だと、その先で 1 MW 増やす需要は</a:t>
            </a:r>
            <a:r>
              <a:rPr sz="1500" b="1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その地点側の高い電源</a:t>
            </a:r>
            <a:r>
              <a:rPr sz="1500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で賄うしかない。だから LMP がそこだけ上がる。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221575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uild:ghost"/>
          <p:cNvSpPr txBox="1"/>
          <p:nvPr/>
        </p:nvSpPr>
        <p:spPr>
          <a:xfrm>
            <a:off x="566928" y="4398867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C1C9C5"/>
                </a:solidFill>
                <a:latin typeface="Avenir Next"/>
                <a:ea typeface="Hiragino Sans"/>
                <a:cs typeface="Hiragino Sans"/>
              </a:rPr>
              <a:t>③ 分解すると 3 成分｜LMP = λ + 混雑 + 損失</a:t>
            </a:r>
          </a:p>
        </p:txBody>
      </p:sp>
      <p:sp>
        <p:nvSpPr>
          <p:cNvPr id="10" name="build:ghost"/>
          <p:cNvSpPr txBox="1"/>
          <p:nvPr/>
        </p:nvSpPr>
        <p:spPr>
          <a:xfrm>
            <a:off x="822960" y="4690967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系統全体の λ に、混雑成分と損失成分が地点ごとに乗る。</a:t>
            </a:r>
            <a:r>
              <a:rPr sz="1500" b="1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混雑レント = (LMP差) × 潮流</a:t>
            </a:r>
            <a:r>
              <a:rPr sz="1500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 が、送電線を増強する価値の目安になる。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22 / 34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LMP はなぜ地点で違うのか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075212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① LMP の定義｜その地点で需要を 1 MW 増やしたときの総費用の増分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67312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λ と同じ考え方を「地点ごと」に適用する。混雑がなければ、どの地点で増やしても同じ機が応じるので </a:t>
            </a: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全地点で同じ値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になる。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214529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391821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② 混雑すると届かない｜安い電気が入ってこられない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83921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線路が満杯だと、その先で 1 MW 増やす需要は</a:t>
            </a: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その地点側の高い電源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で賄うしかない。だから LMP がそこだけ上がる。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221575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uild:ghost"/>
          <p:cNvSpPr txBox="1"/>
          <p:nvPr/>
        </p:nvSpPr>
        <p:spPr>
          <a:xfrm>
            <a:off x="566928" y="4398867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C1C9C5"/>
                </a:solidFill>
                <a:latin typeface="Avenir Next"/>
                <a:ea typeface="Hiragino Sans"/>
                <a:cs typeface="Hiragino Sans"/>
              </a:rPr>
              <a:t>③ 分解すると 3 成分｜LMP = λ + 混雑 + 損失</a:t>
            </a:r>
          </a:p>
        </p:txBody>
      </p:sp>
      <p:sp>
        <p:nvSpPr>
          <p:cNvPr id="10" name="build:ghost"/>
          <p:cNvSpPr txBox="1"/>
          <p:nvPr/>
        </p:nvSpPr>
        <p:spPr>
          <a:xfrm>
            <a:off x="822960" y="4690967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系統全体の λ に、混雑成分と損失成分が地点ごとに乗る。</a:t>
            </a:r>
            <a:r>
              <a:rPr sz="1500" b="1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混雑レント = (LMP差) × 潮流</a:t>
            </a:r>
            <a:r>
              <a:rPr sz="1500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 が、送電線を増強する価値の目安になる。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23 / 34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LMP はなぜ地点で違うのか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075212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① LMP の定義｜その地点で需要を 1 MW 増やしたときの総費用の増分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67312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λ と同じ考え方を「地点ごと」に適用する。混雑がなければ、どの地点で増やしても同じ機が応じるので </a:t>
            </a: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全地点で同じ値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になる。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214529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391821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② 混雑すると届かない｜安い電気が入ってこられない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83921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線路が満杯だと、その先で 1 MW 増やす需要は</a:t>
            </a: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その地点側の高い電源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で賄うしかない。だから LMP がそこだけ上がる。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221575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4398867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③ 分解すると 3 成分｜LMP = λ + 混雑 + 損失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90967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系統全体の λ に、混雑成分と損失成分が地点ごとに乗る。</a:t>
            </a: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混雑レント = (LMP差) × 潮流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 が、送電線を増強する価値の目安になる。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24 / 34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容量と価格の関係</a:t>
            </a:r>
          </a:p>
        </p:txBody>
      </p:sp>
      <p:pic>
        <p:nvPicPr>
          <p:cNvPr id="3" name="Picture 2" descr="ch14_cong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37152"/>
            <a:ext cx="11734495" cy="4484280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300216"/>
            <a:ext cx="1173449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送電線を 1 MW 太くすると、いくら安くなるか。この図の傾きが増強投資の判断材料になる。　出典｜コード/fig_ch14.py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25 / 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今日の数字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2953512"/>
            <a:ext cx="3503066" cy="1554480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953512"/>
            <a:ext cx="3503066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220212"/>
            <a:ext cx="3045866" cy="10591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4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rPr>
              <a:t>17.81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システム λ [千円/MWh]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4314" y="2953512"/>
            <a:ext cx="3503066" cy="1554480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4314" y="2953512"/>
            <a:ext cx="3503066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914" y="3220212"/>
            <a:ext cx="3045866" cy="10591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4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rPr>
              <a:t>10.7 億円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等 λ 法による年間の節約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1700" y="2953512"/>
            <a:ext cx="3503066" cy="1554480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1700" y="2953512"/>
            <a:ext cx="3503066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0300" y="3220212"/>
            <a:ext cx="3045866" cy="10591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4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rPr>
              <a:t>2.6 倍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混雑による LMP の上昇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26 / 34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:ghost-number"/>
          <p:cNvSpPr txBox="1"/>
          <p:nvPr/>
        </p:nvSpPr>
        <p:spPr>
          <a:xfrm>
            <a:off x="777240" y="777240"/>
            <a:ext cx="4572000" cy="2381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FE6E5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A03A2E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5721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Ⅳ. 運用の中で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321175"/>
            <a:ext cx="6400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31487"/>
            <a:ext cx="10362895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EMS の一部としての最適化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27 / 34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EMS の流れ — 最適化はこの輪の中にある</a:t>
            </a:r>
          </a:p>
        </p:txBody>
      </p:sp>
      <p:pic>
        <p:nvPicPr>
          <p:cNvPr id="3" name="Picture 2" descr="ch14_e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04529"/>
            <a:ext cx="11734495" cy="514952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300216"/>
            <a:ext cx="1173449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最適化は単体の技術ではなく、運用の輪の 1 工程。前後の工程がなければ答えを実行できない。　出典｜コード/fig_ch14.py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28 / 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なぜそう考えるか — 等 λ・線形化・二値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2121916"/>
            <a:ext cx="11057839" cy="310896"/>
          </a:xfrm>
          <a:prstGeom prst="rect">
            <a:avLst/>
          </a:prstGeom>
          <a:solidFill>
            <a:srgbClr val="5C7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21916"/>
            <a:ext cx="10728655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rPr>
              <a:t>なぜ「等しい」が最適なのか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432812"/>
            <a:ext cx="11057839" cy="712216"/>
          </a:xfrm>
          <a:prstGeom prst="rect">
            <a:avLst/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478532"/>
            <a:ext cx="10655503" cy="639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ラグランジュ乗数 λ は「需要を 1 MW 増やしたときの総費用の増分」。どの機で増やしても同じでなければ、安い方へ移す余地が残っている。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346196"/>
            <a:ext cx="11057839" cy="310896"/>
          </a:xfrm>
          <a:prstGeom prst="rect">
            <a:avLst/>
          </a:prstGeom>
          <a:solidFill>
            <a:srgbClr val="146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46196"/>
            <a:ext cx="10728655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rPr>
              <a:t>なぜ DC-OPF は線形計画になるのか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657092"/>
            <a:ext cx="11057839" cy="712216"/>
          </a:xfrm>
          <a:prstGeom prst="rect">
            <a:avLst/>
          </a:prstGeom>
          <a:solidFill>
            <a:srgbClr val="EE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3702812"/>
            <a:ext cx="10655503" cy="639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直流法の 3 近似（|V| = 1、R = 0、sin θ ≈ θ）で潮流制約が線形になる。費用も区分線形にすれば完全な LP で、数万変数でも秒で解ける。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570476"/>
            <a:ext cx="11057839" cy="310896"/>
          </a:xfrm>
          <a:prstGeom prst="rect">
            <a:avLst/>
          </a:prstGeom>
          <a:solidFill>
            <a:srgbClr val="9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570476"/>
            <a:ext cx="10728655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rPr>
              <a:t>ユニットコミットメント（UC）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881372"/>
            <a:ext cx="11057839" cy="458216"/>
          </a:xfrm>
          <a:prstGeom prst="rect">
            <a:avLst/>
          </a:prstGeom>
          <a:solidFill>
            <a:srgbClr val="F8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4927092"/>
            <a:ext cx="10655503" cy="385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「どの機を起動するか」は 0/1 の変数。混合整数計画で NP 困難。起動費用と最低運転時間が絡む。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29 / 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例題 1 — 2 台の等 λ 配分</a:t>
            </a:r>
          </a:p>
        </p:txBody>
      </p:sp>
      <p:sp>
        <p:nvSpPr>
          <p:cNvPr id="3" name="Oval 2"/>
          <p:cNvSpPr/>
          <p:nvPr/>
        </p:nvSpPr>
        <p:spPr>
          <a:xfrm>
            <a:off x="1597113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条件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機1：λ₁ = 10 + 0.04 P₁、機2：λ₂ = 12 + 0.02 P₂。需要 400 MW</a:t>
            </a:r>
          </a:p>
        </p:txBody>
      </p:sp>
      <p:sp>
        <p:nvSpPr>
          <p:cNvPr id="6" name="Oval 5"/>
          <p:cNvSpPr/>
          <p:nvPr/>
        </p:nvSpPr>
        <p:spPr>
          <a:xfrm>
            <a:off x="4425580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5395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23995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等 λ 条件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10 + 0.04 P₁ = 12 + 0.02 (400 − P₁)</a:t>
            </a:r>
          </a:p>
        </p:txBody>
      </p:sp>
      <p:sp>
        <p:nvSpPr>
          <p:cNvPr id="9" name="Oval 8"/>
          <p:cNvSpPr/>
          <p:nvPr/>
        </p:nvSpPr>
        <p:spPr>
          <a:xfrm>
            <a:off x="7254047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2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2462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解く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0.06 P₁ = 10 → P₁ = 166.7 MW、P₂ = 233.3 MW</a:t>
            </a:r>
          </a:p>
        </p:txBody>
      </p:sp>
      <p:sp>
        <p:nvSpPr>
          <p:cNvPr id="12" name="Oval 11"/>
          <p:cNvSpPr/>
          <p:nvPr/>
        </p:nvSpPr>
        <p:spPr>
          <a:xfrm>
            <a:off x="10082514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329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0929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λ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λ = 10 + 0.04 × 166.7 = 16.7 千円/MWh。安い機 1 の方が出力は少ない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30 / 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動く図で試す — viz/opf.html</a:t>
            </a:r>
          </a:p>
        </p:txBody>
      </p:sp>
      <p:pic>
        <p:nvPicPr>
          <p:cNvPr id="3" name="Picture 2" descr="ch14_v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217" y="1353312"/>
            <a:ext cx="4827260" cy="32423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4732782"/>
            <a:ext cx="11057839" cy="298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動く図 等 λ 法・メリットオーダー・炭素価格・LMP をブラウザ内で実計算する 14 枚のスライド。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214112"/>
            <a:ext cx="11057839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等 λ の反復を 1 回ずつ進め、λ が需要に合うまで修正されるのを見る</a:t>
            </a:r>
          </a:p>
          <a:p>
            <a:pPr>
              <a:spcBef>
                <a:spcPts val="400"/>
              </a:spcBef>
              <a:buChar char="•"/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メリットオーダーで需要を動かし、約定価格が段階的に跳ねるのを見る</a:t>
            </a:r>
          </a:p>
          <a:p>
            <a:pPr>
              <a:spcBef>
                <a:spcPts val="400"/>
              </a:spcBef>
              <a:buChar char="•"/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線路容量を絞り、混雑したノードだけ LMP が上がるのを見る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31 / 34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よくある誤解 — 3 つとも「限界費用」を見落としている</a:t>
            </a:r>
          </a:p>
        </p:txBody>
      </p:sp>
      <p:pic>
        <p:nvPicPr>
          <p:cNvPr id="3" name="Picture 2" descr="ch14_my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16" y="713232"/>
            <a:ext cx="11176863" cy="532231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3 つとも根は同じ。限界費用は出力とともに動き、混雑すれば地点によっても動く。「一定」だと思っている限り、この 3 つの誤解から抜けられない。　出典｜コード/fig_ch14.py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32 / 34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持ち帰る 3 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547207" y="2394204"/>
            <a:ext cx="10972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2595372"/>
            <a:ext cx="10143439" cy="965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rPr>
              <a:t>最適は「揃える」。λ を揃え、制約を足して OPF、混雑は価格に表れる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088" y="3926332"/>
            <a:ext cx="8497519" cy="939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800"/>
              </a:spcBef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•  等 λ 法：dC_i/dP_i = λ。上限に当たった機は固定して残りで揃える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•  OPF = ELD + 潮流 + 制約。DC-OPF は第4回の近似で線形計画になる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•  LMP = λ + 混雑 + 損失。混雑レントが送電線増強の価値を測る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33 / 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92927" y="2697480"/>
            <a:ext cx="1005840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880360"/>
            <a:ext cx="10362895" cy="7462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452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次回：第15回 沖縄系統・統合演習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60520"/>
            <a:ext cx="103628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EBE0D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演習 ex/ch14.html で数値を変えて確かめる</a:t>
            </a:r>
          </a:p>
          <a:p>
            <a:pPr algn="ctr">
              <a:spcBef>
                <a:spcPts val="400"/>
              </a:spcBef>
              <a:defRPr sz="1800">
                <a:solidFill>
                  <a:srgbClr val="EBE0D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15 回の道具を全部つないで、太陽光を何 MW まで入れられるかを出す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