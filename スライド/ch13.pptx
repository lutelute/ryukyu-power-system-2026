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4 の初回。ここまでの物理モデルの上に AI を載せる、という位置づけを最初に明示する。</a:t>
            </a:r>
          </a:p>
          <a:p/>
          <a:p>
            <a:r>
              <a:t>_class: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最後の一文が今日の主題。AI は物理を置き換えるのではなく、その上に載る。</a:t>
            </a:r>
          </a:p>
          <a:p/>
          <a:p>
            <a:r>
              <a:t>_class: statement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右下の 99% は「事故データを 1 つも学習せずに」達成している点が重要。</a:t>
            </a:r>
          </a:p>
          <a:p/>
          <a:p>
            <a:r>
              <a:t>_class: graphical-abstract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で何ができるか」より「系統のどの仕事に、どう嵌めるか」を今日は見る。</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 5 行は第13回の全体を先取りしている。GNN・異常検知・強化学習・PINN が、あとで順番に式や図になって出てくる。</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agenda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母線に番号を振り直しても物理は変わらない。この「順序に依らない」性質を扱えるのが GNN の強み。　図の要点：ノード＝母線、エッジ＝線路・変圧器／14 母線・20 枝／隣接行列の非零は 20.4%／Y_bus と同じ疎なパターン</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平均を取るのは「隣が何本あっても同じ扱い」にするため。和にすると次数の大きいノードだけ値が大きくなる。</a:t>
            </a:r>
          </a:p>
          <a:p/>
          <a:p>
            <a:r>
              <a:t>_class: equation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手計算できる大きさで見せる。母線 2 の 1 層目は 0.5×2.0 + 0.5×(1.0+0.5)/2 = 1.375。　図の要点：入力 [1.0, 2.0, 0.5, 1.5]／1 層後 [1.500, 1.375, 1.125, 1.000]／2 層後 [1.438, 1.344, 1.156, 1.062]／層数＝情報が届くホップ数</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対策は残差接続（skip connection）や、層ごとに異なる集約を使う方法。研究上の主要テーマの 1 つ。　図の要点：層を重ねると全ノードが同じ値へ／4 層でばらつきは 43% に減る／12 層ではほぼ区別がつかない／実用は 2〜4 層</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冗長性があるから、誤差を平均化でき、不良データも見つけられる。この 2 つが状態推定の存在理由。</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冗長性があるから、誤差を平均化でき、不良データも見つけられる。この 2 つが状態推定の存在理由。</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冗長性があるから、誤差を平均化でき、不良データも見つけられる。この 2 つが状態推定の存在理由。</a:t>
            </a:r>
          </a:p>
          <a:p/>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重みは 1/σ²。PMU（同期フェーザ計測）は σ が小さいので、少数でも大きく効く。　図の要点：計測1（σ=0.01）と計測2（σ=0.03）／単純平均：0.9545／WLS：0.9509（真値 0.95）／誤差は約 4 分の 1 に</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2003 年北米大停電では、状態推定が収束せず運用者が系統の状態を把握できない時間帯があった。</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主成分は「潮流パターンの典型的な変わり方」。負荷が増えれば全線路が比例して増える、といった構造を捉えている。　図の要点：正常データだけで主成分を学習／5 主成分で大部分を説明／線路故障の検出率 99%／誤検出 1%（しきい値は正常の 99 パーセンタイル）</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教師あり学習（事故の種類を当てる）は、学習データにある事故しか当てられない。ここが決定的な違い。　図の要点：中央の層で情報を絞る／正常データは上手く復元できる／異常は復元できず誤差が大きい／PCA の非線形版と考えてよい</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divider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実系統で試行錯誤はできないので、シミュレータで学習して実機に移す（sim-to-real）のが基本。　図の要点：状態＝電圧、行動＝無効電力の増減／報酬＝範囲内なら +、逸脱なら −／逸脱の割合 9% → 1.2%／「電圧が高いなら Q を減らす」を獲得</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 = L_data + λ L_physics。λ の選び方が難所で、大きすぎるとデータに合わなくなる。</a:t>
            </a:r>
          </a:p>
          <a:p/>
          <a:p>
            <a:r>
              <a:t>_class: figure-story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想定事故は数百〜数千ケース。全部を厳密に解く時間はないので、AI で絞る意味がある。　図の要点：計測 → 状態推定（AI は高速化）／AI で危険な候補を絞る／厳密計算で確認してから実行／AI 単独で遮断器は操作しない</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kpi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学生に 2 と 3 を計算させる。母線 4 も同様に端の扱いになることを確認させる。</a:t>
            </a:r>
          </a:p>
          <a:p/>
          <a:p>
            <a:r>
              <a:t>_class: steps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figure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blocks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takeaway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Subtitle 2"/>
          <p:cNvSpPr>
            <a:spLocks noGrp="1"/>
          </p:cNvSpPr>
          <p:nvPr>
            <p:ph type="subTitle" idx="1"/>
          </p:nvPr>
        </p:nvSpPr>
        <p:spPr>
          <a:xfrm>
            <a:off x="1371600" y="3886200"/>
            <a:ext cx="6400800" cy="1752600"/>
          </a:xfrm>
        </p:spPr>
        <p:txBody>
          <a:bodyPr/>
          <a:lstStyle>
            <a:lvl1pPr marL="0" indent="0" algn="ctr">
              <a:buNone/>
              <a:defRPr>
                <a:ea typeface="Hiragino Sans"/>
                <a:cs typeface="Hiragino Sans"/>
                <a:solidFill>
                  <a:schemeClr val="tx1">
                    <a:tint val="75000"/>
                  </a:schemeClr>
                </a:solidFill>
              </a:defRPr>
            </a:lvl1pPr>
            <a:lvl2pPr marL="457200" indent="0" algn="ctr">
              <a:buNone/>
              <a:defRPr>
                <a:ea typeface="Hiragino Sans"/>
                <a:cs typeface="Hiragino Sans"/>
                <a:solidFill>
                  <a:schemeClr val="tx1">
                    <a:tint val="75000"/>
                  </a:schemeClr>
                </a:solidFill>
              </a:defRPr>
            </a:lvl2pPr>
            <a:lvl3pPr marL="914400" indent="0" algn="ctr">
              <a:buNone/>
              <a:defRPr>
                <a:ea typeface="Hiragino Sans"/>
                <a:cs typeface="Hiragino Sans"/>
                <a:solidFill>
                  <a:schemeClr val="tx1">
                    <a:tint val="75000"/>
                  </a:schemeClr>
                </a:solidFill>
              </a:defRPr>
            </a:lvl3pPr>
            <a:lvl4pPr marL="1371600" indent="0" algn="ctr">
              <a:buNone/>
              <a:defRPr>
                <a:ea typeface="Hiragino Sans"/>
                <a:cs typeface="Hiragino Sans"/>
                <a:solidFill>
                  <a:schemeClr val="tx1">
                    <a:tint val="75000"/>
                  </a:schemeClr>
                </a:solidFill>
              </a:defRPr>
            </a:lvl4pPr>
            <a:lvl5pPr marL="1828800" indent="0" algn="ctr">
              <a:buNone/>
              <a:defRPr>
                <a:ea typeface="Hiragino Sans"/>
                <a:cs typeface="Hiragino Sans"/>
                <a:solidFill>
                  <a:schemeClr val="tx1">
                    <a:tint val="75000"/>
                  </a:schemeClr>
                </a:solidFill>
              </a:defRPr>
            </a:lvl5pPr>
            <a:lvl6pPr marL="2286000" indent="0" algn="ctr">
              <a:buNone/>
              <a:defRPr>
                <a:ea typeface="Hiragino Sans"/>
                <a:cs typeface="Hiragino Sans"/>
                <a:solidFill>
                  <a:schemeClr val="tx1">
                    <a:tint val="75000"/>
                  </a:schemeClr>
                </a:solidFill>
              </a:defRPr>
            </a:lvl6pPr>
            <a:lvl7pPr marL="2743200" indent="0" algn="ctr">
              <a:buNone/>
              <a:defRPr>
                <a:ea typeface="Hiragino Sans"/>
                <a:cs typeface="Hiragino Sans"/>
                <a:solidFill>
                  <a:schemeClr val="tx1">
                    <a:tint val="75000"/>
                  </a:schemeClr>
                </a:solidFill>
              </a:defRPr>
            </a:lvl7pPr>
            <a:lvl8pPr marL="3200400" indent="0" algn="ctr">
              <a:buNone/>
              <a:defRPr>
                <a:ea typeface="Hiragino Sans"/>
                <a:cs typeface="Hiragino Sans"/>
                <a:solidFill>
                  <a:schemeClr val="tx1">
                    <a:tint val="75000"/>
                  </a:schemeClr>
                </a:solidFill>
              </a:defRPr>
            </a:lvl8pPr>
            <a:lvl9pPr marL="3657600" indent="0" algn="ctr">
              <a:buNone/>
              <a:defRPr>
                <a:ea typeface="Hiragino Sans"/>
                <a:cs typeface="Hiragino Sans"/>
                <a:solidFill>
                  <a:schemeClr val="tx1">
                    <a:tint val="75000"/>
                  </a:schemeClr>
                </a:solidFill>
              </a:defRPr>
            </a:lvl9pPr>
          </a:lstStyle>
          <a:p>
            <a:r>
              <a:rPr lang="en-US" smtClean="0">
                <a:ea typeface="Hiragino Sans"/>
                <a:cs typeface="Hiragino Sans"/>
              </a:rPr>
              <a:t>Click to edit Master subtitle style</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p:txBody>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ea typeface="Hiragino Sans"/>
                <a:cs typeface="Hiragino Sans"/>
                <a:solidFill>
                  <a:schemeClr val="tx1">
                    <a:tint val="75000"/>
                  </a:schemeClr>
                </a:solidFill>
              </a:defRPr>
            </a:lvl1pPr>
            <a:lvl2pPr marL="457200" indent="0">
              <a:buNone/>
              <a:defRPr sz="1800">
                <a:ea typeface="Hiragino Sans"/>
                <a:cs typeface="Hiragino Sans"/>
                <a:solidFill>
                  <a:schemeClr val="tx1">
                    <a:tint val="75000"/>
                  </a:schemeClr>
                </a:solidFill>
              </a:defRPr>
            </a:lvl2pPr>
            <a:lvl3pPr marL="914400" indent="0">
              <a:buNone/>
              <a:defRPr sz="1600">
                <a:ea typeface="Hiragino Sans"/>
                <a:cs typeface="Hiragino Sans"/>
                <a:solidFill>
                  <a:schemeClr val="tx1">
                    <a:tint val="75000"/>
                  </a:schemeClr>
                </a:solidFill>
              </a:defRPr>
            </a:lvl3pPr>
            <a:lvl4pPr marL="1371600" indent="0">
              <a:buNone/>
              <a:defRPr sz="1400">
                <a:ea typeface="Hiragino Sans"/>
                <a:cs typeface="Hiragino Sans"/>
                <a:solidFill>
                  <a:schemeClr val="tx1">
                    <a:tint val="75000"/>
                  </a:schemeClr>
                </a:solidFill>
              </a:defRPr>
            </a:lvl4pPr>
            <a:lvl5pPr marL="1828800" indent="0">
              <a:buNone/>
              <a:defRPr sz="1400">
                <a:ea typeface="Hiragino Sans"/>
                <a:cs typeface="Hiragino Sans"/>
                <a:solidFill>
                  <a:schemeClr val="tx1">
                    <a:tint val="75000"/>
                  </a:schemeClr>
                </a:solidFill>
              </a:defRPr>
            </a:lvl5pPr>
            <a:lvl6pPr marL="2286000" indent="0">
              <a:buNone/>
              <a:defRPr sz="1400">
                <a:ea typeface="Hiragino Sans"/>
                <a:cs typeface="Hiragino Sans"/>
                <a:solidFill>
                  <a:schemeClr val="tx1">
                    <a:tint val="75000"/>
                  </a:schemeClr>
                </a:solidFill>
              </a:defRPr>
            </a:lvl6pPr>
            <a:lvl7pPr marL="2743200" indent="0">
              <a:buNone/>
              <a:defRPr sz="1400">
                <a:ea typeface="Hiragino Sans"/>
                <a:cs typeface="Hiragino Sans"/>
                <a:solidFill>
                  <a:schemeClr val="tx1">
                    <a:tint val="75000"/>
                  </a:schemeClr>
                </a:solidFill>
              </a:defRPr>
            </a:lvl7pPr>
            <a:lvl8pPr marL="3200400" indent="0">
              <a:buNone/>
              <a:defRPr sz="1400">
                <a:ea typeface="Hiragino Sans"/>
                <a:cs typeface="Hiragino Sans"/>
                <a:solidFill>
                  <a:schemeClr val="tx1">
                    <a:tint val="75000"/>
                  </a:schemeClr>
                </a:solidFill>
              </a:defRPr>
            </a:lvl8pPr>
            <a:lvl9pPr marL="3657600" indent="0">
              <a:buNone/>
              <a:defRPr sz="1400">
                <a:ea typeface="Hiragino Sans"/>
                <a:cs typeface="Hiragino Sans"/>
                <a:solidFill>
                  <a:schemeClr val="tx1">
                    <a:tint val="75000"/>
                  </a:schemeClr>
                </a:solidFill>
              </a:defRPr>
            </a:lvl9pPr>
          </a:lstStyle>
          <a:p>
            <a:pPr lvl="0"/>
            <a:r>
              <a:rPr lang="en-US" smtClean="0">
                <a:ea typeface="Hiragino Sans"/>
                <a:cs typeface="Hiragino Sans"/>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sz="half" idx="1"/>
          </p:nvPr>
        </p:nvSpPr>
        <p:spPr>
          <a:xfrm>
            <a:off x="457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Content Placeholder 3"/>
          <p:cNvSpPr>
            <a:spLocks noGrp="1"/>
          </p:cNvSpPr>
          <p:nvPr>
            <p:ph sz="half" idx="2"/>
          </p:nvPr>
        </p:nvSpPr>
        <p:spPr>
          <a:xfrm>
            <a:off x="4648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7" name="Date Placeholder 6"/>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8" name="Footer Placeholder 7"/>
          <p:cNvSpPr>
            <a:spLocks noGrp="1"/>
          </p:cNvSpPr>
          <p:nvPr>
            <p:ph type="ftr" sz="quarter" idx="11"/>
          </p:nvPr>
        </p:nvSpPr>
        <p:spPr/>
        <p:txBody>
          <a:bodyPr/>
          <a:lstStyle/>
          <a:p>
            <a:endParaRPr lang="en-US">
              <a:ea typeface="Hiragino Sans"/>
              <a:cs typeface="Hiragino Sans"/>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Date Placeholder 2"/>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4" name="Footer Placeholder 3"/>
          <p:cNvSpPr>
            <a:spLocks noGrp="1"/>
          </p:cNvSpPr>
          <p:nvPr>
            <p:ph type="ftr" sz="quarter" idx="11"/>
          </p:nvPr>
        </p:nvSpPr>
        <p:spPr/>
        <p:txBody>
          <a:bodyPr/>
          <a:lstStyle/>
          <a:p>
            <a:endParaRPr lang="en-US">
              <a:ea typeface="Hiragino Sans"/>
              <a:cs typeface="Hiragino Sans"/>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3" name="Footer Placeholder 2"/>
          <p:cNvSpPr>
            <a:spLocks noGrp="1"/>
          </p:cNvSpPr>
          <p:nvPr>
            <p:ph type="ftr" sz="quarter" idx="11"/>
          </p:nvPr>
        </p:nvSpPr>
        <p:spPr/>
        <p:txBody>
          <a:bodyPr/>
          <a:lstStyle/>
          <a:p>
            <a:endParaRPr lang="en-US">
              <a:ea typeface="Hiragino Sans"/>
              <a:cs typeface="Hiragino Sans"/>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a:xfrm>
            <a:off x="3575050" y="273050"/>
            <a:ext cx="5111750" cy="5853113"/>
          </a:xfrm>
        </p:spPr>
        <p:txBody>
          <a:bodyPr/>
          <a:lstStyle>
            <a:lvl1pPr>
              <a:defRPr sz="3200">
                <a:ea typeface="Hiragino Sans"/>
                <a:cs typeface="Hiragino Sans"/>
              </a:defRPr>
            </a:lvl1pPr>
            <a:lvl2pPr>
              <a:defRPr sz="2800">
                <a:ea typeface="Hiragino Sans"/>
                <a:cs typeface="Hiragino Sans"/>
              </a:defRPr>
            </a:lvl2pPr>
            <a:lvl3pPr>
              <a:defRPr sz="2400">
                <a:ea typeface="Hiragino Sans"/>
                <a:cs typeface="Hiragino Sans"/>
              </a:defRPr>
            </a:lvl3pPr>
            <a:lvl4pPr>
              <a:defRPr sz="2000">
                <a:ea typeface="Hiragino Sans"/>
                <a:cs typeface="Hiragino Sans"/>
              </a:defRPr>
            </a:lvl4pPr>
            <a:lvl5pPr>
              <a:defRPr sz="2000">
                <a:ea typeface="Hiragino Sans"/>
                <a:cs typeface="Hiragino Sans"/>
              </a:defRPr>
            </a:lvl5pPr>
            <a:lvl6pPr>
              <a:defRPr sz="2000">
                <a:ea typeface="Hiragino Sans"/>
                <a:cs typeface="Hiragino Sans"/>
              </a:defRPr>
            </a:lvl6pPr>
            <a:lvl7pPr>
              <a:defRPr sz="2000">
                <a:ea typeface="Hiragino Sans"/>
                <a:cs typeface="Hiragino Sans"/>
              </a:defRPr>
            </a:lvl7pPr>
            <a:lvl8pPr>
              <a:defRPr sz="2000">
                <a:ea typeface="Hiragino Sans"/>
                <a:cs typeface="Hiragino Sans"/>
              </a:defRPr>
            </a:lvl8pPr>
            <a:lvl9pPr>
              <a:defRPr sz="20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ea typeface="Hiragino Sans"/>
                <a:cs typeface="Hiragino Sans"/>
              </a:defRPr>
            </a:lvl1pPr>
            <a:lvl2pPr marL="457200" indent="0">
              <a:buNone/>
              <a:defRPr sz="2800">
                <a:ea typeface="Hiragino Sans"/>
                <a:cs typeface="Hiragino Sans"/>
              </a:defRPr>
            </a:lvl2pPr>
            <a:lvl3pPr marL="914400" indent="0">
              <a:buNone/>
              <a:defRPr sz="2400">
                <a:ea typeface="Hiragino Sans"/>
                <a:cs typeface="Hiragino Sans"/>
              </a:defRPr>
            </a:lvl3pPr>
            <a:lvl4pPr marL="1371600" indent="0">
              <a:buNone/>
              <a:defRPr sz="2000">
                <a:ea typeface="Hiragino Sans"/>
                <a:cs typeface="Hiragino Sans"/>
              </a:defRPr>
            </a:lvl4pPr>
            <a:lvl5pPr marL="1828800" indent="0">
              <a:buNone/>
              <a:defRPr sz="2000">
                <a:ea typeface="Hiragino Sans"/>
                <a:cs typeface="Hiragino Sans"/>
              </a:defRPr>
            </a:lvl5pPr>
            <a:lvl6pPr marL="2286000" indent="0">
              <a:buNone/>
              <a:defRPr sz="2000">
                <a:ea typeface="Hiragino Sans"/>
                <a:cs typeface="Hiragino Sans"/>
              </a:defRPr>
            </a:lvl6pPr>
            <a:lvl7pPr marL="2743200" indent="0">
              <a:buNone/>
              <a:defRPr sz="2000">
                <a:ea typeface="Hiragino Sans"/>
                <a:cs typeface="Hiragino Sans"/>
              </a:defRPr>
            </a:lvl7pPr>
            <a:lvl8pPr marL="3200400" indent="0">
              <a:buNone/>
              <a:defRPr sz="2000">
                <a:ea typeface="Hiragino Sans"/>
                <a:cs typeface="Hiragino Sans"/>
              </a:defRPr>
            </a:lvl8pPr>
            <a:lvl9pPr marL="3657600" indent="0">
              <a:buNone/>
              <a:defRPr sz="2000">
                <a:ea typeface="Hiragino Sans"/>
                <a:cs typeface="Hiragino Sans"/>
              </a:defRPr>
            </a:lvl9pPr>
          </a:lstStyle>
          <a:p>
            <a:endParaRPr lang="en-US">
              <a:ea typeface="Hiragino Sans"/>
              <a:cs typeface="Hiragino San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ea typeface="Hiragino Sans"/>
                <a:cs typeface="Hiragino Sans"/>
                <a:solidFill>
                  <a:schemeClr val="tx1">
                    <a:tint val="75000"/>
                  </a:schemeClr>
                </a:solidFill>
              </a:defRPr>
            </a:lvl1p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ea typeface="Hiragino Sans"/>
                <a:cs typeface="Hiragino Sans"/>
                <a:solidFill>
                  <a:schemeClr val="tx1">
                    <a:tint val="75000"/>
                  </a:schemeClr>
                </a:solidFill>
              </a:defRPr>
            </a:lvl1pPr>
          </a:lstStyle>
          <a:p>
            <a:endParaRPr lang="en-US">
              <a:ea typeface="Hiragino Sans"/>
              <a:cs typeface="Hiragino San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ea typeface="Hiragino Sans"/>
                <a:cs typeface="Hiragino Sans"/>
                <a:solidFill>
                  <a:schemeClr val="tx1">
                    <a:tint val="75000"/>
                  </a:schemeClr>
                </a:solidFill>
              </a:defRPr>
            </a:lvl1p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Hiragino Sans"/>
          <a:cs typeface="Hiragino San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Hiragino Sans"/>
          <a:cs typeface="Hiragino Sans"/>
        </a:defRPr>
      </a:lvl1pPr>
      <a:lvl2pPr marL="742950" indent="-285750" algn="l" defTabSz="457200" rtl="0" eaLnBrk="1" latinLnBrk="0" hangingPunct="1">
        <a:spcBef>
          <a:spcPct val="20000"/>
        </a:spcBef>
        <a:buFont typeface="Arial"/>
        <a:buChar char="–"/>
        <a:defRPr sz="2800" kern="1200">
          <a:solidFill>
            <a:schemeClr val="tx1"/>
          </a:solidFill>
          <a:latin typeface="+mn-lt"/>
          <a:ea typeface="Hiragino Sans"/>
          <a:cs typeface="Hiragino Sans"/>
        </a:defRPr>
      </a:lvl2pPr>
      <a:lvl3pPr marL="1143000" indent="-228600" algn="l" defTabSz="457200" rtl="0" eaLnBrk="1" latinLnBrk="0" hangingPunct="1">
        <a:spcBef>
          <a:spcPct val="20000"/>
        </a:spcBef>
        <a:buFont typeface="Arial"/>
        <a:buChar char="•"/>
        <a:defRPr sz="2400" kern="1200">
          <a:solidFill>
            <a:schemeClr val="tx1"/>
          </a:solidFill>
          <a:latin typeface="+mn-lt"/>
          <a:ea typeface="Hiragino Sans"/>
          <a:cs typeface="Hiragino Sans"/>
        </a:defRPr>
      </a:lvl3pPr>
      <a:lvl4pPr marL="1600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4pPr>
      <a:lvl5pPr marL="20574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6pPr>
      <a:lvl7pPr marL="29718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7pPr>
      <a:lvl8pPr marL="34290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8pPr>
      <a:lvl9pPr marL="3886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9pPr>
    </p:bodyStyle>
    <p:otherStyle>
      <a:defPPr>
        <a:defRPr lang="en-US">
          <a:ea typeface="Hiragino Sans"/>
          <a:cs typeface="Hiragino Sans"/>
        </a:defRPr>
      </a:defPPr>
      <a:lvl1pPr marL="0" algn="l" defTabSz="457200" rtl="0" eaLnBrk="1" latinLnBrk="0" hangingPunct="1">
        <a:defRPr sz="1800" kern="1200">
          <a:solidFill>
            <a:schemeClr val="tx1"/>
          </a:solidFill>
          <a:latin typeface="+mn-lt"/>
          <a:ea typeface="Hiragino Sans"/>
          <a:cs typeface="Hiragino Sans"/>
        </a:defRPr>
      </a:lvl1pPr>
      <a:lvl2pPr marL="457200" algn="l" defTabSz="457200" rtl="0" eaLnBrk="1" latinLnBrk="0" hangingPunct="1">
        <a:defRPr sz="1800" kern="1200">
          <a:solidFill>
            <a:schemeClr val="tx1"/>
          </a:solidFill>
          <a:latin typeface="+mn-lt"/>
          <a:ea typeface="Hiragino Sans"/>
          <a:cs typeface="Hiragino Sans"/>
        </a:defRPr>
      </a:lvl2pPr>
      <a:lvl3pPr marL="914400" algn="l" defTabSz="457200" rtl="0" eaLnBrk="1" latinLnBrk="0" hangingPunct="1">
        <a:defRPr sz="1800" kern="1200">
          <a:solidFill>
            <a:schemeClr val="tx1"/>
          </a:solidFill>
          <a:latin typeface="+mn-lt"/>
          <a:ea typeface="Hiragino Sans"/>
          <a:cs typeface="Hiragino Sans"/>
        </a:defRPr>
      </a:lvl3pPr>
      <a:lvl4pPr marL="1371600" algn="l" defTabSz="457200" rtl="0" eaLnBrk="1" latinLnBrk="0" hangingPunct="1">
        <a:defRPr sz="1800" kern="1200">
          <a:solidFill>
            <a:schemeClr val="tx1"/>
          </a:solidFill>
          <a:latin typeface="+mn-lt"/>
          <a:ea typeface="Hiragino Sans"/>
          <a:cs typeface="Hiragino Sans"/>
        </a:defRPr>
      </a:lvl4pPr>
      <a:lvl5pPr marL="1828800" algn="l" defTabSz="457200" rtl="0" eaLnBrk="1" latinLnBrk="0" hangingPunct="1">
        <a:defRPr sz="1800" kern="1200">
          <a:solidFill>
            <a:schemeClr val="tx1"/>
          </a:solidFill>
          <a:latin typeface="+mn-lt"/>
          <a:ea typeface="Hiragino Sans"/>
          <a:cs typeface="Hiragino Sans"/>
        </a:defRPr>
      </a:lvl5pPr>
      <a:lvl6pPr marL="2286000" algn="l" defTabSz="457200" rtl="0" eaLnBrk="1" latinLnBrk="0" hangingPunct="1">
        <a:defRPr sz="1800" kern="1200">
          <a:solidFill>
            <a:schemeClr val="tx1"/>
          </a:solidFill>
          <a:latin typeface="+mn-lt"/>
          <a:ea typeface="Hiragino Sans"/>
          <a:cs typeface="Hiragino Sans"/>
        </a:defRPr>
      </a:lvl6pPr>
      <a:lvl7pPr marL="2743200" algn="l" defTabSz="457200" rtl="0" eaLnBrk="1" latinLnBrk="0" hangingPunct="1">
        <a:defRPr sz="1800" kern="1200">
          <a:solidFill>
            <a:schemeClr val="tx1"/>
          </a:solidFill>
          <a:latin typeface="+mn-lt"/>
          <a:ea typeface="Hiragino Sans"/>
          <a:cs typeface="Hiragino Sans"/>
        </a:defRPr>
      </a:lvl7pPr>
      <a:lvl8pPr marL="3200400" algn="l" defTabSz="457200" rtl="0" eaLnBrk="1" latinLnBrk="0" hangingPunct="1">
        <a:defRPr sz="1800" kern="1200">
          <a:solidFill>
            <a:schemeClr val="tx1"/>
          </a:solidFill>
          <a:latin typeface="+mn-lt"/>
          <a:ea typeface="Hiragino Sans"/>
          <a:cs typeface="Hiragino Sans"/>
        </a:defRPr>
      </a:lvl8pPr>
      <a:lvl9pPr marL="3657600" algn="l" defTabSz="457200" rtl="0" eaLnBrk="1" latinLnBrk="0" hangingPunct="1">
        <a:defRPr sz="1800" kern="1200">
          <a:solidFill>
            <a:schemeClr val="tx1"/>
          </a:solidFill>
          <a:latin typeface="+mn-lt"/>
          <a:ea typeface="Hiragino Sans"/>
          <a:cs typeface="Hiragino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7.xml"/><Relationship Id="rId4" Type="http://schemas.openxmlformats.org/officeDocument/2006/relationships/slide" Target="slide12.xml"/><Relationship Id="rId5" Type="http://schemas.openxmlformats.org/officeDocument/2006/relationships/slide" Target="slide18.xml"/><Relationship Id="rId6" Type="http://schemas.openxmlformats.org/officeDocument/2006/relationships/slide" Target="slide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C332A"/>
        </a:solidFill>
        <a:effectLst/>
      </p:bgPr>
    </p:bg>
    <p:spTree>
      <p:nvGrpSpPr>
        <p:cNvPr id="1" name=""/>
        <p:cNvGrpSpPr/>
        <p:nvPr/>
      </p:nvGrpSpPr>
      <p:grpSpPr/>
      <p:sp>
        <p:nvSpPr>
          <p:cNvPr id="2" name="TextBox 1"/>
          <p:cNvSpPr txBox="1"/>
          <p:nvPr/>
        </p:nvSpPr>
        <p:spPr>
          <a:xfrm>
            <a:off x="914400" y="2331720"/>
            <a:ext cx="10362895" cy="237744"/>
          </a:xfrm>
          <a:prstGeom prst="rect">
            <a:avLst/>
          </a:prstGeom>
          <a:noFill/>
        </p:spPr>
        <p:txBody>
          <a:bodyPr wrap="none" lIns="0" rIns="0" tIns="0" bIns="0">
            <a:noAutofit/>
          </a:bodyPr>
          <a:lstStyle/>
          <a:p>
            <a:pPr algn="ctr">
              <a:defRPr sz="1200" b="1">
                <a:solidFill>
                  <a:srgbClr val="FFFFFF"/>
                </a:solidFill>
                <a:latin typeface="Avenir Next"/>
                <a:ea typeface="Hiragino Sans"/>
                <a:cs typeface="Hiragino Sans"/>
              </a:defRPr>
            </a:pPr>
            <a:r>
              <a:rPr spc="40">
                <a:ea typeface="Hiragino Sans"/>
                <a:cs typeface="Hiragino Sans"/>
              </a:rPr>
              <a:t>系統はグラフ — 隣から学び、普段からの距離で異常を見つける</a:t>
            </a:r>
          </a:p>
        </p:txBody>
      </p:sp>
      <p:sp>
        <p:nvSpPr>
          <p:cNvPr id="3" name="Rectangle 2"/>
          <p:cNvSpPr/>
          <p:nvPr/>
        </p:nvSpPr>
        <p:spPr>
          <a:xfrm>
            <a:off x="5592927" y="2889504"/>
            <a:ext cx="1005840" cy="2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054096"/>
            <a:ext cx="10728655" cy="1615440"/>
          </a:xfrm>
          <a:prstGeom prst="rect">
            <a:avLst/>
          </a:prstGeom>
          <a:noFill/>
        </p:spPr>
        <p:txBody>
          <a:bodyPr wrap="square" lIns="0" rIns="0" tIns="0" bIns="0" anchor="t">
            <a:noAutofit/>
          </a:bodyPr>
          <a:lstStyle/>
          <a:p>
            <a:pPr algn="ctr">
              <a:lnSpc>
                <a:spcPct val="106000"/>
              </a:lnSpc>
              <a:defRPr sz="4800" b="1">
                <a:solidFill>
                  <a:srgbClr val="FFFFFF"/>
                </a:solidFill>
                <a:latin typeface="Avenir Next"/>
                <a:ea typeface="Hiragino Sans"/>
                <a:cs typeface="Hiragino Sans"/>
              </a:defRPr>
            </a:pPr>
            <a:r>
              <a:rPr>
                <a:ea typeface="Hiragino Sans"/>
                <a:cs typeface="Hiragino Sans"/>
              </a:rPr>
              <a:t>第13回 AI を用いた電力系統解析</a:t>
            </a:r>
          </a:p>
        </p:txBody>
      </p:sp>
      <p:sp>
        <p:nvSpPr>
          <p:cNvPr id="5" name="TextBox 4"/>
          <p:cNvSpPr txBox="1"/>
          <p:nvPr/>
        </p:nvSpPr>
        <p:spPr>
          <a:xfrm>
            <a:off x="1097280" y="4898136"/>
            <a:ext cx="9997135" cy="868680"/>
          </a:xfrm>
          <a:prstGeom prst="rect">
            <a:avLst/>
          </a:prstGeom>
          <a:noFill/>
        </p:spPr>
        <p:txBody>
          <a:bodyPr wrap="square" lIns="0" rIns="0" tIns="0" bIns="0">
            <a:noAutofit/>
          </a:bodyPr>
          <a:lstStyle/>
          <a:p>
            <a:pPr algn="ctr"/>
            <a:r>
              <a:rPr sz="1800">
                <a:solidFill>
                  <a:srgbClr val="EBE0DF"/>
                </a:solidFill>
                <a:latin typeface="Avenir Next"/>
                <a:ea typeface="Hiragino Sans"/>
                <a:cs typeface="Hiragino Sans"/>
              </a:rPr>
              <a:t>重信颯人（福井大学）／ Day 4・コマ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38647" y="2553208"/>
            <a:ext cx="91440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809240"/>
            <a:ext cx="9997135" cy="1330960"/>
          </a:xfrm>
          <a:prstGeom prst="rect">
            <a:avLst/>
          </a:prstGeom>
          <a:noFill/>
        </p:spPr>
        <p:txBody>
          <a:bodyPr wrap="square" lIns="0" rIns="0" tIns="0" bIns="0">
            <a:noAutofit/>
          </a:bodyPr>
          <a:lstStyle/>
          <a:p>
            <a:pPr algn="ctr">
              <a:lnSpc>
                <a:spcPct val="106000"/>
              </a:lnSpc>
            </a:pPr>
            <a:r>
              <a:rPr sz="2800" b="1">
                <a:solidFill>
                  <a:srgbClr val="7C332A"/>
                </a:solidFill>
                <a:latin typeface="Avenir Next"/>
                <a:ea typeface="Hiragino Sans"/>
                <a:cs typeface="Hiragino Sans"/>
              </a:rPr>
              <a:t>電力系統は母線と線路のグラフ。AI は隣の情報を集めて学び、普段からの距離で異常を測る。ただし物理は捨てない。</a:t>
            </a:r>
          </a:p>
        </p:txBody>
      </p:sp>
      <p:sp>
        <p:nvSpPr>
          <p:cNvPr id="4" name="TextBox 3"/>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 / 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この回の全体像</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一枚で｜問い → 課題 → 道具 → 到達点</a:t>
            </a:r>
          </a:p>
        </p:txBody>
      </p:sp>
      <p:sp>
        <p:nvSpPr>
          <p:cNvPr id="4" name="Rounded Rectangle 3"/>
          <p:cNvSpPr/>
          <p:nvPr/>
        </p:nvSpPr>
        <p:spPr>
          <a:xfrm>
            <a:off x="566928" y="1729232"/>
            <a:ext cx="11057839" cy="1128458"/>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4728" y="1907032"/>
            <a:ext cx="10702239" cy="310896"/>
          </a:xfrm>
          <a:prstGeom prst="rect">
            <a:avLst/>
          </a:prstGeom>
          <a:noFill/>
        </p:spPr>
        <p:txBody>
          <a:bodyPr wrap="none" lIns="0" rIns="0" tIns="0" bIns="0">
            <a:noAutofit/>
          </a:bodyPr>
          <a:lstStyle/>
          <a:p>
            <a:pPr algn="l">
              <a:defRPr sz="1200" b="1">
                <a:solidFill>
                  <a:srgbClr val="964136"/>
                </a:solidFill>
                <a:latin typeface="Avenir Next"/>
                <a:ea typeface="Hiragino Sans"/>
                <a:cs typeface="Hiragino Sans"/>
              </a:defRPr>
            </a:pPr>
            <a:r>
              <a:rPr spc="40">
                <a:ea typeface="Hiragino Sans"/>
                <a:cs typeface="Hiragino Sans"/>
              </a:rPr>
              <a:t>問い</a:t>
            </a:r>
          </a:p>
        </p:txBody>
      </p:sp>
      <p:sp>
        <p:nvSpPr>
          <p:cNvPr id="6" name="TextBox 5"/>
          <p:cNvSpPr txBox="1"/>
          <p:nvPr/>
        </p:nvSpPr>
        <p:spPr>
          <a:xfrm>
            <a:off x="744728" y="2268728"/>
            <a:ext cx="10702239" cy="4111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系統解析に AI をどう使うのか。</a:t>
            </a:r>
            <a:r>
              <a:rPr sz="1500" b="1">
                <a:solidFill>
                  <a:srgbClr val="33221E"/>
                </a:solidFill>
                <a:latin typeface="Avenir Next"/>
                <a:ea typeface="Hiragino Sans"/>
                <a:cs typeface="Hiragino Sans"/>
              </a:rPr>
              <a:t>どこまで任せて</a:t>
            </a:r>
            <a:r>
              <a:rPr sz="1500">
                <a:solidFill>
                  <a:srgbClr val="33221E"/>
                </a:solidFill>
                <a:latin typeface="Avenir Next"/>
                <a:ea typeface="Hiragino Sans"/>
                <a:cs typeface="Hiragino Sans"/>
              </a:rPr>
              <a:t>、どこから物理で確かめるのか。</a:t>
            </a:r>
          </a:p>
        </p:txBody>
      </p:sp>
      <p:sp>
        <p:nvSpPr>
          <p:cNvPr id="7" name="Rounded Rectangle 6"/>
          <p:cNvSpPr/>
          <p:nvPr/>
        </p:nvSpPr>
        <p:spPr>
          <a:xfrm>
            <a:off x="566928" y="3022282"/>
            <a:ext cx="3082442" cy="2613724"/>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4728" y="3200082"/>
            <a:ext cx="2726842" cy="310896"/>
          </a:xfrm>
          <a:prstGeom prst="rect">
            <a:avLst/>
          </a:prstGeom>
          <a:noFill/>
        </p:spPr>
        <p:txBody>
          <a:bodyPr wrap="none" lIns="0" rIns="0" tIns="0" bIns="0">
            <a:noAutofit/>
          </a:bodyPr>
          <a:lstStyle/>
          <a:p>
            <a:pPr algn="l">
              <a:defRPr sz="1200" b="1">
                <a:solidFill>
                  <a:srgbClr val="964136"/>
                </a:solidFill>
                <a:latin typeface="Avenir Next"/>
                <a:ea typeface="Hiragino Sans"/>
                <a:cs typeface="Hiragino Sans"/>
              </a:defRPr>
            </a:pPr>
            <a:r>
              <a:rPr spc="40">
                <a:ea typeface="Hiragino Sans"/>
                <a:cs typeface="Hiragino Sans"/>
              </a:rPr>
              <a:t>課題</a:t>
            </a:r>
          </a:p>
        </p:txBody>
      </p:sp>
      <p:pic>
        <p:nvPicPr>
          <p:cNvPr id="9" name="Picture 8" descr="ch13_graph.png"/>
          <p:cNvPicPr>
            <a:picLocks noChangeAspect="1"/>
          </p:cNvPicPr>
          <p:nvPr/>
        </p:nvPicPr>
        <p:blipFill>
          <a:blip r:embed="rId2"/>
          <a:stretch>
            <a:fillRect/>
          </a:stretch>
        </p:blipFill>
        <p:spPr>
          <a:xfrm>
            <a:off x="824869" y="3561778"/>
            <a:ext cx="2566559" cy="1124903"/>
          </a:xfrm>
          <a:prstGeom prst="rect">
            <a:avLst/>
          </a:prstGeom>
        </p:spPr>
      </p:pic>
      <p:sp>
        <p:nvSpPr>
          <p:cNvPr id="10" name="TextBox 9"/>
          <p:cNvSpPr txBox="1"/>
          <p:nvPr/>
        </p:nvSpPr>
        <p:spPr>
          <a:xfrm>
            <a:off x="744728" y="4762881"/>
            <a:ext cx="2726842"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系統はグラフ。表形式のモデルでは扱いにくい。</a:t>
            </a:r>
          </a:p>
        </p:txBody>
      </p:sp>
      <p:sp>
        <p:nvSpPr>
          <p:cNvPr id="11" name="Chevron 10"/>
          <p:cNvSpPr/>
          <p:nvPr/>
        </p:nvSpPr>
        <p:spPr>
          <a:xfrm>
            <a:off x="3850538" y="4125944"/>
            <a:ext cx="502920" cy="406400"/>
          </a:xfrm>
          <a:prstGeom prst="chevron">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4626" y="3022282"/>
            <a:ext cx="3082442" cy="2613724"/>
          </a:xfrm>
          <a:prstGeom prst="roundRect">
            <a:avLst>
              <a:gd name="adj" fmla="val 3500"/>
            </a:avLst>
          </a:prstGeom>
          <a:solidFill>
            <a:srgbClr val="F3EFE3"/>
          </a:solidFill>
          <a:ln w="19050">
            <a:solidFill>
              <a:srgbClr val="B85042"/>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2426" y="3200082"/>
            <a:ext cx="2726842" cy="310896"/>
          </a:xfrm>
          <a:prstGeom prst="rect">
            <a:avLst/>
          </a:prstGeom>
          <a:noFill/>
        </p:spPr>
        <p:txBody>
          <a:bodyPr wrap="none" lIns="0" rIns="0" tIns="0" bIns="0">
            <a:noAutofit/>
          </a:bodyPr>
          <a:lstStyle/>
          <a:p>
            <a:pPr algn="l">
              <a:defRPr sz="1200" b="1">
                <a:solidFill>
                  <a:srgbClr val="964136"/>
                </a:solidFill>
                <a:latin typeface="Avenir Next"/>
                <a:ea typeface="Hiragino Sans"/>
                <a:cs typeface="Hiragino Sans"/>
              </a:defRPr>
            </a:pPr>
            <a:r>
              <a:rPr spc="40">
                <a:ea typeface="Hiragino Sans"/>
                <a:cs typeface="Hiragino Sans"/>
              </a:rPr>
              <a:t>道具</a:t>
            </a:r>
          </a:p>
        </p:txBody>
      </p:sp>
      <p:pic>
        <p:nvPicPr>
          <p:cNvPr id="14" name="Picture 13" descr="ch13_pca.png"/>
          <p:cNvPicPr>
            <a:picLocks noChangeAspect="1"/>
          </p:cNvPicPr>
          <p:nvPr/>
        </p:nvPicPr>
        <p:blipFill>
          <a:blip r:embed="rId3"/>
          <a:stretch>
            <a:fillRect/>
          </a:stretch>
        </p:blipFill>
        <p:spPr>
          <a:xfrm>
            <a:off x="4818010" y="3561778"/>
            <a:ext cx="2555673" cy="977266"/>
          </a:xfrm>
          <a:prstGeom prst="rect">
            <a:avLst/>
          </a:prstGeom>
        </p:spPr>
      </p:pic>
      <p:sp>
        <p:nvSpPr>
          <p:cNvPr id="15" name="TextBox 14"/>
          <p:cNvSpPr txBox="1"/>
          <p:nvPr/>
        </p:nvSpPr>
        <p:spPr>
          <a:xfrm>
            <a:off x="4732426" y="4615244"/>
            <a:ext cx="2726842" cy="411480"/>
          </a:xfrm>
          <a:prstGeom prst="rect">
            <a:avLst/>
          </a:prstGeom>
          <a:noFill/>
        </p:spPr>
        <p:txBody>
          <a:bodyPr wrap="none" lIns="0" rIns="0" tIns="0" bIns="0">
            <a:noAutofit/>
          </a:bodyPr>
          <a:lstStyle/>
          <a:p>
            <a:pPr algn="ctr"/>
            <a:r>
              <a:rPr sz="1250" b="1">
                <a:solidFill>
                  <a:srgbClr val="33221E"/>
                </a:solidFill>
                <a:latin typeface="Avenir Next"/>
                <a:ea typeface="Hiragino Sans"/>
                <a:cs typeface="Hiragino Sans"/>
              </a:rPr>
              <a:t>GNN ▶ 状態推定 ▶ 異常検知</a:t>
            </a:r>
          </a:p>
        </p:txBody>
      </p:sp>
      <p:sp>
        <p:nvSpPr>
          <p:cNvPr id="16" name="TextBox 15"/>
          <p:cNvSpPr txBox="1"/>
          <p:nvPr/>
        </p:nvSpPr>
        <p:spPr>
          <a:xfrm>
            <a:off x="4732426" y="5072444"/>
            <a:ext cx="2726842"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正常を学び </a:t>
            </a:r>
            <a:r>
              <a:rPr sz="1500">
                <a:solidFill>
                  <a:srgbClr val="33221E"/>
                </a:solidFill>
                <a:highlight>
                  <a:srgbClr val="EBCECA"/>
                </a:highlight>
                <a:latin typeface="Avenir Next"/>
                <a:ea typeface="Hiragino Sans"/>
                <a:cs typeface="Hiragino Sans"/>
              </a:rPr>
              <a:t>距離</a:t>
            </a:r>
            <a:r>
              <a:rPr sz="1500">
                <a:solidFill>
                  <a:srgbClr val="33221E"/>
                </a:solidFill>
                <a:latin typeface="Avenir Next"/>
                <a:ea typeface="Hiragino Sans"/>
                <a:cs typeface="Hiragino Sans"/>
              </a:rPr>
              <a:t> で測る。</a:t>
            </a:r>
          </a:p>
        </p:txBody>
      </p:sp>
      <p:sp>
        <p:nvSpPr>
          <p:cNvPr id="17" name="Chevron 16"/>
          <p:cNvSpPr/>
          <p:nvPr/>
        </p:nvSpPr>
        <p:spPr>
          <a:xfrm>
            <a:off x="7838236" y="4125944"/>
            <a:ext cx="502920" cy="406400"/>
          </a:xfrm>
          <a:prstGeom prst="chevron">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42324" y="3022282"/>
            <a:ext cx="3082442" cy="2613724"/>
          </a:xfrm>
          <a:prstGeom prst="roundRect">
            <a:avLst>
              <a:gd name="adj" fmla="val 3500"/>
            </a:avLst>
          </a:prstGeom>
          <a:solidFill>
            <a:srgbClr val="7C3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20124" y="3200082"/>
            <a:ext cx="2726842" cy="310896"/>
          </a:xfrm>
          <a:prstGeom prst="rect">
            <a:avLst/>
          </a:prstGeom>
          <a:noFill/>
        </p:spPr>
        <p:txBody>
          <a:bodyPr wrap="none" lIns="0" rIns="0" tIns="0" bIns="0">
            <a:noAutofit/>
          </a:bodyPr>
          <a:lstStyle/>
          <a:p>
            <a:pPr algn="l">
              <a:defRPr sz="1200" b="1">
                <a:solidFill>
                  <a:srgbClr val="FFFFFF"/>
                </a:solidFill>
                <a:latin typeface="Avenir Next"/>
                <a:ea typeface="Hiragino Sans"/>
                <a:cs typeface="Hiragino Sans"/>
              </a:defRPr>
            </a:pPr>
            <a:r>
              <a:rPr spc="40">
                <a:ea typeface="Hiragino Sans"/>
                <a:cs typeface="Hiragino Sans"/>
              </a:rPr>
              <a:t>到達点</a:t>
            </a:r>
          </a:p>
        </p:txBody>
      </p:sp>
      <p:sp>
        <p:nvSpPr>
          <p:cNvPr id="20" name="TextBox 19"/>
          <p:cNvSpPr txBox="1"/>
          <p:nvPr/>
        </p:nvSpPr>
        <p:spPr>
          <a:xfrm>
            <a:off x="8720124" y="3561778"/>
            <a:ext cx="2726842" cy="803274"/>
          </a:xfrm>
          <a:prstGeom prst="rect">
            <a:avLst/>
          </a:prstGeom>
          <a:noFill/>
        </p:spPr>
        <p:txBody>
          <a:bodyPr wrap="none" lIns="0" rIns="0" tIns="0" bIns="0">
            <a:noAutofit/>
          </a:bodyPr>
          <a:lstStyle/>
          <a:p>
            <a:pPr algn="ctr">
              <a:defRPr sz="5059" b="1">
                <a:solidFill>
                  <a:srgbClr val="FFFFFF"/>
                </a:solidFill>
                <a:latin typeface="Avenir Next"/>
                <a:ea typeface="Hiragino Sans"/>
                <a:cs typeface="Hiragino Sans"/>
              </a:defRPr>
            </a:pPr>
            <a:r>
              <a:rPr>
                <a:ea typeface="Hiragino Sans"/>
                <a:cs typeface="Hiragino Sans"/>
              </a:rPr>
              <a:t>99%</a:t>
            </a:r>
          </a:p>
        </p:txBody>
      </p:sp>
      <p:sp>
        <p:nvSpPr>
          <p:cNvPr id="21" name="TextBox 20"/>
          <p:cNvSpPr txBox="1"/>
          <p:nvPr/>
        </p:nvSpPr>
        <p:spPr>
          <a:xfrm>
            <a:off x="8720124" y="4365052"/>
            <a:ext cx="2726842" cy="1093154"/>
          </a:xfrm>
          <a:prstGeom prst="rect">
            <a:avLst/>
          </a:prstGeom>
          <a:noFill/>
        </p:spPr>
        <p:txBody>
          <a:bodyPr wrap="square" lIns="0" rIns="0" tIns="0" bIns="0">
            <a:noAutofit/>
          </a:bodyPr>
          <a:lstStyle/>
          <a:p>
            <a:pPr>
              <a:lnSpc>
                <a:spcPct val="130000"/>
              </a:lnSpc>
            </a:pPr>
            <a:r>
              <a:rPr sz="1500">
                <a:solidFill>
                  <a:srgbClr val="EBE0DF"/>
                </a:solidFill>
                <a:latin typeface="Avenir Next"/>
                <a:ea typeface="Hiragino Sans"/>
                <a:cs typeface="Hiragino Sans"/>
              </a:rPr>
              <a:t>正常データだけを学習して、線路故障を 99% 検出できる。</a:t>
            </a:r>
          </a:p>
        </p:txBody>
      </p:sp>
      <p:sp>
        <p:nvSpPr>
          <p:cNvPr id="22" name="TextBox 21"/>
          <p:cNvSpPr txBox="1"/>
          <p:nvPr/>
        </p:nvSpPr>
        <p:spPr>
          <a:xfrm>
            <a:off x="566928" y="5745734"/>
            <a:ext cx="11057839" cy="426466"/>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数値はすべて本資料の Python コード（コード/fig_ch13.py）で計算。系統は IEEE 14 母線。GNN・PCA・Q 学習は numpy で自作。</a:t>
            </a:r>
          </a:p>
        </p:txBody>
      </p:sp>
      <p:sp>
        <p:nvSpPr>
          <p:cNvPr id="23" name="TextBox 22"/>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 / 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現場で起きたこと — 見つける速さが被害を決める</a:t>
            </a:r>
          </a:p>
        </p:txBody>
      </p:sp>
      <p:sp>
        <p:nvSpPr>
          <p:cNvPr id="3" name="TextBox 2"/>
          <p:cNvSpPr txBox="1"/>
          <p:nvPr/>
        </p:nvSpPr>
        <p:spPr>
          <a:xfrm>
            <a:off x="566928" y="2578735"/>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2015年12月 ウクライナ送電網へのサイバー攻撃</a:t>
            </a:r>
          </a:p>
        </p:txBody>
      </p:sp>
      <p:sp>
        <p:nvSpPr>
          <p:cNvPr id="4" name="TextBox 3"/>
          <p:cNvSpPr txBox="1"/>
          <p:nvPr/>
        </p:nvSpPr>
        <p:spPr>
          <a:xfrm>
            <a:off x="822960" y="2870835"/>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遠隔操作で変電所の遮断器が次々に開かれ、約 22 万戸が停電した。操作そのものは「正規の手順」に見えた。</a:t>
            </a:r>
            <a:r>
              <a:rPr sz="1500">
                <a:solidFill>
                  <a:srgbClr val="33221E"/>
                </a:solidFill>
                <a:highlight>
                  <a:srgbClr val="EBCECA"/>
                </a:highlight>
                <a:latin typeface="Avenir Next"/>
                <a:ea typeface="Hiragino Sans"/>
                <a:cs typeface="Hiragino Sans"/>
              </a:rPr>
              <a:t>普段と違う</a:t>
            </a:r>
            <a:r>
              <a:rPr sz="1500">
                <a:solidFill>
                  <a:srgbClr val="33221E"/>
                </a:solidFill>
                <a:latin typeface="Avenir Next"/>
                <a:ea typeface="Hiragino Sans"/>
                <a:cs typeface="Hiragino Sans"/>
              </a:rPr>
              <a:t> 操作の並びを早く見つける監視が要る、と世界が認識した事件である。</a:t>
            </a:r>
          </a:p>
        </p:txBody>
      </p:sp>
      <p:sp>
        <p:nvSpPr>
          <p:cNvPr id="5" name="Rectangle 4"/>
          <p:cNvSpPr/>
          <p:nvPr/>
        </p:nvSpPr>
        <p:spPr>
          <a:xfrm>
            <a:off x="566928" y="3718052"/>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895344"/>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2019年 風力予測への機械学習の適用</a:t>
            </a:r>
          </a:p>
        </p:txBody>
      </p:sp>
      <p:sp>
        <p:nvSpPr>
          <p:cNvPr id="7" name="TextBox 6"/>
          <p:cNvSpPr txBox="1"/>
          <p:nvPr/>
        </p:nvSpPr>
        <p:spPr>
          <a:xfrm>
            <a:off x="822960" y="4187444"/>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Google と DeepMind は風力発電の出力を 36 時間先まで機械学習で予測し、電力の価値を約 2 割高めたと報告した。一方、状態推定は 1970 年代から EMS の中核であり、AI はその上に載る道具である。</a:t>
            </a:r>
          </a:p>
        </p:txBody>
      </p:sp>
      <p:sp>
        <p:nvSpPr>
          <p:cNvPr id="8" name="TextBox 7"/>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4 / 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たとえ話 — 噂・健康診断・自転車</a:t>
            </a:r>
          </a:p>
        </p:txBody>
      </p:sp>
      <p:pic>
        <p:nvPicPr>
          <p:cNvPr id="3" name="Picture 2" descr="ch13_analogy.png"/>
          <p:cNvPicPr>
            <a:picLocks noChangeAspect="1"/>
          </p:cNvPicPr>
          <p:nvPr/>
        </p:nvPicPr>
        <p:blipFill>
          <a:blip r:embed="rId2"/>
          <a:stretch>
            <a:fillRect/>
          </a:stretch>
        </p:blipFill>
        <p:spPr>
          <a:xfrm>
            <a:off x="507416" y="713232"/>
            <a:ext cx="11176863" cy="5322316"/>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たとえ話が崩れる点も押さえておく。噂は伝わるほど誇張されるが、GNN の集約は平均化して差が薄まる。層を重ねすぎると全ノードが同じ値になる。　出典｜コード/fig_ch13.py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5 / 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この回の地図</a:t>
            </a:r>
          </a:p>
        </p:txBody>
      </p:sp>
      <p:sp>
        <p:nvSpPr>
          <p:cNvPr id="3" name="TextBox 2"/>
          <p:cNvSpPr txBox="1"/>
          <p:nvPr/>
        </p:nvSpPr>
        <p:spPr>
          <a:xfrm>
            <a:off x="566928" y="162763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01</a:t>
            </a:r>
          </a:p>
        </p:txBody>
      </p:sp>
      <p:sp>
        <p:nvSpPr>
          <p:cNvPr id="4" name="agenda:item:0"/>
          <p:cNvSpPr txBox="1"/>
          <p:nvPr/>
        </p:nvSpPr>
        <p:spPr>
          <a:xfrm>
            <a:off x="1572768" y="162763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3" action="ppaction://hlinksldjump"/>
              </a:rPr>
              <a:t>系統はグラフ — GNN の集約と、その限界</a:t>
            </a:r>
          </a:p>
        </p:txBody>
      </p:sp>
      <p:sp>
        <p:nvSpPr>
          <p:cNvPr id="5" name="Rectangle 4"/>
          <p:cNvSpPr/>
          <p:nvPr/>
        </p:nvSpPr>
        <p:spPr>
          <a:xfrm>
            <a:off x="566928" y="2666492"/>
            <a:ext cx="11057839" cy="9525"/>
          </a:xfrm>
          <a:prstGeom prst="rect">
            <a:avLst/>
          </a:prstGeom>
          <a:solidFill>
            <a:srgbClr val="DFD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67919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02</a:t>
            </a:r>
          </a:p>
        </p:txBody>
      </p:sp>
      <p:sp>
        <p:nvSpPr>
          <p:cNvPr id="7" name="agenda:item:1"/>
          <p:cNvSpPr txBox="1"/>
          <p:nvPr/>
        </p:nvSpPr>
        <p:spPr>
          <a:xfrm>
            <a:off x="1572768" y="267919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4" action="ppaction://hlinksldjump"/>
              </a:rPr>
              <a:t>状態推定 — 今どうなっているかを計測から復元する</a:t>
            </a:r>
          </a:p>
        </p:txBody>
      </p:sp>
      <p:sp>
        <p:nvSpPr>
          <p:cNvPr id="8" name="Rectangle 7"/>
          <p:cNvSpPr/>
          <p:nvPr/>
        </p:nvSpPr>
        <p:spPr>
          <a:xfrm>
            <a:off x="566928" y="3718052"/>
            <a:ext cx="11057839" cy="9525"/>
          </a:xfrm>
          <a:prstGeom prst="rect">
            <a:avLst/>
          </a:prstGeom>
          <a:solidFill>
            <a:srgbClr val="DFD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73075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03</a:t>
            </a:r>
          </a:p>
        </p:txBody>
      </p:sp>
      <p:sp>
        <p:nvSpPr>
          <p:cNvPr id="10" name="agenda:item:2"/>
          <p:cNvSpPr txBox="1"/>
          <p:nvPr/>
        </p:nvSpPr>
        <p:spPr>
          <a:xfrm>
            <a:off x="1572768" y="373075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5" action="ppaction://hlinksldjump"/>
              </a:rPr>
              <a:t>異常検知 — 正常を学び、距離で測る</a:t>
            </a:r>
          </a:p>
        </p:txBody>
      </p:sp>
      <p:sp>
        <p:nvSpPr>
          <p:cNvPr id="11" name="Rectangle 10"/>
          <p:cNvSpPr/>
          <p:nvPr/>
        </p:nvSpPr>
        <p:spPr>
          <a:xfrm>
            <a:off x="566928" y="4769612"/>
            <a:ext cx="11057839" cy="9525"/>
          </a:xfrm>
          <a:prstGeom prst="rect">
            <a:avLst/>
          </a:prstGeom>
          <a:solidFill>
            <a:srgbClr val="DFD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4782312"/>
            <a:ext cx="822960" cy="1051560"/>
          </a:xfrm>
          <a:prstGeom prst="rect">
            <a:avLst/>
          </a:prstGeom>
          <a:noFill/>
        </p:spPr>
        <p:txBody>
          <a:bodyPr wrap="none" lIns="0" rIns="0" tIns="0" bIns="0" anchor="ctr">
            <a:noAutofit/>
          </a:bodyPr>
          <a:lstStyle/>
          <a:p>
            <a:pPr>
              <a:defRPr sz="2600" b="1">
                <a:solidFill>
                  <a:srgbClr val="B85042"/>
                </a:solidFill>
                <a:latin typeface="Avenir Next"/>
                <a:ea typeface="Hiragino Sans"/>
                <a:cs typeface="Hiragino Sans"/>
              </a:defRPr>
            </a:pPr>
            <a:r>
              <a:rPr>
                <a:ea typeface="Hiragino Sans"/>
                <a:cs typeface="Hiragino Sans"/>
              </a:rPr>
              <a:t>04</a:t>
            </a:r>
          </a:p>
        </p:txBody>
      </p:sp>
      <p:sp>
        <p:nvSpPr>
          <p:cNvPr id="13" name="agenda:item:3"/>
          <p:cNvSpPr txBox="1"/>
          <p:nvPr/>
        </p:nvSpPr>
        <p:spPr>
          <a:xfrm>
            <a:off x="1572768" y="4782312"/>
            <a:ext cx="10051999" cy="1051560"/>
          </a:xfrm>
          <a:prstGeom prst="rect">
            <a:avLst/>
          </a:prstGeom>
          <a:noFill/>
        </p:spPr>
        <p:txBody>
          <a:bodyPr wrap="square" lIns="0" rIns="0" tIns="0" bIns="0" anchor="ctr">
            <a:noAutofit/>
          </a:bodyPr>
          <a:lstStyle/>
          <a:p>
            <a:pPr>
              <a:defRPr sz="2400">
                <a:solidFill>
                  <a:srgbClr val="33221E"/>
                </a:solidFill>
                <a:latin typeface="Avenir Next"/>
                <a:ea typeface="Hiragino Sans"/>
                <a:cs typeface="Hiragino Sans"/>
              </a:defRPr>
            </a:pPr>
            <a:r>
              <a:rPr u="none">
                <a:ea typeface="Hiragino Sans"/>
                <a:cs typeface="Hiragino Sans"/>
                <a:hlinkClick r:id="rId6" action="ppaction://hlinksldjump"/>
              </a:rPr>
              <a:t>強化学習と PINN、そして実務での使いどころ</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6 / 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01</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01</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Ⅰ. 系統はグラフ</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31487"/>
            <a:ext cx="10362895" cy="361950"/>
          </a:xfrm>
          <a:prstGeom prst="rect">
            <a:avLst/>
          </a:prstGeom>
          <a:noFill/>
        </p:spPr>
        <p:txBody>
          <a:bodyPr wrap="square" lIns="0" rIns="0" tIns="0" bIns="0">
            <a:noAutofit/>
          </a:bodyPr>
          <a:lstStyle/>
          <a:p>
            <a:pPr algn="ctr">
              <a:defRPr sz="1800">
                <a:solidFill>
                  <a:srgbClr val="71635B"/>
                </a:solidFill>
                <a:latin typeface="Avenir Next"/>
                <a:ea typeface="Hiragino Sans"/>
                <a:cs typeface="Hiragino Sans"/>
              </a:defRPr>
            </a:pPr>
            <a:r>
              <a:rPr>
                <a:ea typeface="Hiragino Sans"/>
                <a:cs typeface="Hiragino Sans"/>
              </a:rPr>
              <a:t>隣から情報を集める</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7 / 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系統をグラフとして見る</a:t>
            </a:r>
          </a:p>
        </p:txBody>
      </p:sp>
      <p:pic>
        <p:nvPicPr>
          <p:cNvPr id="3" name="Picture 2" descr="ch13_graph.png"/>
          <p:cNvPicPr>
            <a:picLocks noChangeAspect="1"/>
          </p:cNvPicPr>
          <p:nvPr/>
        </p:nvPicPr>
        <p:blipFill>
          <a:blip r:embed="rId2"/>
          <a:stretch>
            <a:fillRect/>
          </a:stretch>
        </p:blipFill>
        <p:spPr>
          <a:xfrm>
            <a:off x="228600" y="802821"/>
            <a:ext cx="11734495" cy="5143137"/>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第4回で組んだ Y_bus は、実はグラフの隣接構造そのもの（左がグラフ表現、右が隣接行列）。ここに機械学習を載せるのが GNN である。　出典｜コード/fig_ch13.py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8 /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GNN の 1 層 — 自分と隣の平均を混ぜる</a:t>
            </a:r>
          </a:p>
        </p:txBody>
      </p:sp>
      <p:sp>
        <p:nvSpPr>
          <p:cNvPr id="3" name="TextBox 2"/>
          <p:cNvSpPr txBox="1"/>
          <p:nvPr/>
        </p:nvSpPr>
        <p:spPr>
          <a:xfrm>
            <a:off x="566928" y="1991868"/>
            <a:ext cx="11057839" cy="1036319"/>
          </a:xfrm>
          <a:prstGeom prst="rect">
            <a:avLst/>
          </a:prstGeom>
          <a:noFill/>
        </p:spPr>
        <p:txBody>
          <a:bodyPr wrap="square" lIns="0" rIns="0" tIns="0" bIns="0" anchor="ctr">
            <a:noAutofit/>
          </a:bodyPr>
          <a:lstStyle/>
          <a:p>
            <a:pPr algn="ctr"/>
            <a:r>
              <a:rPr sz="3400">
                <a:solidFill>
                  <a:srgbClr val="33221E"/>
                </a:solidFill>
                <a:latin typeface="Avenir Next"/>
                <a:ea typeface="Hiragino Sans"/>
                <a:cs typeface="Hiragino Sans"/>
              </a:rPr>
              <a:t/>
            </a:r>
            <a14:m xmlns:a14="http://schemas.microsoft.com/office/drawing/2010/main" xmlns:mc="http://schemas.openxmlformats.org/markup-compatibility/2006">
              <m:oMathPara xmlns:m="http://schemas.openxmlformats.org/officeDocument/2006/math">
                <m:oMathParaPr>
                  <m:jc m:val="center"/>
                </m:oMathParaPr>
                <m:oMath>
                  <m:sSubSup>
                    <m:e>
                      <m:r>
                        <ns0:rPr xmlns:ns0="http://schemas.openxmlformats.org/wordprocessingml/2006/main">
                          <ns0:sz ns0:val="68"/>
                          <ns0:szCs ns0:val="68"/>
                        </ns0:rPr>
                        <m:t>h</m:t>
                      </m:r>
                    </m:e>
                    <m:sub>
                      <m:r>
                        <ns0:rPr xmlns:ns0="http://schemas.openxmlformats.org/wordprocessingml/2006/main">
                          <ns0:sz ns0:val="68"/>
                          <ns0:szCs ns0:val="68"/>
                        </ns0:rPr>
                        <m:t>i</m:t>
                      </m:r>
                    </m:sub>
                    <m:sup>
                      <m:r>
                        <m:rPr>
                          <m:sty m:val="p"/>
                        </m:rPr>
                        <ns0:rPr xmlns:ns0="http://schemas.openxmlformats.org/wordprocessingml/2006/main">
                          <ns0:sz ns0:val="68"/>
                          <ns0:szCs ns0:val="68"/>
                        </ns0:rPr>
                        <m:t>(</m:t>
                      </m:r>
                      <m:r>
                        <ns0:rPr xmlns:ns0="http://schemas.openxmlformats.org/wordprocessingml/2006/main">
                          <ns0:sz ns0:val="68"/>
                          <ns0:szCs ns0:val="68"/>
                        </ns0:rPr>
                        <m:t>l</m:t>
                      </m:r>
                      <m:r>
                        <m:rPr>
                          <m:sty m:val="p"/>
                        </m:rPr>
                        <ns0:rPr xmlns:ns0="http://schemas.openxmlformats.org/wordprocessingml/2006/main">
                          <ns0:sz ns0:val="68"/>
                          <ns0:szCs ns0:val="68"/>
                        </ns0:rPr>
                        <m:t>+</m:t>
                      </m:r>
                      <m:r>
                        <ns0:rPr xmlns:ns0="http://schemas.openxmlformats.org/wordprocessingml/2006/main">
                          <ns0:sz ns0:val="68"/>
                          <ns0:szCs ns0:val="68"/>
                        </ns0:rPr>
                        <m:t>1</m:t>
                      </m:r>
                      <m:r>
                        <m:rPr>
                          <m:sty m:val="p"/>
                        </m:rPr>
                        <ns0:rPr xmlns:ns0="http://schemas.openxmlformats.org/wordprocessingml/2006/main">
                          <ns0:sz ns0:val="68"/>
                          <ns0:szCs ns0:val="68"/>
                        </ns0:rPr>
                        <m:t>)</m:t>
                      </m:r>
                    </m:sup>
                  </m:sSubSup>
                  <m:r>
                    <m:rPr>
                      <m:sty m:val="p"/>
                    </m:rPr>
                    <ns0:rPr xmlns:ns0="http://schemas.openxmlformats.org/wordprocessingml/2006/main">
                      <ns0:sz ns0:val="68"/>
                      <ns0:szCs ns0:val="68"/>
                    </ns0:rPr>
                    <m:t>=</m:t>
                  </m:r>
                  <m:r>
                    <ns0:rPr xmlns:ns0="http://schemas.openxmlformats.org/wordprocessingml/2006/main">
                      <ns0:sz ns0:val="68"/>
                      <ns0:szCs ns0:val="68"/>
                    </ns0:rPr>
                    <m:t>σ</m:t>
                  </m:r>
                  <m:r>
                    <ns0:rPr xmlns:ns0="http://schemas.openxmlformats.org/wordprocessingml/2006/main">
                      <ns0:sz ns0:val="68"/>
                      <ns0:szCs ns0:val="68"/>
                    </ns0:rPr>
                    <m:t>​</m:t>
                  </m:r>
                  <m:d>
                    <m:dPr>
                      <m:begChr m:val="("/>
                      <m:sepChr m:val=""/>
                      <m:endChr m:val=")"/>
                      <m:grow/>
                    </m:dPr>
                    <m:e>
                      <m:sSub>
                        <m:e>
                          <m:r>
                            <ns0:rPr xmlns:ns0="http://schemas.openxmlformats.org/wordprocessingml/2006/main">
                              <ns0:sz ns0:val="68"/>
                              <ns0:szCs ns0:val="68"/>
                            </ns0:rPr>
                            <m:t>W</m:t>
                          </m:r>
                        </m:e>
                        <m:sub>
                          <m:r>
                            <m:rPr>
                              <m:nor/>
                              <m:sty m:val="p"/>
                            </m:rPr>
                            <ns0:rPr xmlns:ns0="http://schemas.openxmlformats.org/wordprocessingml/2006/main">
                              <ns0:sz ns0:val="68"/>
                              <ns0:szCs ns0:val="68"/>
                            </ns0:rPr>
                            <m:t>self</m:t>
                          </m:r>
                        </m:sub>
                      </m:sSub>
                      <m:r>
                        <ns0:rPr xmlns:ns0="http://schemas.openxmlformats.org/wordprocessingml/2006/main">
                          <ns0:sz ns0:val="68"/>
                          <ns0:szCs ns0:val="68"/>
                        </ns0:rPr>
                        <m:t> </m:t>
                      </m:r>
                      <m:sSubSup>
                        <m:e>
                          <m:r>
                            <ns0:rPr xmlns:ns0="http://schemas.openxmlformats.org/wordprocessingml/2006/main">
                              <ns0:sz ns0:val="68"/>
                              <ns0:szCs ns0:val="68"/>
                            </ns0:rPr>
                            <m:t>h</m:t>
                          </m:r>
                        </m:e>
                        <m:sub>
                          <m:r>
                            <ns0:rPr xmlns:ns0="http://schemas.openxmlformats.org/wordprocessingml/2006/main">
                              <ns0:sz ns0:val="68"/>
                              <ns0:szCs ns0:val="68"/>
                            </ns0:rPr>
                            <m:t>i</m:t>
                          </m:r>
                        </m:sub>
                        <m:sup>
                          <m:r>
                            <m:rPr>
                              <m:sty m:val="p"/>
                            </m:rPr>
                            <ns0:rPr xmlns:ns0="http://schemas.openxmlformats.org/wordprocessingml/2006/main">
                              <ns0:sz ns0:val="68"/>
                              <ns0:szCs ns0:val="68"/>
                            </ns0:rPr>
                            <m:t>(</m:t>
                          </m:r>
                          <m:r>
                            <ns0:rPr xmlns:ns0="http://schemas.openxmlformats.org/wordprocessingml/2006/main">
                              <ns0:sz ns0:val="68"/>
                              <ns0:szCs ns0:val="68"/>
                            </ns0:rPr>
                            <m:t>l</m:t>
                          </m:r>
                          <m:r>
                            <m:rPr>
                              <m:sty m:val="p"/>
                            </m:rPr>
                            <ns0:rPr xmlns:ns0="http://schemas.openxmlformats.org/wordprocessingml/2006/main">
                              <ns0:sz ns0:val="68"/>
                              <ns0:szCs ns0:val="68"/>
                            </ns0:rPr>
                            <m:t>)</m:t>
                          </m:r>
                        </m:sup>
                      </m:sSubSup>
                      <m:r>
                        <m:rPr>
                          <m:sty m:val="p"/>
                        </m:rPr>
                        <ns0:rPr xmlns:ns0="http://schemas.openxmlformats.org/wordprocessingml/2006/main">
                          <ns0:sz ns0:val="68"/>
                          <ns0:szCs ns0:val="68"/>
                        </ns0:rPr>
                        <m:t>+</m:t>
                      </m:r>
                      <m:sSub>
                        <m:e>
                          <m:r>
                            <ns0:rPr xmlns:ns0="http://schemas.openxmlformats.org/wordprocessingml/2006/main">
                              <ns0:sz ns0:val="68"/>
                              <ns0:szCs ns0:val="68"/>
                            </ns0:rPr>
                            <m:t>W</m:t>
                          </m:r>
                        </m:e>
                        <m:sub>
                          <m:r>
                            <m:rPr>
                              <m:nor/>
                              <m:sty m:val="p"/>
                            </m:rPr>
                            <ns0:rPr xmlns:ns0="http://schemas.openxmlformats.org/wordprocessingml/2006/main">
                              <ns0:sz ns0:val="68"/>
                              <ns0:szCs ns0:val="68"/>
                            </ns0:rPr>
                            <m:t>nbr</m:t>
                          </m:r>
                        </m:sub>
                      </m:sSub>
                      <m:r>
                        <ns0:rPr xmlns:ns0="http://schemas.openxmlformats.org/wordprocessingml/2006/main">
                          <ns0:sz ns0:val="68"/>
                          <ns0:szCs ns0:val="68"/>
                        </ns0:rPr>
                        <m:t> </m:t>
                      </m:r>
                      <m:f>
                        <m:fPr>
                          <m:type m:val="bar"/>
                        </m:fPr>
                        <m:num>
                          <m:r>
                            <ns0:rPr xmlns:ns0="http://schemas.openxmlformats.org/wordprocessingml/2006/main">
                              <ns0:sz ns0:val="68"/>
                              <ns0:szCs ns0:val="68"/>
                            </ns0:rPr>
                            <m:t>1</m:t>
                          </m:r>
                        </m:num>
                        <m:den>
                          <m:r>
                            <m:rPr>
                              <m:sty m:val="p"/>
                            </m:rPr>
                            <ns0:rPr xmlns:ns0="http://schemas.openxmlformats.org/wordprocessingml/2006/main">
                              <ns0:sz ns0:val="68"/>
                              <ns0:szCs ns0:val="68"/>
                            </ns0:rPr>
                            <m:t>|</m:t>
                          </m:r>
                          <m:r>
                            <ns0:rPr xmlns:ns0="http://schemas.openxmlformats.org/wordprocessingml/2006/main">
                              <ns0:sz ns0:val="68"/>
                              <ns0:szCs ns0:val="68"/>
                            </ns0:rPr>
                            <m:t>N</m:t>
                          </m:r>
                          <m:r>
                            <m:rPr>
                              <m:sty m:val="p"/>
                            </m:rPr>
                            <ns0:rPr xmlns:ns0="http://schemas.openxmlformats.org/wordprocessingml/2006/main">
                              <ns0:sz ns0:val="68"/>
                              <ns0:szCs ns0:val="68"/>
                            </ns0:rPr>
                            <m:t>(</m:t>
                          </m:r>
                          <m:r>
                            <ns0:rPr xmlns:ns0="http://schemas.openxmlformats.org/wordprocessingml/2006/main">
                              <ns0:sz ns0:val="68"/>
                              <ns0:szCs ns0:val="68"/>
                            </ns0:rPr>
                            <m:t>i</m:t>
                          </m:r>
                          <m:r>
                            <m:rPr>
                              <m:sty m:val="p"/>
                            </m:rPr>
                            <ns0:rPr xmlns:ns0="http://schemas.openxmlformats.org/wordprocessingml/2006/main">
                              <ns0:sz ns0:val="68"/>
                              <ns0:szCs ns0:val="68"/>
                            </ns0:rPr>
                            <m:t>)</m:t>
                          </m:r>
                          <m:r>
                            <m:rPr>
                              <m:sty m:val="p"/>
                            </m:rPr>
                            <ns0:rPr xmlns:ns0="http://schemas.openxmlformats.org/wordprocessingml/2006/main">
                              <ns0:sz ns0:val="68"/>
                              <ns0:szCs ns0:val="68"/>
                            </ns0:rPr>
                            <m:t>|</m:t>
                          </m:r>
                        </m:den>
                      </m:f>
                      <m:nary>
                        <m:naryPr>
                          <m:chr m:val="∑"/>
                          <m:limLoc m:val="undOvr"/>
                          <m:subHide m:val="off"/>
                          <m:supHide m:val="on"/>
                        </m:naryPr>
                        <m:sub>
                          <m:r>
                            <ns0:rPr xmlns:ns0="http://schemas.openxmlformats.org/wordprocessingml/2006/main">
                              <ns0:sz ns0:val="68"/>
                              <ns0:szCs ns0:val="68"/>
                            </ns0:rPr>
                            <m:t>j</m:t>
                          </m:r>
                          <m:r>
                            <m:rPr>
                              <m:sty m:val="p"/>
                            </m:rPr>
                            <ns0:rPr xmlns:ns0="http://schemas.openxmlformats.org/wordprocessingml/2006/main">
                              <ns0:sz ns0:val="68"/>
                              <ns0:szCs ns0:val="68"/>
                            </ns0:rPr>
                            <m:t>∈</m:t>
                          </m:r>
                          <m:r>
                            <ns0:rPr xmlns:ns0="http://schemas.openxmlformats.org/wordprocessingml/2006/main">
                              <ns0:sz ns0:val="68"/>
                              <ns0:szCs ns0:val="68"/>
                            </ns0:rPr>
                            <m:t>N</m:t>
                          </m:r>
                          <m:r>
                            <m:rPr>
                              <m:sty m:val="p"/>
                            </m:rPr>
                            <ns0:rPr xmlns:ns0="http://schemas.openxmlformats.org/wordprocessingml/2006/main">
                              <ns0:sz ns0:val="68"/>
                              <ns0:szCs ns0:val="68"/>
                            </ns0:rPr>
                            <m:t>(</m:t>
                          </m:r>
                          <m:r>
                            <ns0:rPr xmlns:ns0="http://schemas.openxmlformats.org/wordprocessingml/2006/main">
                              <ns0:sz ns0:val="68"/>
                              <ns0:szCs ns0:val="68"/>
                            </ns0:rPr>
                            <m:t>i</m:t>
                          </m:r>
                          <m:r>
                            <m:rPr>
                              <m:sty m:val="p"/>
                            </m:rPr>
                            <ns0:rPr xmlns:ns0="http://schemas.openxmlformats.org/wordprocessingml/2006/main">
                              <ns0:sz ns0:val="68"/>
                              <ns0:szCs ns0:val="68"/>
                            </ns0:rPr>
                            <m:t>)</m:t>
                          </m:r>
                        </m:sub>
                        <m:sup>
                          <m:r>
                            <ns0:rPr xmlns:ns0="http://schemas.openxmlformats.org/wordprocessingml/2006/main">
                              <ns0:sz ns0:val="68"/>
                              <ns0:szCs ns0:val="68"/>
                            </ns0:rPr>
                            <m:t>​</m:t>
                          </m:r>
                        </m:sup>
                        <m:e>
                          <m:sSubSup>
                            <m:e>
                              <m:r>
                                <ns0:rPr xmlns:ns0="http://schemas.openxmlformats.org/wordprocessingml/2006/main">
                                  <ns0:sz ns0:val="68"/>
                                  <ns0:szCs ns0:val="68"/>
                                </ns0:rPr>
                                <m:t>h</m:t>
                              </m:r>
                            </m:e>
                            <m:sub>
                              <m:r>
                                <ns0:rPr xmlns:ns0="http://schemas.openxmlformats.org/wordprocessingml/2006/main">
                                  <ns0:sz ns0:val="68"/>
                                  <ns0:szCs ns0:val="68"/>
                                </ns0:rPr>
                                <m:t>j</m:t>
                              </m:r>
                            </m:sub>
                            <m:sup>
                              <m:r>
                                <m:rPr>
                                  <m:sty m:val="p"/>
                                </m:rPr>
                                <ns0:rPr xmlns:ns0="http://schemas.openxmlformats.org/wordprocessingml/2006/main">
                                  <ns0:sz ns0:val="68"/>
                                  <ns0:szCs ns0:val="68"/>
                                </ns0:rPr>
                                <m:t>(</m:t>
                              </m:r>
                              <m:r>
                                <ns0:rPr xmlns:ns0="http://schemas.openxmlformats.org/wordprocessingml/2006/main">
                                  <ns0:sz ns0:val="68"/>
                                  <ns0:szCs ns0:val="68"/>
                                </ns0:rPr>
                                <m:t>l</m:t>
                              </m:r>
                              <m:r>
                                <m:rPr>
                                  <m:sty m:val="p"/>
                                </m:rPr>
                                <ns0:rPr xmlns:ns0="http://schemas.openxmlformats.org/wordprocessingml/2006/main">
                                  <ns0:sz ns0:val="68"/>
                                  <ns0:szCs ns0:val="68"/>
                                </ns0:rPr>
                                <m:t>)</m:t>
                              </m:r>
                            </m:sup>
                          </m:sSubSup>
                        </m:e>
                      </m:nary>
                    </m:e>
                  </m:d>
                </m:oMath>
              </m:oMathPara>
            </a14:m>
          </a:p>
        </p:txBody>
      </p:sp>
      <p:sp>
        <p:nvSpPr>
          <p:cNvPr id="4" name="TextBox 3"/>
          <p:cNvSpPr txBox="1"/>
          <p:nvPr/>
        </p:nvSpPr>
        <p:spPr>
          <a:xfrm>
            <a:off x="2255367" y="3055619"/>
            <a:ext cx="1554480" cy="237744"/>
          </a:xfrm>
          <a:prstGeom prst="rect">
            <a:avLst/>
          </a:prstGeom>
          <a:noFill/>
        </p:spPr>
        <p:txBody>
          <a:bodyPr wrap="none" lIns="0" rIns="0" tIns="0" bIns="0">
            <a:noAutofit/>
          </a:bodyPr>
          <a:lstStyle/>
          <a:p>
            <a:pPr algn="r">
              <a:defRPr sz="1200" b="1">
                <a:solidFill>
                  <a:srgbClr val="71635B"/>
                </a:solidFill>
                <a:latin typeface="Avenir Next"/>
                <a:ea typeface="Hiragino Sans"/>
                <a:cs typeface="Hiragino Sans"/>
              </a:defRPr>
            </a:pPr>
            <a:r>
              <a:rPr spc="180">
                <a:ea typeface="Hiragino Sans"/>
                <a:cs typeface="Hiragino Sans"/>
              </a:rPr>
              <a:t>WHERE</a:t>
            </a:r>
          </a:p>
        </p:txBody>
      </p:sp>
      <p:sp>
        <p:nvSpPr>
          <p:cNvPr id="5" name="Rectangle 4"/>
          <p:cNvSpPr/>
          <p:nvPr/>
        </p:nvSpPr>
        <p:spPr>
          <a:xfrm>
            <a:off x="4038447" y="3293363"/>
            <a:ext cx="9525" cy="1755648"/>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367" y="3256787"/>
            <a:ext cx="1554480" cy="457200"/>
          </a:xfrm>
          <a:prstGeom prst="rect">
            <a:avLst/>
          </a:prstGeom>
          <a:noFill/>
        </p:spPr>
        <p:txBody>
          <a:bodyPr wrap="none" lIns="0" rIns="0" tIns="0" bIns="0" anchor="ctr">
            <a:noAutofit/>
          </a:bodyPr>
          <a:lstStyle/>
          <a:p>
            <a:pPr algn="r"/>
            <a:r>
              <a:rPr sz="2000">
                <a:solidFill>
                  <a:srgbClr val="A03A2E"/>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N</m:t>
                </m:r>
                <m:r>
                  <m:rPr>
                    <m:sty m:val="p"/>
                  </m:rPr>
                  <ns0:rPr xmlns:ns0="http://schemas.openxmlformats.org/wordprocessingml/2006/main">
                    <ns0:sz ns0:val="40"/>
                    <ns0:szCs ns0:val="40"/>
                  </ns0:rPr>
                  <m:t>(</m:t>
                </m:r>
                <m:r>
                  <ns0:rPr xmlns:ns0="http://schemas.openxmlformats.org/wordprocessingml/2006/main">
                    <ns0:sz ns0:val="40"/>
                    <ns0:szCs ns0:val="40"/>
                  </ns0:rPr>
                  <m:t>i</m:t>
                </m:r>
                <m:r>
                  <m:rPr>
                    <m:sty m:val="p"/>
                  </m:rPr>
                  <ns0:rPr xmlns:ns0="http://schemas.openxmlformats.org/wordprocessingml/2006/main">
                    <ns0:sz ns0:val="40"/>
                    <ns0:szCs ns0:val="40"/>
                  </ns0:rPr>
                  <m:t>)</m:t>
                </m:r>
              </m:oMath>
            </a14:m>
          </a:p>
        </p:txBody>
      </p:sp>
      <p:sp>
        <p:nvSpPr>
          <p:cNvPr id="7" name="TextBox 6"/>
          <p:cNvSpPr txBox="1"/>
          <p:nvPr/>
        </p:nvSpPr>
        <p:spPr>
          <a:xfrm>
            <a:off x="4267047" y="3256787"/>
            <a:ext cx="5669280" cy="457200"/>
          </a:xfrm>
          <a:prstGeom prst="rect">
            <a:avLst/>
          </a:prstGeom>
          <a:noFill/>
        </p:spPr>
        <p:txBody>
          <a:bodyPr wrap="square" lIns="0" rIns="0" tIns="0" bIns="0" anchor="ctr">
            <a:noAutofit/>
          </a:bodyPr>
          <a:lstStyle/>
          <a:p>
            <a:r>
              <a:rPr sz="1400">
                <a:solidFill>
                  <a:srgbClr val="33221E"/>
                </a:solidFill>
                <a:latin typeface="Avenir Next"/>
                <a:ea typeface="Hiragino Sans"/>
                <a:cs typeface="Hiragino Sans"/>
              </a:rPr>
              <a:t>母線 i の隣接母線。Y_bus の非零パターンがそのまま隣接関係になる</a:t>
            </a:r>
          </a:p>
        </p:txBody>
      </p:sp>
      <p:sp>
        <p:nvSpPr>
          <p:cNvPr id="8" name="TextBox 7"/>
          <p:cNvSpPr txBox="1"/>
          <p:nvPr/>
        </p:nvSpPr>
        <p:spPr>
          <a:xfrm>
            <a:off x="2255367" y="3713987"/>
            <a:ext cx="1554480" cy="457200"/>
          </a:xfrm>
          <a:prstGeom prst="rect">
            <a:avLst/>
          </a:prstGeom>
          <a:noFill/>
        </p:spPr>
        <p:txBody>
          <a:bodyPr wrap="none" lIns="0" rIns="0" tIns="0" bIns="0" anchor="ctr">
            <a:noAutofit/>
          </a:bodyPr>
          <a:lstStyle/>
          <a:p>
            <a:pPr algn="r"/>
            <a:r>
              <a:rPr sz="2000">
                <a:solidFill>
                  <a:srgbClr val="A03A2E"/>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W</m:t>
                    </m:r>
                  </m:e>
                  <m:sub>
                    <m:r>
                      <m:rPr>
                        <m:nor/>
                        <m:sty m:val="p"/>
                      </m:rPr>
                      <ns0:rPr xmlns:ns0="http://schemas.openxmlformats.org/wordprocessingml/2006/main">
                        <ns0:sz ns0:val="40"/>
                        <ns0:szCs ns0:val="40"/>
                      </ns0:rPr>
                      <m:t>self</m:t>
                    </m:r>
                  </m:sub>
                </m:sSub>
                <m:r>
                  <m:rPr>
                    <m:sty m:val="p"/>
                  </m:rPr>
                  <ns0:rPr xmlns:ns0="http://schemas.openxmlformats.org/wordprocessingml/2006/main">
                    <ns0:sz ns0:val="40"/>
                    <ns0:szCs ns0:val="40"/>
                  </ns0:rPr>
                  <m:t>,</m:t>
                </m:r>
                <m:sSub>
                  <m:e>
                    <m:r>
                      <ns0:rPr xmlns:ns0="http://schemas.openxmlformats.org/wordprocessingml/2006/main">
                        <ns0:sz ns0:val="40"/>
                        <ns0:szCs ns0:val="40"/>
                      </ns0:rPr>
                      <m:t>W</m:t>
                    </m:r>
                  </m:e>
                  <m:sub>
                    <m:r>
                      <m:rPr>
                        <m:nor/>
                        <m:sty m:val="p"/>
                      </m:rPr>
                      <ns0:rPr xmlns:ns0="http://schemas.openxmlformats.org/wordprocessingml/2006/main">
                        <ns0:sz ns0:val="40"/>
                        <ns0:szCs ns0:val="40"/>
                      </ns0:rPr>
                      <m:t>nbr</m:t>
                    </m:r>
                  </m:sub>
                </m:sSub>
              </m:oMath>
            </a14:m>
          </a:p>
        </p:txBody>
      </p:sp>
      <p:sp>
        <p:nvSpPr>
          <p:cNvPr id="9" name="TextBox 8"/>
          <p:cNvSpPr txBox="1"/>
          <p:nvPr/>
        </p:nvSpPr>
        <p:spPr>
          <a:xfrm>
            <a:off x="4267047" y="3713987"/>
            <a:ext cx="5669280" cy="457200"/>
          </a:xfrm>
          <a:prstGeom prst="rect">
            <a:avLst/>
          </a:prstGeom>
          <a:noFill/>
        </p:spPr>
        <p:txBody>
          <a:bodyPr wrap="square" lIns="0" rIns="0" tIns="0" bIns="0" anchor="ctr">
            <a:noAutofit/>
          </a:bodyPr>
          <a:lstStyle/>
          <a:p>
            <a:r>
              <a:rPr sz="1400">
                <a:solidFill>
                  <a:srgbClr val="33221E"/>
                </a:solidFill>
                <a:latin typeface="Avenir Next"/>
                <a:ea typeface="Hiragino Sans"/>
                <a:cs typeface="Hiragino Sans"/>
              </a:rPr>
              <a:t>全ノード共通の重み。だから母線番号の順序に依らず、大きな系統にも使い回せる</a:t>
            </a:r>
          </a:p>
        </p:txBody>
      </p:sp>
      <p:sp>
        <p:nvSpPr>
          <p:cNvPr id="10" name="TextBox 9"/>
          <p:cNvSpPr txBox="1"/>
          <p:nvPr/>
        </p:nvSpPr>
        <p:spPr>
          <a:xfrm>
            <a:off x="2255367" y="4171187"/>
            <a:ext cx="1554480" cy="457200"/>
          </a:xfrm>
          <a:prstGeom prst="rect">
            <a:avLst/>
          </a:prstGeom>
          <a:noFill/>
        </p:spPr>
        <p:txBody>
          <a:bodyPr wrap="none" lIns="0" rIns="0" tIns="0" bIns="0" anchor="ctr">
            <a:noAutofit/>
          </a:bodyPr>
          <a:lstStyle/>
          <a:p>
            <a:pPr algn="r"/>
            <a:r>
              <a:rPr sz="2000">
                <a:solidFill>
                  <a:srgbClr val="A03A2E"/>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l</m:t>
                </m:r>
              </m:oMath>
            </a14:m>
          </a:p>
        </p:txBody>
      </p:sp>
      <p:sp>
        <p:nvSpPr>
          <p:cNvPr id="11" name="TextBox 10"/>
          <p:cNvSpPr txBox="1"/>
          <p:nvPr/>
        </p:nvSpPr>
        <p:spPr>
          <a:xfrm>
            <a:off x="4267047" y="4171187"/>
            <a:ext cx="5669280" cy="457200"/>
          </a:xfrm>
          <a:prstGeom prst="rect">
            <a:avLst/>
          </a:prstGeom>
          <a:noFill/>
        </p:spPr>
        <p:txBody>
          <a:bodyPr wrap="square" lIns="0" rIns="0" tIns="0" bIns="0" anchor="ctr">
            <a:noAutofit/>
          </a:bodyPr>
          <a:lstStyle/>
          <a:p>
            <a:r>
              <a:rPr sz="1400">
                <a:solidFill>
                  <a:srgbClr val="33221E"/>
                </a:solidFill>
                <a:latin typeface="Avenir Next"/>
                <a:ea typeface="Hiragino Sans"/>
                <a:cs typeface="Hiragino Sans"/>
              </a:rPr>
              <a:t>層数：l 層で l ホップ先の情報が届く。潮流の影響範囲に合わせて 2〜4 層</a:t>
            </a:r>
          </a:p>
        </p:txBody>
      </p:sp>
      <p:sp>
        <p:nvSpPr>
          <p:cNvPr id="12" name="TextBox 11"/>
          <p:cNvSpPr txBox="1"/>
          <p:nvPr/>
        </p:nvSpPr>
        <p:spPr>
          <a:xfrm>
            <a:off x="2255367" y="4628387"/>
            <a:ext cx="1554480" cy="457200"/>
          </a:xfrm>
          <a:prstGeom prst="rect">
            <a:avLst/>
          </a:prstGeom>
          <a:noFill/>
        </p:spPr>
        <p:txBody>
          <a:bodyPr wrap="none" lIns="0" rIns="0" tIns="0" bIns="0" anchor="ctr">
            <a:noAutofit/>
          </a:bodyPr>
          <a:lstStyle/>
          <a:p>
            <a:pPr algn="r"/>
            <a:r>
              <a:rPr sz="2000">
                <a:solidFill>
                  <a:srgbClr val="A03A2E"/>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p>
                  <m:e>
                    <m:r>
                      <ns0:rPr xmlns:ns0="http://schemas.openxmlformats.org/wordprocessingml/2006/main">
                        <ns0:sz ns0:val="40"/>
                        <ns0:szCs ns0:val="40"/>
                      </ns0:rPr>
                      <m:t>h</m:t>
                    </m:r>
                  </m:e>
                  <m:sup>
                    <m:r>
                      <m:rPr>
                        <m:sty m:val="p"/>
                      </m:rPr>
                      <ns0:rPr xmlns:ns0="http://schemas.openxmlformats.org/wordprocessingml/2006/main">
                        <ns0:sz ns0:val="40"/>
                        <ns0:szCs ns0:val="40"/>
                      </ns0:rPr>
                      <m:t>(</m:t>
                    </m:r>
                    <m:r>
                      <ns0:rPr xmlns:ns0="http://schemas.openxmlformats.org/wordprocessingml/2006/main">
                        <ns0:sz ns0:val="40"/>
                        <ns0:szCs ns0:val="40"/>
                      </ns0:rPr>
                      <m:t>l</m:t>
                    </m:r>
                    <m:r>
                      <m:rPr>
                        <m:sty m:val="p"/>
                      </m:rPr>
                      <ns0:rPr xmlns:ns0="http://schemas.openxmlformats.org/wordprocessingml/2006/main">
                        <ns0:sz ns0:val="40"/>
                        <ns0:szCs ns0:val="40"/>
                      </ns0:rPr>
                      <m:t>)</m:t>
                    </m:r>
                  </m:sup>
                </m:sSup>
              </m:oMath>
            </a14:m>
          </a:p>
        </p:txBody>
      </p:sp>
      <p:sp>
        <p:nvSpPr>
          <p:cNvPr id="13" name="TextBox 12"/>
          <p:cNvSpPr txBox="1"/>
          <p:nvPr/>
        </p:nvSpPr>
        <p:spPr>
          <a:xfrm>
            <a:off x="4267047" y="4628387"/>
            <a:ext cx="5669280" cy="457200"/>
          </a:xfrm>
          <a:prstGeom prst="rect">
            <a:avLst/>
          </a:prstGeom>
          <a:noFill/>
        </p:spPr>
        <p:txBody>
          <a:bodyPr wrap="square" lIns="0" rIns="0" tIns="0" bIns="0" anchor="ctr">
            <a:noAutofit/>
          </a:bodyPr>
          <a:lstStyle/>
          <a:p>
            <a:r>
              <a:rPr sz="1550">
                <a:solidFill>
                  <a:srgbClr val="33221E"/>
                </a:solidFill>
                <a:latin typeface="Avenir Next"/>
                <a:ea typeface="Hiragino Sans"/>
                <a:cs typeface="Hiragino Sans"/>
              </a:rPr>
              <a:t>用途：潮流の近似、状態推定の初期値、N-1 のスクリーニング</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9 /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1 層で隣、2 層で隣の隣</a:t>
            </a:r>
          </a:p>
        </p:txBody>
      </p:sp>
      <p:pic>
        <p:nvPicPr>
          <p:cNvPr id="3" name="Picture 2" descr="ch13_gnn.png"/>
          <p:cNvPicPr>
            <a:picLocks noChangeAspect="1"/>
          </p:cNvPicPr>
          <p:nvPr/>
        </p:nvPicPr>
        <p:blipFill>
          <a:blip r:embed="rId2"/>
          <a:stretch>
            <a:fillRect/>
          </a:stretch>
        </p:blipFill>
        <p:spPr>
          <a:xfrm>
            <a:off x="228600" y="1115481"/>
            <a:ext cx="11734495" cy="4517817"/>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4 母線の直線グラフで、層を重ねたときの実際の数値を示す。層を重ねるほど遠くの情報が届くが、同時に値が平均化されて差が消えていく。　出典｜コード/fig_ch13.py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10 / 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過平滑化 — 深くしすぎると区別がつかない</a:t>
            </a:r>
          </a:p>
        </p:txBody>
      </p:sp>
      <p:pic>
        <p:nvPicPr>
          <p:cNvPr id="3" name="Picture 2" descr="ch13_oversmooth.png"/>
          <p:cNvPicPr>
            <a:picLocks noChangeAspect="1"/>
          </p:cNvPicPr>
          <p:nvPr/>
        </p:nvPicPr>
        <p:blipFill>
          <a:blip r:embed="rId2"/>
          <a:stretch>
            <a:fillRect/>
          </a:stretch>
        </p:blipFill>
        <p:spPr>
          <a:xfrm>
            <a:off x="228600" y="1090341"/>
            <a:ext cx="11734495" cy="4568098"/>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左が各ノードの値、右がノード間のばらつきの推移である。深層学習の「深いほど良い」は GNN には当てはまらず、設計するのは深さではなく届けたいホップ数である。　出典｜コード/fig_ch13.py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11 / 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02</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02</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Ⅱ. 状態推定</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31487"/>
            <a:ext cx="10362895" cy="361950"/>
          </a:xfrm>
          <a:prstGeom prst="rect">
            <a:avLst/>
          </a:prstGeom>
          <a:noFill/>
        </p:spPr>
        <p:txBody>
          <a:bodyPr wrap="square" lIns="0" rIns="0" tIns="0" bIns="0">
            <a:noAutofit/>
          </a:bodyPr>
          <a:lstStyle/>
          <a:p>
            <a:pPr algn="ctr">
              <a:defRPr sz="1800">
                <a:solidFill>
                  <a:srgbClr val="71635B"/>
                </a:solidFill>
                <a:latin typeface="Avenir Next"/>
                <a:ea typeface="Hiragino Sans"/>
                <a:cs typeface="Hiragino Sans"/>
              </a:defRPr>
            </a:pPr>
            <a:r>
              <a:rPr>
                <a:ea typeface="Hiragino Sans"/>
                <a:cs typeface="Hiragino Sans"/>
              </a:rPr>
              <a:t>今どうなっているかを計測から復元する</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12 / 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加重最小二乗（WLS）</a:t>
            </a:r>
          </a:p>
        </p:txBody>
      </p:sp>
      <p:sp>
        <p:nvSpPr>
          <p:cNvPr id="3" name="TextBox 2"/>
          <p:cNvSpPr txBox="1"/>
          <p:nvPr/>
        </p:nvSpPr>
        <p:spPr>
          <a:xfrm>
            <a:off x="566928" y="2075212"/>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計測は誤差を含む｜z = h(x) + e</a:t>
            </a:r>
          </a:p>
        </p:txBody>
      </p:sp>
      <p:sp>
        <p:nvSpPr>
          <p:cNvPr id="4" name="TextBox 3"/>
          <p:cNvSpPr txBox="1"/>
          <p:nvPr/>
        </p:nvSpPr>
        <p:spPr>
          <a:xfrm>
            <a:off x="822960" y="2367312"/>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計測 z（潮流・電圧・注入）と、状態 x（各母線の電圧の大きさと位相）を結ぶのが潮流の式 h(x)。計測誤差 e の分散は計器ごとに違う。</a:t>
            </a:r>
          </a:p>
        </p:txBody>
      </p:sp>
      <p:sp>
        <p:nvSpPr>
          <p:cNvPr id="5" name="Rectangle 4"/>
          <p:cNvSpPr/>
          <p:nvPr/>
        </p:nvSpPr>
        <p:spPr>
          <a:xfrm>
            <a:off x="566928" y="3214529"/>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uild:ghost"/>
          <p:cNvSpPr txBox="1"/>
          <p:nvPr/>
        </p:nvSpPr>
        <p:spPr>
          <a:xfrm>
            <a:off x="566928" y="3391821"/>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② 精度の良い計測を重く扱う｜J(x) = Σ (z_i − h_i(x))² / σ_i²</a:t>
            </a:r>
          </a:p>
        </p:txBody>
      </p:sp>
      <p:sp>
        <p:nvSpPr>
          <p:cNvPr id="7" name="build:ghost"/>
          <p:cNvSpPr txBox="1"/>
          <p:nvPr/>
        </p:nvSpPr>
        <p:spPr>
          <a:xfrm>
            <a:off x="822960" y="3683921"/>
            <a:ext cx="10801807" cy="385762"/>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σ が小さい（正確な）計測ほど、ずれたときのペナルティが大きい。この J を最小にする x を探す。</a:t>
            </a:r>
          </a:p>
        </p:txBody>
      </p:sp>
      <p:sp>
        <p:nvSpPr>
          <p:cNvPr id="8" name="Rectangle 7"/>
          <p:cNvSpPr/>
          <p:nvPr/>
        </p:nvSpPr>
        <p:spPr>
          <a:xfrm>
            <a:off x="566928" y="4221575"/>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398867"/>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③ 反復で解く｜(HᵀR⁻¹H) Δx = HᵀR⁻¹(z − h(x))</a:t>
            </a:r>
          </a:p>
        </p:txBody>
      </p:sp>
      <p:sp>
        <p:nvSpPr>
          <p:cNvPr id="10" name="build:ghost"/>
          <p:cNvSpPr txBox="1"/>
          <p:nvPr/>
        </p:nvSpPr>
        <p:spPr>
          <a:xfrm>
            <a:off x="822960" y="4690967"/>
            <a:ext cx="10801807" cy="695325"/>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H は h の偏微分（ヤコビアン）。形は第5回のニュートン・ラフソン法と同じで、</a:t>
            </a:r>
            <a:r>
              <a:rPr sz="1500" b="1">
                <a:solidFill>
                  <a:srgbClr val="C1BCBB"/>
                </a:solidFill>
                <a:latin typeface="Avenir Next"/>
                <a:ea typeface="Hiragino Sans"/>
                <a:cs typeface="Hiragino Sans"/>
              </a:rPr>
              <a:t>計測が未知数より多い</a:t>
            </a:r>
            <a:r>
              <a:rPr sz="1500">
                <a:solidFill>
                  <a:srgbClr val="C1BCBB"/>
                </a:solidFill>
                <a:latin typeface="Avenir Next"/>
                <a:ea typeface="Hiragino Sans"/>
                <a:cs typeface="Hiragino Sans"/>
              </a:rPr>
              <a:t>（冗長）ことが前提になる。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13 / 31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加重最小二乗（WLS）</a:t>
            </a:r>
          </a:p>
        </p:txBody>
      </p:sp>
      <p:sp>
        <p:nvSpPr>
          <p:cNvPr id="3" name="TextBox 2"/>
          <p:cNvSpPr txBox="1"/>
          <p:nvPr/>
        </p:nvSpPr>
        <p:spPr>
          <a:xfrm>
            <a:off x="566928" y="2075212"/>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計測は誤差を含む｜z = h(x) + e</a:t>
            </a:r>
          </a:p>
        </p:txBody>
      </p:sp>
      <p:sp>
        <p:nvSpPr>
          <p:cNvPr id="4" name="TextBox 3"/>
          <p:cNvSpPr txBox="1"/>
          <p:nvPr/>
        </p:nvSpPr>
        <p:spPr>
          <a:xfrm>
            <a:off x="822960" y="2367312"/>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計測 z（潮流・電圧・注入）と、状態 x（各母線の電圧の大きさと位相）を結ぶのが潮流の式 h(x)。計測誤差 e の分散は計器ごとに違う。</a:t>
            </a:r>
          </a:p>
        </p:txBody>
      </p:sp>
      <p:sp>
        <p:nvSpPr>
          <p:cNvPr id="5" name="Rectangle 4"/>
          <p:cNvSpPr/>
          <p:nvPr/>
        </p:nvSpPr>
        <p:spPr>
          <a:xfrm>
            <a:off x="566928" y="3214529"/>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391821"/>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② 精度の良い計測を重く扱う｜J(x) = Σ (z_i − h_i(x))² / σ_i²</a:t>
            </a:r>
          </a:p>
        </p:txBody>
      </p:sp>
      <p:sp>
        <p:nvSpPr>
          <p:cNvPr id="7" name="TextBox 6"/>
          <p:cNvSpPr txBox="1"/>
          <p:nvPr/>
        </p:nvSpPr>
        <p:spPr>
          <a:xfrm>
            <a:off x="822960" y="3683921"/>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σ が小さい（正確な）計測ほど、ずれたときのペナルティが大きい。この J を最小にする x を探す。</a:t>
            </a:r>
          </a:p>
        </p:txBody>
      </p:sp>
      <p:sp>
        <p:nvSpPr>
          <p:cNvPr id="8" name="Rectangle 7"/>
          <p:cNvSpPr/>
          <p:nvPr/>
        </p:nvSpPr>
        <p:spPr>
          <a:xfrm>
            <a:off x="566928" y="4221575"/>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398867"/>
            <a:ext cx="11057839" cy="254000"/>
          </a:xfrm>
          <a:prstGeom prst="rect">
            <a:avLst/>
          </a:prstGeom>
          <a:noFill/>
        </p:spPr>
        <p:txBody>
          <a:bodyPr wrap="none" lIns="0" rIns="0" tIns="0" bIns="0">
            <a:noAutofit/>
          </a:bodyPr>
          <a:lstStyle/>
          <a:p>
            <a:r>
              <a:rPr sz="1600" b="1">
                <a:solidFill>
                  <a:srgbClr val="C1C9C5"/>
                </a:solidFill>
                <a:latin typeface="Avenir Next"/>
                <a:ea typeface="Hiragino Sans"/>
                <a:cs typeface="Hiragino Sans"/>
              </a:rPr>
              <a:t>③ 反復で解く｜(HᵀR⁻¹H) Δx = HᵀR⁻¹(z − h(x))</a:t>
            </a:r>
          </a:p>
        </p:txBody>
      </p:sp>
      <p:sp>
        <p:nvSpPr>
          <p:cNvPr id="10" name="build:ghost"/>
          <p:cNvSpPr txBox="1"/>
          <p:nvPr/>
        </p:nvSpPr>
        <p:spPr>
          <a:xfrm>
            <a:off x="822960" y="4690967"/>
            <a:ext cx="10801807" cy="695325"/>
          </a:xfrm>
          <a:prstGeom prst="rect">
            <a:avLst/>
          </a:prstGeom>
          <a:noFill/>
        </p:spPr>
        <p:txBody>
          <a:bodyPr wrap="square" lIns="0" rIns="0" tIns="0" bIns="0">
            <a:noAutofit/>
          </a:bodyPr>
          <a:lstStyle/>
          <a:p>
            <a:pPr>
              <a:lnSpc>
                <a:spcPct val="130000"/>
              </a:lnSpc>
            </a:pPr>
            <a:r>
              <a:rPr sz="1500">
                <a:solidFill>
                  <a:srgbClr val="C1BCBB"/>
                </a:solidFill>
                <a:latin typeface="Avenir Next"/>
                <a:ea typeface="Hiragino Sans"/>
                <a:cs typeface="Hiragino Sans"/>
              </a:rPr>
              <a:t>H は h の偏微分（ヤコビアン）。形は第5回のニュートン・ラフソン法と同じで、</a:t>
            </a:r>
            <a:r>
              <a:rPr sz="1500" b="1">
                <a:solidFill>
                  <a:srgbClr val="C1BCBB"/>
                </a:solidFill>
                <a:latin typeface="Avenir Next"/>
                <a:ea typeface="Hiragino Sans"/>
                <a:cs typeface="Hiragino Sans"/>
              </a:rPr>
              <a:t>計測が未知数より多い</a:t>
            </a:r>
            <a:r>
              <a:rPr sz="1500">
                <a:solidFill>
                  <a:srgbClr val="C1BCBB"/>
                </a:solidFill>
                <a:latin typeface="Avenir Next"/>
                <a:ea typeface="Hiragino Sans"/>
                <a:cs typeface="Hiragino Sans"/>
              </a:rPr>
              <a:t>（冗長）ことが前提になる。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14 / 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導出 — 加重最小二乗（WLS）</a:t>
            </a:r>
          </a:p>
        </p:txBody>
      </p:sp>
      <p:sp>
        <p:nvSpPr>
          <p:cNvPr id="3" name="TextBox 2"/>
          <p:cNvSpPr txBox="1"/>
          <p:nvPr/>
        </p:nvSpPr>
        <p:spPr>
          <a:xfrm>
            <a:off x="566928" y="2075212"/>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① 計測は誤差を含む｜z = h(x) + e</a:t>
            </a:r>
          </a:p>
        </p:txBody>
      </p:sp>
      <p:sp>
        <p:nvSpPr>
          <p:cNvPr id="4" name="TextBox 3"/>
          <p:cNvSpPr txBox="1"/>
          <p:nvPr/>
        </p:nvSpPr>
        <p:spPr>
          <a:xfrm>
            <a:off x="822960" y="2367312"/>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計測 z（潮流・電圧・注入）と、状態 x（各母線の電圧の大きさと位相）を結ぶのが潮流の式 h(x)。計測誤差 e の分散は計器ごとに違う。</a:t>
            </a:r>
          </a:p>
        </p:txBody>
      </p:sp>
      <p:sp>
        <p:nvSpPr>
          <p:cNvPr id="5" name="Rectangle 4"/>
          <p:cNvSpPr/>
          <p:nvPr/>
        </p:nvSpPr>
        <p:spPr>
          <a:xfrm>
            <a:off x="566928" y="3214529"/>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391821"/>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② 精度の良い計測を重く扱う｜J(x) = Σ (z_i − h_i(x))² / σ_i²</a:t>
            </a:r>
          </a:p>
        </p:txBody>
      </p:sp>
      <p:sp>
        <p:nvSpPr>
          <p:cNvPr id="7" name="TextBox 6"/>
          <p:cNvSpPr txBox="1"/>
          <p:nvPr/>
        </p:nvSpPr>
        <p:spPr>
          <a:xfrm>
            <a:off x="822960" y="3683921"/>
            <a:ext cx="10801807" cy="385762"/>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σ が小さい（正確な）計測ほど、ずれたときのペナルティが大きい。この J を最小にする x を探す。</a:t>
            </a:r>
          </a:p>
        </p:txBody>
      </p:sp>
      <p:sp>
        <p:nvSpPr>
          <p:cNvPr id="8" name="Rectangle 7"/>
          <p:cNvSpPr/>
          <p:nvPr/>
        </p:nvSpPr>
        <p:spPr>
          <a:xfrm>
            <a:off x="566928" y="4221575"/>
            <a:ext cx="11057839" cy="9525"/>
          </a:xfrm>
          <a:prstGeom prst="rect">
            <a:avLst/>
          </a:prstGeom>
          <a:solidFill>
            <a:srgbClr val="E5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398867"/>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③ 反復で解く｜(HᵀR⁻¹H) Δx = HᵀR⁻¹(z − h(x))</a:t>
            </a:r>
          </a:p>
        </p:txBody>
      </p:sp>
      <p:sp>
        <p:nvSpPr>
          <p:cNvPr id="10" name="TextBox 9"/>
          <p:cNvSpPr txBox="1"/>
          <p:nvPr/>
        </p:nvSpPr>
        <p:spPr>
          <a:xfrm>
            <a:off x="822960" y="4690967"/>
            <a:ext cx="10801807" cy="695325"/>
          </a:xfrm>
          <a:prstGeom prst="rect">
            <a:avLst/>
          </a:prstGeom>
          <a:noFill/>
        </p:spPr>
        <p:txBody>
          <a:bodyPr wrap="square" lIns="0" rIns="0" tIns="0" bIns="0">
            <a:noAutofit/>
          </a:bodyPr>
          <a:lstStyle/>
          <a:p>
            <a:pPr>
              <a:lnSpc>
                <a:spcPct val="130000"/>
              </a:lnSpc>
            </a:pPr>
            <a:r>
              <a:rPr sz="1500">
                <a:solidFill>
                  <a:srgbClr val="33221E"/>
                </a:solidFill>
                <a:latin typeface="Avenir Next"/>
                <a:ea typeface="Hiragino Sans"/>
                <a:cs typeface="Hiragino Sans"/>
              </a:rPr>
              <a:t>H は h の偏微分（ヤコビアン）。形は第5回のニュートン・ラフソン法と同じで、</a:t>
            </a:r>
            <a:r>
              <a:rPr sz="1500" b="1">
                <a:solidFill>
                  <a:srgbClr val="33221E"/>
                </a:solidFill>
                <a:latin typeface="Avenir Next"/>
                <a:ea typeface="Hiragino Sans"/>
                <a:cs typeface="Hiragino Sans"/>
              </a:rPr>
              <a:t>計測が未知数より多い</a:t>
            </a:r>
            <a:r>
              <a:rPr sz="1500">
                <a:solidFill>
                  <a:srgbClr val="33221E"/>
                </a:solidFill>
                <a:latin typeface="Avenir Next"/>
                <a:ea typeface="Hiragino Sans"/>
                <a:cs typeface="Hiragino Sans"/>
              </a:rPr>
              <a:t>（冗長）ことが前提になる。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15 / 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精度の違う計測をどう混ぜるか</a:t>
            </a:r>
          </a:p>
        </p:txBody>
      </p:sp>
      <p:pic>
        <p:nvPicPr>
          <p:cNvPr id="3" name="Picture 2" descr="ch13_state_estimation.png"/>
          <p:cNvPicPr>
            <a:picLocks noChangeAspect="1"/>
          </p:cNvPicPr>
          <p:nvPr/>
        </p:nvPicPr>
        <p:blipFill>
          <a:blip r:embed="rId2"/>
          <a:stretch>
            <a:fillRect/>
          </a:stretch>
        </p:blipFill>
        <p:spPr>
          <a:xfrm>
            <a:off x="228600" y="1128482"/>
            <a:ext cx="11734495" cy="4491816"/>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「たくさん測って平均する」のではなく「精度に応じて重みをつけて混ぜる」（左が目的関数、右が真値からの誤差）。それだけで推定は大きく改善する。　出典｜コード/fig_ch13.py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16 / 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不良データを見つける</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読み方｜推定値との残差。しきい値を超えたものが疑わしい</a:t>
            </a:r>
          </a:p>
        </p:txBody>
      </p:sp>
      <p:pic>
        <p:nvPicPr>
          <p:cNvPr id="4" name="Picture 3" descr="ch13_bad_data.png"/>
          <p:cNvPicPr>
            <a:picLocks noChangeAspect="1"/>
          </p:cNvPicPr>
          <p:nvPr/>
        </p:nvPicPr>
        <p:blipFill>
          <a:blip r:embed="rId2"/>
          <a:stretch>
            <a:fillRect/>
          </a:stretch>
        </p:blipFill>
        <p:spPr>
          <a:xfrm>
            <a:off x="566928" y="1683512"/>
            <a:ext cx="6083139" cy="3171825"/>
          </a:xfrm>
          <a:prstGeom prst="rect">
            <a:avLst/>
          </a:prstGeom>
        </p:spPr>
      </p:pic>
      <p:sp>
        <p:nvSpPr>
          <p:cNvPr id="5" name="TextBox 4"/>
          <p:cNvSpPr txBox="1"/>
          <p:nvPr/>
        </p:nvSpPr>
        <p:spPr>
          <a:xfrm>
            <a:off x="566928" y="4910201"/>
            <a:ext cx="6083139"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出典｜コード/fig_ch13.py</a:t>
            </a:r>
          </a:p>
        </p:txBody>
      </p:sp>
      <p:sp>
        <p:nvSpPr>
          <p:cNvPr id="6" name="TextBox 5"/>
          <p:cNvSpPr txBox="1"/>
          <p:nvPr/>
        </p:nvSpPr>
        <p:spPr>
          <a:xfrm>
            <a:off x="7034115" y="2470975"/>
            <a:ext cx="4590652" cy="19685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冗長な計測があるから残差が計算できる</a:t>
            </a:r>
          </a:p>
          <a:p>
            <a:pPr>
              <a:spcBef>
                <a:spcPts val="400"/>
              </a:spcBef>
              <a:buChar char="•"/>
            </a:pPr>
            <a:r>
              <a:rPr sz="2000">
                <a:solidFill>
                  <a:srgbClr val="33221E"/>
                </a:solidFill>
                <a:latin typeface="Avenir Next"/>
                <a:ea typeface="Hiragino Sans"/>
                <a:cs typeface="Hiragino Sans"/>
              </a:rPr>
              <a:t>3σ を超えた計測を除いて再推定</a:t>
            </a:r>
          </a:p>
          <a:p>
            <a:pPr>
              <a:spcBef>
                <a:spcPts val="400"/>
              </a:spcBef>
              <a:buChar char="•"/>
            </a:pPr>
            <a:r>
              <a:rPr sz="2000">
                <a:solidFill>
                  <a:srgbClr val="33221E"/>
                </a:solidFill>
                <a:latin typeface="Avenir Next"/>
                <a:ea typeface="Hiragino Sans"/>
                <a:cs typeface="Hiragino Sans"/>
              </a:rPr>
              <a:t>故障した計器・通信エラーを検出</a:t>
            </a:r>
          </a:p>
          <a:p>
            <a:pPr>
              <a:spcBef>
                <a:spcPts val="400"/>
              </a:spcBef>
              <a:buChar char="•"/>
            </a:pPr>
            <a:r>
              <a:rPr sz="2000">
                <a:solidFill>
                  <a:srgbClr val="33221E"/>
                </a:solidFill>
                <a:latin typeface="Avenir Next"/>
                <a:ea typeface="Hiragino Sans"/>
                <a:cs typeface="Hiragino Sans"/>
              </a:rPr>
              <a:t>除いた後にもう一度 WLS を回す</a:t>
            </a:r>
          </a:p>
        </p:txBody>
      </p:sp>
      <p:sp>
        <p:nvSpPr>
          <p:cNvPr id="7" name="Rounded Rectangle 6"/>
          <p:cNvSpPr/>
          <p:nvPr/>
        </p:nvSpPr>
        <p:spPr>
          <a:xfrm>
            <a:off x="566928" y="5482971"/>
            <a:ext cx="11057839" cy="625221"/>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482971"/>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609971"/>
            <a:ext cx="10600639" cy="371221"/>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状態推定は「推定する」だけでなく「計測を検品する」機能を持つ。EMS のすべての計算はこの後に続く。</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17 / 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03</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03</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Ⅲ. 異常検知</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31487"/>
            <a:ext cx="10362895" cy="361950"/>
          </a:xfrm>
          <a:prstGeom prst="rect">
            <a:avLst/>
          </a:prstGeom>
          <a:noFill/>
        </p:spPr>
        <p:txBody>
          <a:bodyPr wrap="square" lIns="0" rIns="0" tIns="0" bIns="0">
            <a:noAutofit/>
          </a:bodyPr>
          <a:lstStyle/>
          <a:p>
            <a:pPr algn="ctr">
              <a:defRPr sz="1800">
                <a:solidFill>
                  <a:srgbClr val="71635B"/>
                </a:solidFill>
                <a:latin typeface="Avenir Next"/>
                <a:ea typeface="Hiragino Sans"/>
                <a:cs typeface="Hiragino Sans"/>
              </a:defRPr>
            </a:pPr>
            <a:r>
              <a:rPr>
                <a:ea typeface="Hiragino Sans"/>
                <a:cs typeface="Hiragino Sans"/>
              </a:rPr>
              <a:t>正常を学び、距離で測る</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18 /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PCA — 正常時の潮流は少数の軸で表せる</a:t>
            </a:r>
          </a:p>
        </p:txBody>
      </p:sp>
      <p:pic>
        <p:nvPicPr>
          <p:cNvPr id="3" name="Picture 2" descr="ch13_pca.png"/>
          <p:cNvPicPr>
            <a:picLocks noChangeAspect="1"/>
          </p:cNvPicPr>
          <p:nvPr/>
        </p:nvPicPr>
        <p:blipFill>
          <a:blip r:embed="rId2"/>
          <a:stretch>
            <a:fillRect/>
          </a:stretch>
        </p:blipFill>
        <p:spPr>
          <a:xfrm>
            <a:off x="228600" y="1130809"/>
            <a:ext cx="11734495" cy="4487162"/>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事故データを 1 つも学習していないのに検出できるのは、「正常から遠い」という判断だけで済むからである（左が累積寄与率、右が再構成誤差の分布）。　出典｜コード/fig_ch13.py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19 / 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オートエンコーダ — 同じ考えを非線形に</a:t>
            </a:r>
          </a:p>
        </p:txBody>
      </p:sp>
      <p:pic>
        <p:nvPicPr>
          <p:cNvPr id="3" name="Picture 2" descr="ch13_autoencoder.png"/>
          <p:cNvPicPr>
            <a:picLocks noChangeAspect="1"/>
          </p:cNvPicPr>
          <p:nvPr/>
        </p:nvPicPr>
        <p:blipFill>
          <a:blip r:embed="rId2"/>
          <a:stretch>
            <a:fillRect/>
          </a:stretch>
        </p:blipFill>
        <p:spPr>
          <a:xfrm>
            <a:off x="228600" y="804269"/>
            <a:ext cx="11734495" cy="5140241"/>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圧縮して復元し、その差を測る仕組みである。事故データは希少で未知の故障もあるため、「正常を学ぶ」設計にするのが実務上の解である。　出典｜コード/fig_ch13.py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20 / 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o:ghost-number"/>
          <p:cNvSpPr txBox="1"/>
          <p:nvPr/>
        </p:nvSpPr>
        <p:spPr>
          <a:xfrm>
            <a:off x="777240" y="777240"/>
            <a:ext cx="4572000" cy="2381250"/>
          </a:xfrm>
          <a:prstGeom prst="rect">
            <a:avLst/>
          </a:prstGeom>
          <a:noFill/>
        </p:spPr>
        <p:txBody>
          <a:bodyPr wrap="none" lIns="0" rIns="0" tIns="0" bIns="0">
            <a:noAutofit/>
          </a:bodyPr>
          <a:lstStyle/>
          <a:p>
            <a:pPr algn="l">
              <a:defRPr sz="15000" b="1">
                <a:solidFill>
                  <a:srgbClr val="EFE6E5"/>
                </a:solidFill>
                <a:latin typeface="Avenir Next"/>
                <a:ea typeface="Hiragino Sans"/>
                <a:cs typeface="Hiragino Sans"/>
              </a:defRPr>
            </a:pPr>
            <a:r>
              <a:rPr>
                <a:ea typeface="Hiragino Sans"/>
                <a:cs typeface="Hiragino Sans"/>
              </a:rPr>
              <a:t>04</a:t>
            </a:r>
          </a:p>
        </p:txBody>
      </p:sp>
      <p:sp>
        <p:nvSpPr>
          <p:cNvPr id="3" name="TextBox 2"/>
          <p:cNvSpPr txBox="1"/>
          <p:nvPr/>
        </p:nvSpPr>
        <p:spPr>
          <a:xfrm>
            <a:off x="914400" y="3200400"/>
            <a:ext cx="10362895" cy="237744"/>
          </a:xfrm>
          <a:prstGeom prst="rect">
            <a:avLst/>
          </a:prstGeom>
          <a:noFill/>
        </p:spPr>
        <p:txBody>
          <a:bodyPr wrap="none" lIns="0" rIns="0" tIns="0" bIns="0">
            <a:noAutofit/>
          </a:bodyPr>
          <a:lstStyle/>
          <a:p>
            <a:pPr algn="ctr">
              <a:defRPr sz="1200" b="1">
                <a:solidFill>
                  <a:srgbClr val="A03A2E"/>
                </a:solidFill>
                <a:latin typeface="Avenir Next"/>
                <a:ea typeface="Hiragino Sans"/>
                <a:cs typeface="Hiragino Sans"/>
              </a:defRPr>
            </a:pPr>
            <a:r>
              <a:rPr spc="200">
                <a:ea typeface="Hiragino Sans"/>
                <a:cs typeface="Hiragino Sans"/>
              </a:rPr>
              <a:t>SECTION 04</a:t>
            </a:r>
          </a:p>
        </p:txBody>
      </p:sp>
      <p:sp>
        <p:nvSpPr>
          <p:cNvPr id="4" name="TextBox 3"/>
          <p:cNvSpPr txBox="1"/>
          <p:nvPr/>
        </p:nvSpPr>
        <p:spPr>
          <a:xfrm>
            <a:off x="914400" y="3584448"/>
            <a:ext cx="10362895" cy="572135"/>
          </a:xfrm>
          <a:prstGeom prst="rect">
            <a:avLst/>
          </a:prstGeom>
          <a:noFill/>
        </p:spPr>
        <p:txBody>
          <a:bodyPr wrap="square" lIns="0" rIns="0" tIns="0" bIns="0">
            <a:noAutofit/>
          </a:bodyPr>
          <a:lstStyle/>
          <a:p>
            <a:pPr algn="ctr">
              <a:lnSpc>
                <a:spcPct val="106000"/>
              </a:lnSpc>
              <a:defRPr sz="3400" b="1">
                <a:solidFill>
                  <a:srgbClr val="7C332A"/>
                </a:solidFill>
                <a:latin typeface="Avenir Next"/>
                <a:ea typeface="Hiragino Sans"/>
                <a:cs typeface="Hiragino Sans"/>
              </a:defRPr>
            </a:pPr>
            <a:r>
              <a:rPr>
                <a:ea typeface="Hiragino Sans"/>
                <a:cs typeface="Hiragino Sans"/>
              </a:rPr>
              <a:t>Ⅳ. 学習と物理</a:t>
            </a:r>
          </a:p>
        </p:txBody>
      </p:sp>
      <p:sp>
        <p:nvSpPr>
          <p:cNvPr id="5" name="Rectangle 4"/>
          <p:cNvSpPr/>
          <p:nvPr/>
        </p:nvSpPr>
        <p:spPr>
          <a:xfrm>
            <a:off x="5775807" y="4321175"/>
            <a:ext cx="6400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31487"/>
            <a:ext cx="10362895" cy="361950"/>
          </a:xfrm>
          <a:prstGeom prst="rect">
            <a:avLst/>
          </a:prstGeom>
          <a:noFill/>
        </p:spPr>
        <p:txBody>
          <a:bodyPr wrap="square" lIns="0" rIns="0" tIns="0" bIns="0">
            <a:noAutofit/>
          </a:bodyPr>
          <a:lstStyle/>
          <a:p>
            <a:pPr algn="ctr">
              <a:defRPr sz="1800">
                <a:solidFill>
                  <a:srgbClr val="71635B"/>
                </a:solidFill>
                <a:latin typeface="Avenir Next"/>
                <a:ea typeface="Hiragino Sans"/>
                <a:cs typeface="Hiragino Sans"/>
              </a:defRPr>
            </a:pPr>
            <a:r>
              <a:rPr>
                <a:ea typeface="Hiragino Sans"/>
                <a:cs typeface="Hiragino Sans"/>
              </a:rPr>
              <a:t>制御を学ぶ、物理を守らせる</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21 / 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強化学習 — 試行錯誤で制御則を得る</a:t>
            </a:r>
          </a:p>
        </p:txBody>
      </p:sp>
      <p:pic>
        <p:nvPicPr>
          <p:cNvPr id="3" name="Picture 2" descr="ch13_rl.png"/>
          <p:cNvPicPr>
            <a:picLocks noChangeAspect="1"/>
          </p:cNvPicPr>
          <p:nvPr/>
        </p:nvPicPr>
        <p:blipFill>
          <a:blip r:embed="rId2"/>
          <a:stretch>
            <a:fillRect/>
          </a:stretch>
        </p:blipFill>
        <p:spPr>
          <a:xfrm>
            <a:off x="228600" y="1115424"/>
            <a:ext cx="11734495" cy="4517932"/>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左が学習の進み、右が学習された方策である。人が制御則を書かなくても、報酬の設計だけで妥当な方策に至る。ただし報酬の設計自体が難しい。　出典｜コード/fig_ch13.py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22 / 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PINN — 物理を知っている家庭教師</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5C7268"/>
                </a:solidFill>
                <a:latin typeface="Avenir Next"/>
                <a:ea typeface="Hiragino Sans"/>
                <a:cs typeface="Hiragino Sans"/>
              </a:rPr>
              <a:t>読み方｜データが無い領域で、物理項の有無がどう効くか</a:t>
            </a:r>
          </a:p>
        </p:txBody>
      </p:sp>
      <p:pic>
        <p:nvPicPr>
          <p:cNvPr id="4" name="Picture 3" descr="ch13_pinn.png"/>
          <p:cNvPicPr>
            <a:picLocks noChangeAspect="1"/>
          </p:cNvPicPr>
          <p:nvPr/>
        </p:nvPicPr>
        <p:blipFill>
          <a:blip r:embed="rId2"/>
          <a:stretch>
            <a:fillRect/>
          </a:stretch>
        </p:blipFill>
        <p:spPr>
          <a:xfrm>
            <a:off x="566928" y="1683512"/>
            <a:ext cx="5341111" cy="3171825"/>
          </a:xfrm>
          <a:prstGeom prst="rect">
            <a:avLst/>
          </a:prstGeom>
        </p:spPr>
      </p:pic>
      <p:sp>
        <p:nvSpPr>
          <p:cNvPr id="5" name="TextBox 4"/>
          <p:cNvSpPr txBox="1"/>
          <p:nvPr/>
        </p:nvSpPr>
        <p:spPr>
          <a:xfrm>
            <a:off x="566928" y="4910201"/>
            <a:ext cx="5341111" cy="371602"/>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出典｜コード/fig_ch13.py</a:t>
            </a:r>
          </a:p>
        </p:txBody>
      </p:sp>
      <p:sp>
        <p:nvSpPr>
          <p:cNvPr id="6" name="TextBox 5"/>
          <p:cNvSpPr txBox="1"/>
          <p:nvPr/>
        </p:nvSpPr>
        <p:spPr>
          <a:xfrm>
            <a:off x="6292087" y="2629725"/>
            <a:ext cx="5332680" cy="1651000"/>
          </a:xfrm>
          <a:prstGeom prst="rect">
            <a:avLst/>
          </a:prstGeom>
          <a:noFill/>
        </p:spPr>
        <p:txBody>
          <a:bodyPr wrap="square" lIns="0" rIns="0" tIns="0" bIns="0">
            <a:noAutofit/>
          </a:bodyPr>
          <a:lstStyle/>
          <a:p>
            <a:pPr>
              <a:spcBef>
                <a:spcPts val="400"/>
              </a:spcBef>
              <a:buChar char="•"/>
            </a:pPr>
            <a:r>
              <a:rPr sz="2000">
                <a:solidFill>
                  <a:srgbClr val="33221E"/>
                </a:solidFill>
                <a:latin typeface="Avenir Next"/>
                <a:ea typeface="Hiragino Sans"/>
                <a:cs typeface="Hiragino Sans"/>
              </a:rPr>
              <a:t>観測は δ &lt; 0.6 の範囲だけ</a:t>
            </a:r>
          </a:p>
          <a:p>
            <a:pPr>
              <a:spcBef>
                <a:spcPts val="400"/>
              </a:spcBef>
              <a:buChar char="•"/>
            </a:pPr>
            <a:r>
              <a:rPr sz="2000">
                <a:solidFill>
                  <a:srgbClr val="33221E"/>
                </a:solidFill>
                <a:latin typeface="Avenir Next"/>
                <a:ea typeface="Hiragino Sans"/>
                <a:cs typeface="Hiragino Sans"/>
              </a:rPr>
              <a:t>データのみ：外側で大きく外れる（2.13）</a:t>
            </a:r>
          </a:p>
          <a:p>
            <a:pPr>
              <a:spcBef>
                <a:spcPts val="400"/>
              </a:spcBef>
              <a:buChar char="•"/>
            </a:pPr>
            <a:r>
              <a:rPr sz="2000">
                <a:solidFill>
                  <a:srgbClr val="33221E"/>
                </a:solidFill>
                <a:latin typeface="Avenir Next"/>
                <a:ea typeface="Hiragino Sans"/>
                <a:cs typeface="Hiragino Sans"/>
              </a:rPr>
              <a:t>物理項あり：ほぼ真値どおり（0.00）</a:t>
            </a:r>
          </a:p>
          <a:p>
            <a:pPr>
              <a:spcBef>
                <a:spcPts val="400"/>
              </a:spcBef>
              <a:buChar char="•"/>
            </a:pPr>
            <a:r>
              <a:rPr sz="2000">
                <a:solidFill>
                  <a:srgbClr val="33221E"/>
                </a:solidFill>
                <a:latin typeface="Avenir Next"/>
                <a:ea typeface="Hiragino Sans"/>
                <a:cs typeface="Hiragino Sans"/>
              </a:rPr>
              <a:t>損失に「潮流方程式の残差」を足すだけ</a:t>
            </a:r>
          </a:p>
        </p:txBody>
      </p:sp>
      <p:sp>
        <p:nvSpPr>
          <p:cNvPr id="7" name="Rounded Rectangle 6"/>
          <p:cNvSpPr/>
          <p:nvPr/>
        </p:nvSpPr>
        <p:spPr>
          <a:xfrm>
            <a:off x="566928" y="5482971"/>
            <a:ext cx="11057839" cy="625221"/>
          </a:xfrm>
          <a:prstGeom prst="roundRect">
            <a:avLst>
              <a:gd name="adj" fmla="val 3500"/>
            </a:avLst>
          </a:prstGeom>
          <a:solidFill>
            <a:srgbClr val="F3EFE3"/>
          </a:solidFill>
          <a:ln w="9525">
            <a:solidFill>
              <a:srgbClr val="E5DC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482971"/>
            <a:ext cx="11057839"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609971"/>
            <a:ext cx="10600639" cy="371221"/>
          </a:xfrm>
          <a:prstGeom prst="rect">
            <a:avLst/>
          </a:prstGeom>
          <a:noFill/>
        </p:spPr>
        <p:txBody>
          <a:bodyPr wrap="square" lIns="0" rIns="0" tIns="0" bIns="0" anchor="ctr">
            <a:noAutofit/>
          </a:bodyPr>
          <a:lstStyle/>
          <a:p>
            <a:pPr>
              <a:spcBef>
                <a:spcPts val="400"/>
              </a:spcBef>
            </a:pPr>
            <a:r>
              <a:rPr sz="1500">
                <a:solidFill>
                  <a:srgbClr val="33221E"/>
                </a:solidFill>
                <a:latin typeface="Avenir Next"/>
                <a:ea typeface="Hiragino Sans"/>
                <a:cs typeface="Hiragino Sans"/>
              </a:rPr>
              <a:t>第12回の「木は外挿できない」への一つの答え。物理を損失に入れれば、データの無い領域でも法則に沿う。</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23 / 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実務での使いどころ — 2 段構え</a:t>
            </a:r>
          </a:p>
        </p:txBody>
      </p:sp>
      <p:pic>
        <p:nvPicPr>
          <p:cNvPr id="3" name="Picture 2" descr="ch13_pipeline.png"/>
          <p:cNvPicPr>
            <a:picLocks noChangeAspect="1"/>
          </p:cNvPicPr>
          <p:nvPr/>
        </p:nvPicPr>
        <p:blipFill>
          <a:blip r:embed="rId2"/>
          <a:stretch>
            <a:fillRect/>
          </a:stretch>
        </p:blipFill>
        <p:spPr>
          <a:xfrm>
            <a:off x="228600" y="1009929"/>
            <a:ext cx="11734495" cy="4938726"/>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速さは AI が担い、正しさは物理計算が保証する。役割を分けるからこそ、説明責任と信頼性の要求に応えられる。　出典｜コード/fig_ch13.py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24 / 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今日の数字</a:t>
            </a:r>
          </a:p>
        </p:txBody>
      </p:sp>
      <p:sp>
        <p:nvSpPr>
          <p:cNvPr id="3" name="Rounded Rectangle 2"/>
          <p:cNvSpPr/>
          <p:nvPr/>
        </p:nvSpPr>
        <p:spPr>
          <a:xfrm>
            <a:off x="566928"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99%</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線路故障の検出率（正常のみ学習）</a:t>
            </a:r>
          </a:p>
        </p:txBody>
      </p:sp>
      <p:sp>
        <p:nvSpPr>
          <p:cNvPr id="6" name="Rounded Rectangle 5"/>
          <p:cNvSpPr/>
          <p:nvPr/>
        </p:nvSpPr>
        <p:spPr>
          <a:xfrm>
            <a:off x="4344314"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44314"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914"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1.2%</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強化学習後の電圧逸脱</a:t>
            </a:r>
          </a:p>
        </p:txBody>
      </p:sp>
      <p:sp>
        <p:nvSpPr>
          <p:cNvPr id="9" name="Rounded Rectangle 8"/>
          <p:cNvSpPr/>
          <p:nvPr/>
        </p:nvSpPr>
        <p:spPr>
          <a:xfrm>
            <a:off x="8121700" y="2857627"/>
            <a:ext cx="3503066" cy="1746250"/>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21700" y="2857627"/>
            <a:ext cx="3503066" cy="381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50300" y="3124327"/>
            <a:ext cx="3045866" cy="1250950"/>
          </a:xfrm>
          <a:prstGeom prst="rect">
            <a:avLst/>
          </a:prstGeom>
          <a:noFill/>
        </p:spPr>
        <p:txBody>
          <a:bodyPr wrap="square" lIns="0" rIns="0" tIns="0" bIns="0" anchor="ctr">
            <a:noAutofit/>
          </a:bodyPr>
          <a:lstStyle/>
          <a:p>
            <a:pPr algn="ctr"/>
            <a:r>
              <a:rPr sz="6000" b="1">
                <a:solidFill>
                  <a:srgbClr val="B85042"/>
                </a:solidFill>
                <a:latin typeface="Avenir Next"/>
                <a:ea typeface="Hiragino Sans"/>
                <a:cs typeface="Hiragino Sans"/>
              </a:rPr>
              <a:t>43%</a:t>
            </a:r>
          </a:p>
          <a:p>
            <a:pPr algn="ctr">
              <a:spcBef>
                <a:spcPts val="600"/>
              </a:spcBef>
              <a:defRPr sz="1400" b="1">
                <a:solidFill>
                  <a:srgbClr val="71635B"/>
                </a:solidFill>
                <a:latin typeface="Avenir Next"/>
                <a:ea typeface="Hiragino Sans"/>
                <a:cs typeface="Hiragino Sans"/>
              </a:defRPr>
            </a:pPr>
            <a:r>
              <a:rPr spc="40">
                <a:ea typeface="Hiragino Sans"/>
                <a:cs typeface="Hiragino Sans"/>
              </a:rPr>
              <a:t>4 層 GNN で残るノード間の差</a:t>
            </a:r>
          </a:p>
        </p:txBody>
      </p:sp>
      <p:sp>
        <p:nvSpPr>
          <p:cNvPr id="12" name="TextBox 11"/>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25 / 31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例題 1 — GNN の 1 層を手で計算する</a:t>
            </a:r>
          </a:p>
        </p:txBody>
      </p:sp>
      <p:sp>
        <p:nvSpPr>
          <p:cNvPr id="3" name="Oval 2"/>
          <p:cNvSpPr/>
          <p:nvPr/>
        </p:nvSpPr>
        <p:spPr>
          <a:xfrm>
            <a:off x="1597113"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1</a:t>
            </a:r>
          </a:p>
        </p:txBody>
      </p:sp>
      <p:sp>
        <p:nvSpPr>
          <p:cNvPr id="4" name="Rounded Rectangle 3"/>
          <p:cNvSpPr/>
          <p:nvPr/>
        </p:nvSpPr>
        <p:spPr>
          <a:xfrm>
            <a:off x="566928"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設定</a:t>
            </a:r>
          </a:p>
          <a:p>
            <a:pPr>
              <a:spcBef>
                <a:spcPts val="600"/>
              </a:spcBef>
            </a:pPr>
            <a:r>
              <a:rPr sz="1500">
                <a:solidFill>
                  <a:srgbClr val="33221E"/>
                </a:solidFill>
                <a:latin typeface="Avenir Next"/>
                <a:ea typeface="Hiragino Sans"/>
                <a:cs typeface="Hiragino Sans"/>
              </a:rPr>
              <a:t>母線 1–2–3–4 が一直線。特徴量 h = [1.0, 2.0, 0.5, 1.5]、W_self = W_nbr = 0.5</a:t>
            </a:r>
          </a:p>
        </p:txBody>
      </p:sp>
      <p:sp>
        <p:nvSpPr>
          <p:cNvPr id="6" name="Oval 5"/>
          <p:cNvSpPr/>
          <p:nvPr/>
        </p:nvSpPr>
        <p:spPr>
          <a:xfrm>
            <a:off x="4425580"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2</a:t>
            </a:r>
          </a:p>
        </p:txBody>
      </p:sp>
      <p:sp>
        <p:nvSpPr>
          <p:cNvPr id="7" name="Rounded Rectangle 6"/>
          <p:cNvSpPr/>
          <p:nvPr/>
        </p:nvSpPr>
        <p:spPr>
          <a:xfrm>
            <a:off x="3395395"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3995"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母線 2（隣は 1 と 3）</a:t>
            </a:r>
          </a:p>
          <a:p>
            <a:pPr>
              <a:spcBef>
                <a:spcPts val="600"/>
              </a:spcBef>
            </a:pPr>
            <a:r>
              <a:rPr sz="1500">
                <a:solidFill>
                  <a:srgbClr val="33221E"/>
                </a:solidFill>
                <a:latin typeface="Avenir Next"/>
                <a:ea typeface="Hiragino Sans"/>
                <a:cs typeface="Hiragino Sans"/>
              </a:rPr>
              <a:t>隣の平均 = (1.0 + 0.5)/2 = 0.75 → 0.5×2.0 + 0.5×0.75 = 1.375</a:t>
            </a:r>
          </a:p>
        </p:txBody>
      </p:sp>
      <p:sp>
        <p:nvSpPr>
          <p:cNvPr id="9" name="Oval 8"/>
          <p:cNvSpPr/>
          <p:nvPr/>
        </p:nvSpPr>
        <p:spPr>
          <a:xfrm>
            <a:off x="7254047"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3</a:t>
            </a:r>
          </a:p>
        </p:txBody>
      </p:sp>
      <p:sp>
        <p:nvSpPr>
          <p:cNvPr id="10" name="Rounded Rectangle 9"/>
          <p:cNvSpPr/>
          <p:nvPr/>
        </p:nvSpPr>
        <p:spPr>
          <a:xfrm>
            <a:off x="6223862"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2462"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端の母線 1（隣は 2 だけ）</a:t>
            </a:r>
          </a:p>
          <a:p>
            <a:pPr>
              <a:spcBef>
                <a:spcPts val="600"/>
              </a:spcBef>
            </a:pPr>
            <a:r>
              <a:rPr sz="1500">
                <a:solidFill>
                  <a:srgbClr val="33221E"/>
                </a:solidFill>
                <a:latin typeface="Avenir Next"/>
                <a:ea typeface="Hiragino Sans"/>
                <a:cs typeface="Hiragino Sans"/>
              </a:rPr>
              <a:t>0.5×1.0 + 0.5×2.0 = 1.500</a:t>
            </a:r>
          </a:p>
        </p:txBody>
      </p:sp>
      <p:sp>
        <p:nvSpPr>
          <p:cNvPr id="12" name="Oval 11"/>
          <p:cNvSpPr/>
          <p:nvPr/>
        </p:nvSpPr>
        <p:spPr>
          <a:xfrm>
            <a:off x="10082514" y="1691640"/>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4</a:t>
            </a:r>
          </a:p>
        </p:txBody>
      </p:sp>
      <p:sp>
        <p:nvSpPr>
          <p:cNvPr id="13" name="Rounded Rectangle 12"/>
          <p:cNvSpPr/>
          <p:nvPr/>
        </p:nvSpPr>
        <p:spPr>
          <a:xfrm>
            <a:off x="9052329" y="2368296"/>
            <a:ext cx="2572435" cy="3401568"/>
          </a:xfrm>
          <a:prstGeom prst="roundRect">
            <a:avLst>
              <a:gd name="adj" fmla="val 3500"/>
            </a:avLst>
          </a:prstGeom>
          <a:solidFill>
            <a:srgbClr val="F3EFE3"/>
          </a:solidFill>
          <a:ln w="9525">
            <a:solidFill>
              <a:srgbClr val="E5DCCE"/>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0929" y="2596896"/>
            <a:ext cx="2115235" cy="2944368"/>
          </a:xfrm>
          <a:prstGeom prst="rect">
            <a:avLst/>
          </a:prstGeom>
          <a:noFill/>
        </p:spPr>
        <p:txBody>
          <a:bodyPr wrap="square" lIns="0" rIns="0" tIns="0" bIns="0" anchor="ctr">
            <a:noAutofit/>
          </a:bodyPr>
          <a:lstStyle/>
          <a:p>
            <a:pPr algn="l">
              <a:defRPr sz="1800" b="1">
                <a:solidFill>
                  <a:srgbClr val="5C7268"/>
                </a:solidFill>
                <a:latin typeface="Avenir Next"/>
                <a:ea typeface="Hiragino Sans"/>
                <a:cs typeface="Hiragino Sans"/>
              </a:defRPr>
            </a:pPr>
            <a:r>
              <a:rPr spc="40">
                <a:ea typeface="Hiragino Sans"/>
                <a:cs typeface="Hiragino Sans"/>
              </a:rPr>
              <a:t>2 層目</a:t>
            </a:r>
          </a:p>
          <a:p>
            <a:pPr>
              <a:spcBef>
                <a:spcPts val="600"/>
              </a:spcBef>
            </a:pPr>
            <a:r>
              <a:rPr sz="1500">
                <a:solidFill>
                  <a:srgbClr val="33221E"/>
                </a:solidFill>
                <a:latin typeface="Avenir Next"/>
                <a:ea typeface="Hiragino Sans"/>
                <a:cs typeface="Hiragino Sans"/>
              </a:rPr>
              <a:t>母線 1 に母線 3 の情報が届く。層数だけ遠くまで伝わる</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26 / 31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動く図で試す — viz/ai.html</a:t>
            </a:r>
          </a:p>
        </p:txBody>
      </p:sp>
      <p:pic>
        <p:nvPicPr>
          <p:cNvPr id="3" name="Picture 2" descr="ch13_viz.png"/>
          <p:cNvPicPr>
            <a:picLocks noChangeAspect="1"/>
          </p:cNvPicPr>
          <p:nvPr/>
        </p:nvPicPr>
        <p:blipFill>
          <a:blip r:embed="rId2"/>
          <a:stretch>
            <a:fillRect/>
          </a:stretch>
        </p:blipFill>
        <p:spPr>
          <a:xfrm>
            <a:off x="3682217" y="1353312"/>
            <a:ext cx="4827260" cy="3242310"/>
          </a:xfrm>
          <a:prstGeom prst="rect">
            <a:avLst/>
          </a:prstGeom>
        </p:spPr>
      </p:pic>
      <p:sp>
        <p:nvSpPr>
          <p:cNvPr id="4" name="TextBox 3"/>
          <p:cNvSpPr txBox="1"/>
          <p:nvPr/>
        </p:nvSpPr>
        <p:spPr>
          <a:xfrm>
            <a:off x="566928" y="4732782"/>
            <a:ext cx="11057839" cy="29845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動く図 メッセージパッシング・PCA 異常検知・Q 学習をブラウザ内で実計算する 13 枚のスライド。</a:t>
            </a:r>
          </a:p>
        </p:txBody>
      </p:sp>
      <p:sp>
        <p:nvSpPr>
          <p:cNvPr id="5" name="TextBox 4"/>
          <p:cNvSpPr txBox="1"/>
          <p:nvPr/>
        </p:nvSpPr>
        <p:spPr>
          <a:xfrm>
            <a:off x="566928" y="5214112"/>
            <a:ext cx="11057839" cy="939800"/>
          </a:xfrm>
          <a:prstGeom prst="rect">
            <a:avLst/>
          </a:prstGeom>
          <a:noFill/>
        </p:spPr>
        <p:txBody>
          <a:bodyPr wrap="square" lIns="0" rIns="0" tIns="0" bIns="0">
            <a:spAutoFit/>
          </a:bodyPr>
          <a:lstStyle/>
          <a:p>
            <a:pPr>
              <a:spcBef>
                <a:spcPts val="400"/>
              </a:spcBef>
              <a:buChar char="•"/>
            </a:pPr>
            <a:r>
              <a:rPr sz="1600">
                <a:solidFill>
                  <a:srgbClr val="33221E"/>
                </a:solidFill>
                <a:latin typeface="Avenir Next"/>
                <a:ea typeface="Hiragino Sans"/>
                <a:cs typeface="Hiragino Sans"/>
              </a:rPr>
              <a:t>メッセージパッシングを 1 層ずつ進め、情報が隣へ隣へ広がるのを見る</a:t>
            </a:r>
          </a:p>
          <a:p>
            <a:pPr>
              <a:spcBef>
                <a:spcPts val="400"/>
              </a:spcBef>
              <a:buChar char="•"/>
            </a:pPr>
            <a:r>
              <a:rPr sz="1600">
                <a:solidFill>
                  <a:srgbClr val="33221E"/>
                </a:solidFill>
                <a:latin typeface="Avenir Next"/>
                <a:ea typeface="Hiragino Sans"/>
                <a:cs typeface="Hiragino Sans"/>
              </a:rPr>
              <a:t>PCA の再構成誤差で、線路故障の潮流パターンが「普段」から外れるのを見る</a:t>
            </a:r>
          </a:p>
          <a:p>
            <a:pPr>
              <a:spcBef>
                <a:spcPts val="400"/>
              </a:spcBef>
              <a:buChar char="•"/>
            </a:pPr>
            <a:r>
              <a:rPr sz="1600">
                <a:solidFill>
                  <a:srgbClr val="33221E"/>
                </a:solidFill>
                <a:latin typeface="Avenir Next"/>
                <a:ea typeface="Hiragino Sans"/>
                <a:cs typeface="Hiragino Sans"/>
              </a:rPr>
              <a:t>Q 学習の試行回数を増やし、電圧逸脱の割合が下がっていくのを見る</a:t>
            </a: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27 / 31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なぜそう考えるか — 正常を学ぶ・物理を残す</a:t>
            </a:r>
          </a:p>
        </p:txBody>
      </p:sp>
      <p:sp>
        <p:nvSpPr>
          <p:cNvPr id="3" name="Rectangle 2"/>
          <p:cNvSpPr/>
          <p:nvPr/>
        </p:nvSpPr>
        <p:spPr>
          <a:xfrm>
            <a:off x="566928" y="2121916"/>
            <a:ext cx="11057839" cy="310896"/>
          </a:xfrm>
          <a:prstGeom prst="rect">
            <a:avLst/>
          </a:prstGeom>
          <a:solidFill>
            <a:srgbClr val="5C72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21916"/>
            <a:ext cx="10728655" cy="310896"/>
          </a:xfrm>
          <a:prstGeom prst="rect">
            <a:avLst/>
          </a:prstGeom>
          <a:noFill/>
        </p:spPr>
        <p:txBody>
          <a:bodyPr wrap="none" lIns="0" rIns="0" tIns="0" bIns="0" anchor="ctr">
            <a:noAutofit/>
          </a:bodyPr>
          <a:lstStyle/>
          <a:p>
            <a:r>
              <a:rPr sz="1500" b="1">
                <a:solidFill>
                  <a:srgbClr val="FFFFFF"/>
                </a:solidFill>
                <a:latin typeface="Avenir Next"/>
                <a:ea typeface="Hiragino Sans"/>
                <a:cs typeface="Hiragino Sans"/>
              </a:rPr>
              <a:t>なぜ「正常」を学ぶのか</a:t>
            </a:r>
          </a:p>
        </p:txBody>
      </p:sp>
      <p:sp>
        <p:nvSpPr>
          <p:cNvPr id="5" name="Rectangle 4"/>
          <p:cNvSpPr/>
          <p:nvPr/>
        </p:nvSpPr>
        <p:spPr>
          <a:xfrm>
            <a:off x="566928" y="2432812"/>
            <a:ext cx="11057839" cy="712216"/>
          </a:xfrm>
          <a:prstGeom prst="rect">
            <a:avLst/>
          </a:prstGeom>
          <a:solidFill>
            <a:srgbClr val="F3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2478532"/>
            <a:ext cx="10655503" cy="639064"/>
          </a:xfrm>
          <a:prstGeom prst="rect">
            <a:avLst/>
          </a:prstGeom>
          <a:noFill/>
        </p:spPr>
        <p:txBody>
          <a:bodyPr wrap="square" lIns="0" rIns="0" tIns="0" bIns="0" anchor="ctr">
            <a:noAutofit/>
          </a:bodyPr>
          <a:lstStyle/>
          <a:p>
            <a:r>
              <a:rPr sz="1600">
                <a:solidFill>
                  <a:srgbClr val="33221E"/>
                </a:solidFill>
                <a:latin typeface="Avenir Next"/>
                <a:ea typeface="Hiragino Sans"/>
                <a:cs typeface="Hiragino Sans"/>
              </a:rPr>
              <a:t>事故のデータは希少で、未知の故障は学習できない。正常だけを学び、そこからの距離で検出すれば、見たことのない異常も拾える。</a:t>
            </a:r>
          </a:p>
        </p:txBody>
      </p:sp>
      <p:sp>
        <p:nvSpPr>
          <p:cNvPr id="7" name="Rectangle 6"/>
          <p:cNvSpPr/>
          <p:nvPr/>
        </p:nvSpPr>
        <p:spPr>
          <a:xfrm>
            <a:off x="566928" y="3346196"/>
            <a:ext cx="11057839" cy="310896"/>
          </a:xfrm>
          <a:prstGeom prst="rect">
            <a:avLst/>
          </a:prstGeom>
          <a:solidFill>
            <a:srgbClr val="146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346196"/>
            <a:ext cx="10728655" cy="310896"/>
          </a:xfrm>
          <a:prstGeom prst="rect">
            <a:avLst/>
          </a:prstGeom>
          <a:noFill/>
        </p:spPr>
        <p:txBody>
          <a:bodyPr wrap="none" lIns="0" rIns="0" tIns="0" bIns="0" anchor="ctr">
            <a:noAutofit/>
          </a:bodyPr>
          <a:lstStyle/>
          <a:p>
            <a:r>
              <a:rPr sz="1500" b="1">
                <a:solidFill>
                  <a:srgbClr val="FFFFFF"/>
                </a:solidFill>
                <a:latin typeface="Avenir Next"/>
                <a:ea typeface="Hiragino Sans"/>
                <a:cs typeface="Hiragino Sans"/>
              </a:rPr>
              <a:t>なぜ物理を捨てないのか</a:t>
            </a:r>
          </a:p>
        </p:txBody>
      </p:sp>
      <p:sp>
        <p:nvSpPr>
          <p:cNvPr id="9" name="Rectangle 8"/>
          <p:cNvSpPr/>
          <p:nvPr/>
        </p:nvSpPr>
        <p:spPr>
          <a:xfrm>
            <a:off x="566928" y="3657092"/>
            <a:ext cx="11057839" cy="712216"/>
          </a:xfrm>
          <a:prstGeom prst="rect">
            <a:avLst/>
          </a:prstGeom>
          <a:solidFill>
            <a:srgbClr val="E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3702812"/>
            <a:ext cx="10655503" cy="639064"/>
          </a:xfrm>
          <a:prstGeom prst="rect">
            <a:avLst/>
          </a:prstGeom>
          <a:noFill/>
        </p:spPr>
        <p:txBody>
          <a:bodyPr wrap="square" lIns="0" rIns="0" tIns="0" bIns="0" anchor="ctr">
            <a:noAutofit/>
          </a:bodyPr>
          <a:lstStyle/>
          <a:p>
            <a:r>
              <a:rPr sz="1600">
                <a:solidFill>
                  <a:srgbClr val="33221E"/>
                </a:solidFill>
                <a:latin typeface="Avenir Next"/>
                <a:ea typeface="Hiragino Sans"/>
                <a:cs typeface="Hiragino Sans"/>
              </a:rPr>
              <a:t>電力系統には確立した物理モデルがある。PINN は損失に方程式の残差を足し、データが薄い領域でも物理に沿った答えを出す。純データ駆動は学習範囲の外で崩れる。</a:t>
            </a:r>
          </a:p>
        </p:txBody>
      </p:sp>
      <p:sp>
        <p:nvSpPr>
          <p:cNvPr id="11" name="Rectangle 10"/>
          <p:cNvSpPr/>
          <p:nvPr/>
        </p:nvSpPr>
        <p:spPr>
          <a:xfrm>
            <a:off x="566928" y="4570476"/>
            <a:ext cx="11057839" cy="310896"/>
          </a:xfrm>
          <a:prstGeom prst="rect">
            <a:avLst/>
          </a:prstGeom>
          <a:solidFill>
            <a:srgbClr val="9F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570476"/>
            <a:ext cx="10728655" cy="310896"/>
          </a:xfrm>
          <a:prstGeom prst="rect">
            <a:avLst/>
          </a:prstGeom>
          <a:noFill/>
        </p:spPr>
        <p:txBody>
          <a:bodyPr wrap="none" lIns="0" rIns="0" tIns="0" bIns="0" anchor="ctr">
            <a:noAutofit/>
          </a:bodyPr>
          <a:lstStyle/>
          <a:p>
            <a:r>
              <a:rPr sz="1500" b="1">
                <a:solidFill>
                  <a:srgbClr val="FFFFFF"/>
                </a:solidFill>
                <a:latin typeface="Avenir Next"/>
                <a:ea typeface="Hiragino Sans"/>
                <a:cs typeface="Hiragino Sans"/>
              </a:rPr>
              <a:t>実務の型</a:t>
            </a:r>
          </a:p>
        </p:txBody>
      </p:sp>
      <p:sp>
        <p:nvSpPr>
          <p:cNvPr id="13" name="Rectangle 12"/>
          <p:cNvSpPr/>
          <p:nvPr/>
        </p:nvSpPr>
        <p:spPr>
          <a:xfrm>
            <a:off x="566928" y="4881372"/>
            <a:ext cx="11057839" cy="458216"/>
          </a:xfrm>
          <a:prstGeom prst="rect">
            <a:avLst/>
          </a:prstGeom>
          <a:solidFill>
            <a:srgbClr val="F8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927092"/>
            <a:ext cx="10655503" cy="385064"/>
          </a:xfrm>
          <a:prstGeom prst="rect">
            <a:avLst/>
          </a:prstGeom>
          <a:noFill/>
        </p:spPr>
        <p:txBody>
          <a:bodyPr wrap="square" lIns="0" rIns="0" tIns="0" bIns="0" anchor="ctr">
            <a:noAutofit/>
          </a:bodyPr>
          <a:lstStyle/>
          <a:p>
            <a:r>
              <a:rPr sz="1600">
                <a:solidFill>
                  <a:srgbClr val="33221E"/>
                </a:solidFill>
                <a:latin typeface="Avenir Next"/>
                <a:ea typeface="Hiragino Sans"/>
                <a:cs typeface="Hiragino Sans"/>
              </a:rPr>
              <a:t>AI でスクリーニング → 厳密計算で確認。AI 単独で遮断器は操作しない。</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28 / 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7C332A"/>
                </a:solidFill>
                <a:latin typeface="Avenir Next"/>
                <a:ea typeface="Hiragino Sans"/>
                <a:cs typeface="Hiragino Sans"/>
              </a:defRPr>
            </a:pPr>
            <a:r>
              <a:rPr>
                <a:ea typeface="Hiragino Sans"/>
                <a:cs typeface="Hiragino Sans"/>
              </a:rPr>
              <a:t>よくある誤解 — 3 つとも「AI に任せすぎた」結果</a:t>
            </a:r>
          </a:p>
        </p:txBody>
      </p:sp>
      <p:pic>
        <p:nvPicPr>
          <p:cNvPr id="3" name="Picture 2" descr="ch13_myth.png"/>
          <p:cNvPicPr>
            <a:picLocks noChangeAspect="1"/>
          </p:cNvPicPr>
          <p:nvPr/>
        </p:nvPicPr>
        <p:blipFill>
          <a:blip r:embed="rId2"/>
          <a:stretch>
            <a:fillRect/>
          </a:stretch>
        </p:blipFill>
        <p:spPr>
          <a:xfrm>
            <a:off x="507416" y="713232"/>
            <a:ext cx="11176863" cy="5322316"/>
          </a:xfrm>
          <a:prstGeom prst="rect">
            <a:avLst/>
          </a:prstGeom>
        </p:spPr>
      </p:pic>
      <p:sp>
        <p:nvSpPr>
          <p:cNvPr id="4" name="edge:caption"/>
          <p:cNvSpPr txBox="1"/>
          <p:nvPr/>
        </p:nvSpPr>
        <p:spPr>
          <a:xfrm>
            <a:off x="228600" y="6090412"/>
            <a:ext cx="11734495" cy="520700"/>
          </a:xfrm>
          <a:prstGeom prst="rect">
            <a:avLst/>
          </a:prstGeom>
          <a:noFill/>
        </p:spPr>
        <p:txBody>
          <a:bodyPr wrap="square" lIns="0" rIns="0" tIns="0" bIns="0">
            <a:noAutofit/>
          </a:bodyPr>
          <a:lstStyle/>
          <a:p>
            <a:pPr algn="ctr"/>
            <a:r>
              <a:rPr sz="1400">
                <a:solidFill>
                  <a:srgbClr val="71635B"/>
                </a:solidFill>
                <a:latin typeface="Avenir Next"/>
                <a:ea typeface="Hiragino Sans"/>
                <a:cs typeface="Hiragino Sans"/>
              </a:rPr>
              <a:t>AI は絞り込みと高速化の道具で、正しさを保証するのは物理計算である。過去の事故データが無くても、正常データだけで異常検知は作れる。　出典｜コード/fig_ch13.py</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29 / 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7C332A"/>
                </a:solidFill>
                <a:latin typeface="Avenir Next"/>
                <a:ea typeface="Hiragino Sans"/>
                <a:cs typeface="Hiragino Sans"/>
              </a:defRPr>
            </a:pPr>
            <a:r>
              <a:rPr>
                <a:ea typeface="Hiragino Sans"/>
                <a:cs typeface="Hiragino Sans"/>
              </a:rPr>
              <a:t>持ち帰る 3 点</a:t>
            </a:r>
          </a:p>
        </p:txBody>
      </p:sp>
      <p:sp>
        <p:nvSpPr>
          <p:cNvPr id="3" name="Rectangle 2"/>
          <p:cNvSpPr/>
          <p:nvPr/>
        </p:nvSpPr>
        <p:spPr>
          <a:xfrm>
            <a:off x="5547207" y="2394204"/>
            <a:ext cx="1097280" cy="3175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2595372"/>
            <a:ext cx="10143439" cy="965200"/>
          </a:xfrm>
          <a:prstGeom prst="rect">
            <a:avLst/>
          </a:prstGeom>
          <a:noFill/>
        </p:spPr>
        <p:txBody>
          <a:bodyPr wrap="square" lIns="0" rIns="0" tIns="0" bIns="0">
            <a:noAutofit/>
          </a:bodyPr>
          <a:lstStyle/>
          <a:p>
            <a:pPr algn="ctr">
              <a:lnSpc>
                <a:spcPct val="106000"/>
              </a:lnSpc>
            </a:pPr>
            <a:r>
              <a:rPr sz="2800" b="1">
                <a:solidFill>
                  <a:srgbClr val="7C332A"/>
                </a:solidFill>
                <a:latin typeface="Avenir Next"/>
                <a:ea typeface="Hiragino Sans"/>
                <a:cs typeface="Hiragino Sans"/>
              </a:rPr>
              <a:t>系統はグラフ。AI は隣から学び、普段からの距離を測る。物理が正しさを担保する</a:t>
            </a:r>
          </a:p>
        </p:txBody>
      </p:sp>
      <p:sp>
        <p:nvSpPr>
          <p:cNvPr id="5" name="TextBox 4"/>
          <p:cNvSpPr txBox="1"/>
          <p:nvPr/>
        </p:nvSpPr>
        <p:spPr>
          <a:xfrm>
            <a:off x="1847088" y="3926332"/>
            <a:ext cx="8497519" cy="939800"/>
          </a:xfrm>
          <a:prstGeom prst="rect">
            <a:avLst/>
          </a:prstGeom>
          <a:noFill/>
        </p:spPr>
        <p:txBody>
          <a:bodyPr wrap="square" lIns="0" rIns="0" tIns="0" bIns="0">
            <a:noAutofit/>
          </a:bodyPr>
          <a:lstStyle/>
          <a:p>
            <a:pPr>
              <a:spcBef>
                <a:spcPts val="800"/>
              </a:spcBef>
            </a:pPr>
            <a:r>
              <a:rPr sz="1600">
                <a:solidFill>
                  <a:srgbClr val="33221E"/>
                </a:solidFill>
                <a:latin typeface="Avenir Next"/>
                <a:ea typeface="Hiragino Sans"/>
                <a:cs typeface="Hiragino Sans"/>
              </a:rPr>
              <a:t>•  GNN：1 層 1 ホップ、順序に依らず規模に汎化。深すぎると過平滑化</a:t>
            </a:r>
          </a:p>
          <a:p>
            <a:pPr>
              <a:spcBef>
                <a:spcPts val="800"/>
              </a:spcBef>
            </a:pPr>
            <a:r>
              <a:rPr sz="1600">
                <a:solidFill>
                  <a:srgbClr val="33221E"/>
                </a:solidFill>
                <a:latin typeface="Avenir Next"/>
                <a:ea typeface="Hiragino Sans"/>
                <a:cs typeface="Hiragino Sans"/>
              </a:rPr>
              <a:t>•  状態推定は精度で重みをつける WLS。冗長性が不良データ検出を可能にする</a:t>
            </a:r>
          </a:p>
          <a:p>
            <a:pPr>
              <a:spcBef>
                <a:spcPts val="800"/>
              </a:spcBef>
            </a:pPr>
            <a:r>
              <a:rPr sz="1600">
                <a:solidFill>
                  <a:srgbClr val="33221E"/>
                </a:solidFill>
                <a:latin typeface="Avenir Next"/>
                <a:ea typeface="Hiragino Sans"/>
                <a:cs typeface="Hiragino Sans"/>
              </a:rPr>
              <a:t>•  異常検知は正常を学ぶ。AI で絞り、厳密計算で確認する 2 段構え</a:t>
            </a: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71635B"/>
                </a:solidFill>
                <a:latin typeface="Avenir Next"/>
                <a:ea typeface="Hiragino Sans"/>
                <a:cs typeface="Hiragino Sans"/>
              </a:defRPr>
            </a:pPr>
            <a:r>
              <a:t>30 / 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7C332A"/>
        </a:solidFill>
        <a:effectLst/>
      </p:bgPr>
    </p:bg>
    <p:spTree>
      <p:nvGrpSpPr>
        <p:cNvPr id="1" name=""/>
        <p:cNvGrpSpPr/>
        <p:nvPr/>
      </p:nvGrpSpPr>
      <p:grpSpPr/>
      <p:sp>
        <p:nvSpPr>
          <p:cNvPr id="2" name="Rectangle 1"/>
          <p:cNvSpPr/>
          <p:nvPr/>
        </p:nvSpPr>
        <p:spPr>
          <a:xfrm>
            <a:off x="5592927" y="2697480"/>
            <a:ext cx="1005840" cy="2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880360"/>
            <a:ext cx="10362895" cy="746252"/>
          </a:xfrm>
          <a:prstGeom prst="rect">
            <a:avLst/>
          </a:prstGeom>
          <a:noFill/>
        </p:spPr>
        <p:txBody>
          <a:bodyPr wrap="square" lIns="0" rIns="0" tIns="0" bIns="0">
            <a:noAutofit/>
          </a:bodyPr>
          <a:lstStyle/>
          <a:p>
            <a:pPr algn="ctr">
              <a:defRPr sz="4520" b="1">
                <a:solidFill>
                  <a:srgbClr val="FFFFFF"/>
                </a:solidFill>
                <a:latin typeface="Avenir Next"/>
                <a:ea typeface="Hiragino Sans"/>
                <a:cs typeface="Hiragino Sans"/>
              </a:defRPr>
            </a:pPr>
            <a:r>
              <a:rPr>
                <a:ea typeface="Hiragino Sans"/>
                <a:cs typeface="Hiragino Sans"/>
              </a:rPr>
              <a:t>次回：第14回 系統最適化と市場</a:t>
            </a:r>
          </a:p>
        </p:txBody>
      </p:sp>
      <p:sp>
        <p:nvSpPr>
          <p:cNvPr id="4" name="TextBox 3"/>
          <p:cNvSpPr txBox="1"/>
          <p:nvPr/>
        </p:nvSpPr>
        <p:spPr>
          <a:xfrm>
            <a:off x="914400" y="4160520"/>
            <a:ext cx="10362895" cy="822960"/>
          </a:xfrm>
          <a:prstGeom prst="rect">
            <a:avLst/>
          </a:prstGeom>
          <a:noFill/>
        </p:spPr>
        <p:txBody>
          <a:bodyPr wrap="square" lIns="0" rIns="0" tIns="0" bIns="0">
            <a:noAutofit/>
          </a:bodyPr>
          <a:lstStyle/>
          <a:p>
            <a:pPr algn="ctr">
              <a:defRPr sz="1800">
                <a:solidFill>
                  <a:srgbClr val="EBE0DF"/>
                </a:solidFill>
                <a:latin typeface="Avenir Next"/>
                <a:ea typeface="Hiragino Sans"/>
                <a:cs typeface="Hiragino Sans"/>
              </a:defRPr>
            </a:pPr>
            <a:r>
              <a:rPr>
                <a:ea typeface="Hiragino Sans"/>
                <a:cs typeface="Hiragino Sans"/>
              </a:rPr>
              <a:t>演習 ex/ch13.html で数値を変えて確かめる</a:t>
            </a:r>
          </a:p>
          <a:p>
            <a:pPr algn="ctr">
              <a:spcBef>
                <a:spcPts val="400"/>
              </a:spcBef>
              <a:defRPr sz="1800">
                <a:solidFill>
                  <a:srgbClr val="EBE0DF"/>
                </a:solidFill>
                <a:latin typeface="Avenir Next"/>
                <a:ea typeface="Hiragino Sans"/>
                <a:cs typeface="Hiragino Sans"/>
              </a:defRPr>
            </a:pPr>
            <a:r>
              <a:rPr>
                <a:ea typeface="Hiragino Sans"/>
                <a:cs typeface="Hiragino Sans"/>
              </a:rPr>
              <a:t>一番安い電気から使う — 等 λ 法から OPF・LMP 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