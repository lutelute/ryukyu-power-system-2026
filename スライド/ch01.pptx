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初回。目的は「発電を多段変換として見る目」と「上限は物理が決める」という感覚を持ち帰ってもらうこと。90 分で 4 章、例題 3 つ。</a:t>
            </a:r>
          </a:p>
          <a:p/>
          <a:p>
            <a:r>
              <a:t>_class: title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 1 文を最後にもう一度見せる。「積」と「壁」の 2 語がキーワード。</a:t>
            </a:r>
          </a:p>
          <a:p/>
          <a:p>
            <a:r>
              <a:t>_class: 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聴衆に最初の 2 枚で全体像を渡す。右下の「6〜7 割」が今日の結論。</a:t>
            </a:r>
          </a:p>
          <a:p/>
          <a:p>
            <a:r>
              <a:t>_class: graphical-abstract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今日の式 η_total = Π η_i と η_C = 1 − T_L/T_H で、この 2 つの話がどちらも読める。効率の話は「環境の話」である前に「お金の話」。</a:t>
            </a:r>
          </a:p>
          <a:p/>
          <a:p>
            <a:r>
              <a:t>_class: sections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agenda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図の帯の太さがエネルギー。灰色が損失。なぜタービンだけ 0.45 なのかが次の 3 枚。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まず①だけを出す。「捨てる熱はゼロにできない」をここで強調しておく。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②を追加。ここで「W = Q_H にはならない」ことが確定する。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③で結論。実機がカルノー上限の 6〜7 割しか出ないのは、この先の非可逆性の話。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°C のまま 1 − 30/1400 = 0.98 と計算する誤りが毎年出る。K に直してから。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ガスタービンの入口温度が 1,600 °C を超えるまで、材料と冷却技術が進化してきた歴史がこの曲線の右端。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手を動かす 3 分。学生に 2 の計算をさせる。「°C のまま計算したら？」と聞く。</a:t>
            </a:r>
          </a:p>
          <a:p/>
          <a:p>
            <a:r>
              <a:t>_class: steps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kpi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水力の 90% を見て「なぜ全部水力にしないのか」と聞かれたら、資源量と立地の話（第2回）へつなぐ。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導出は 1 行。「単位時間に落ちる質量 × 1 kg あたりの位置エネルギー」。係数 9.8 の出どころを言えれば十分。</a:t>
            </a:r>
          </a:p>
          <a:p/>
          <a:p>
            <a:r>
              <a:t>_class: equation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右図の点線は「制限なし」。実機は定格でピッチ制御で頭打ち。沖縄の台風では 25 m/s で一斉停止。　図の要点：8 → 10 m/s で出力 1.95 倍（3 乗）／カットイン 3 m/s まで出ない／定格 10.4 m/s で 2 MW に頭打ち／カットアウト 25 m/s で停止（台風）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導出は板書でも可。ポイントは「全部取ると風が止まる」の直感と、最大が 1/3 減速という具体値。</a:t>
            </a:r>
          </a:p>
          <a:p/>
          <a:p>
            <a:r>
              <a:t>_class: sections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導出は板書でも可。ポイントは「全部取ると風が止まる」の直感と、最大が 1/3 減速という具体値。</a:t>
            </a:r>
          </a:p>
          <a:p/>
          <a:p>
            <a:r>
              <a:t>_class: sections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導出は板書でも可。ポイントは「全部取ると風が止まる」の直感と、最大が 1/3 減速という具体値。</a:t>
            </a:r>
          </a:p>
          <a:p/>
          <a:p>
            <a:r>
              <a:t>_class: sections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学生に 3 と 4 を計算させる。「風速が 10 m/s になったら？」→ 1.995 × 1.95 = 3.9 MW だが定格 2 MW で頭打ち。</a:t>
            </a:r>
          </a:p>
          <a:p/>
          <a:p>
            <a:r>
              <a:t>_class: steps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5778 K の黒体スペクトルで計算した図。多接合セルは E_g の違う層を重ねて「熱になる分」を減らす。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この「局所か全体か」の区別が講義全体の背骨。第6回と第8回で戻ってくる。　図の要点：電圧 101 ± 6 V：母線ごとに違う／周波数 60 ± 0.2 Hz：系統で 1 つ／高調波：5 次 5% + 7 次 3% で THD 5.8%／高圧の上限 5% を超える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table-slide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発電端と送電端の区別もここで。所内動力 3〜7% を引いたのが送電端。　図の要点：1 kWh = 3.6 MJ（W は速さ、Wh は量）／家庭 1 日 ≈ 10 kWh／1 toe ≈ 41.9 GJ ≈ 11,630 kWh／沖縄本島 1 日 ≈ 24 GWh（概算）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figure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blocks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takeaway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end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>
                <a:ea typeface="Hiragino Sans"/>
                <a:cs typeface="Hiragino Sans"/>
              </a:rPr>
              <a:t>Click to edit Master subtitle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>
                <a:ea typeface="Hiragino Sans"/>
                <a:cs typeface="Hiragino Sans"/>
              </a:defRPr>
            </a:lvl1pPr>
            <a:lvl2pPr>
              <a:defRPr sz="2400">
                <a:ea typeface="Hiragino Sans"/>
                <a:cs typeface="Hiragino Sans"/>
              </a:defRPr>
            </a:lvl2pPr>
            <a:lvl3pPr>
              <a:defRPr sz="2000">
                <a:ea typeface="Hiragino Sans"/>
                <a:cs typeface="Hiragino Sans"/>
              </a:defRPr>
            </a:lvl3pPr>
            <a:lvl4pPr>
              <a:defRPr sz="1800">
                <a:ea typeface="Hiragino Sans"/>
                <a:cs typeface="Hiragino Sans"/>
              </a:defRPr>
            </a:lvl4pPr>
            <a:lvl5pPr>
              <a:defRPr sz="1800">
                <a:ea typeface="Hiragino Sans"/>
                <a:cs typeface="Hiragino Sans"/>
              </a:defRPr>
            </a:lvl5pPr>
            <a:lvl6pPr>
              <a:defRPr sz="1800">
                <a:ea typeface="Hiragino Sans"/>
                <a:cs typeface="Hiragino Sans"/>
              </a:defRPr>
            </a:lvl6pPr>
            <a:lvl7pPr>
              <a:defRPr sz="1800">
                <a:ea typeface="Hiragino Sans"/>
                <a:cs typeface="Hiragino Sans"/>
              </a:defRPr>
            </a:lvl7pPr>
            <a:lvl8pPr>
              <a:defRPr sz="1800">
                <a:ea typeface="Hiragino Sans"/>
                <a:cs typeface="Hiragino Sans"/>
              </a:defRPr>
            </a:lvl8pPr>
            <a:lvl9pPr>
              <a:defRPr sz="18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>
                <a:ea typeface="Hiragino Sans"/>
                <a:cs typeface="Hiragino Sans"/>
              </a:defRPr>
            </a:lvl1pPr>
            <a:lvl2pPr>
              <a:defRPr sz="2400">
                <a:ea typeface="Hiragino Sans"/>
                <a:cs typeface="Hiragino Sans"/>
              </a:defRPr>
            </a:lvl2pPr>
            <a:lvl3pPr>
              <a:defRPr sz="2000">
                <a:ea typeface="Hiragino Sans"/>
                <a:cs typeface="Hiragino Sans"/>
              </a:defRPr>
            </a:lvl3pPr>
            <a:lvl4pPr>
              <a:defRPr sz="1800">
                <a:ea typeface="Hiragino Sans"/>
                <a:cs typeface="Hiragino Sans"/>
              </a:defRPr>
            </a:lvl4pPr>
            <a:lvl5pPr>
              <a:defRPr sz="1800">
                <a:ea typeface="Hiragino Sans"/>
                <a:cs typeface="Hiragino Sans"/>
              </a:defRPr>
            </a:lvl5pPr>
            <a:lvl6pPr>
              <a:defRPr sz="1800">
                <a:ea typeface="Hiragino Sans"/>
                <a:cs typeface="Hiragino Sans"/>
              </a:defRPr>
            </a:lvl6pPr>
            <a:lvl7pPr>
              <a:defRPr sz="1800">
                <a:ea typeface="Hiragino Sans"/>
                <a:cs typeface="Hiragino Sans"/>
              </a:defRPr>
            </a:lvl7pPr>
            <a:lvl8pPr>
              <a:defRPr sz="1800">
                <a:ea typeface="Hiragino Sans"/>
                <a:cs typeface="Hiragino Sans"/>
              </a:defRPr>
            </a:lvl8pPr>
            <a:lvl9pPr>
              <a:defRPr sz="18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>
                <a:ea typeface="Hiragino Sans"/>
                <a:cs typeface="Hiragino Sans"/>
              </a:defRPr>
            </a:lvl1pPr>
            <a:lvl2pPr marL="457200" indent="0">
              <a:buNone/>
              <a:defRPr sz="2000" b="1">
                <a:ea typeface="Hiragino Sans"/>
                <a:cs typeface="Hiragino Sans"/>
              </a:defRPr>
            </a:lvl2pPr>
            <a:lvl3pPr marL="914400" indent="0">
              <a:buNone/>
              <a:defRPr sz="1800" b="1">
                <a:ea typeface="Hiragino Sans"/>
                <a:cs typeface="Hiragino Sans"/>
              </a:defRPr>
            </a:lvl3pPr>
            <a:lvl4pPr marL="1371600" indent="0">
              <a:buNone/>
              <a:defRPr sz="1600" b="1">
                <a:ea typeface="Hiragino Sans"/>
                <a:cs typeface="Hiragino Sans"/>
              </a:defRPr>
            </a:lvl4pPr>
            <a:lvl5pPr marL="1828800" indent="0">
              <a:buNone/>
              <a:defRPr sz="1600" b="1">
                <a:ea typeface="Hiragino Sans"/>
                <a:cs typeface="Hiragino Sans"/>
              </a:defRPr>
            </a:lvl5pPr>
            <a:lvl6pPr marL="2286000" indent="0">
              <a:buNone/>
              <a:defRPr sz="1600" b="1">
                <a:ea typeface="Hiragino Sans"/>
                <a:cs typeface="Hiragino Sans"/>
              </a:defRPr>
            </a:lvl6pPr>
            <a:lvl7pPr marL="2743200" indent="0">
              <a:buNone/>
              <a:defRPr sz="1600" b="1">
                <a:ea typeface="Hiragino Sans"/>
                <a:cs typeface="Hiragino Sans"/>
              </a:defRPr>
            </a:lvl7pPr>
            <a:lvl8pPr marL="3200400" indent="0">
              <a:buNone/>
              <a:defRPr sz="1600" b="1">
                <a:ea typeface="Hiragino Sans"/>
                <a:cs typeface="Hiragino Sans"/>
              </a:defRPr>
            </a:lvl8pPr>
            <a:lvl9pPr marL="3657600" indent="0">
              <a:buNone/>
              <a:defRPr sz="1600" b="1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>
                <a:ea typeface="Hiragino Sans"/>
                <a:cs typeface="Hiragino Sans"/>
              </a:defRPr>
            </a:lvl1pPr>
            <a:lvl2pPr>
              <a:defRPr sz="2000">
                <a:ea typeface="Hiragino Sans"/>
                <a:cs typeface="Hiragino Sans"/>
              </a:defRPr>
            </a:lvl2pPr>
            <a:lvl3pPr>
              <a:defRPr sz="1800">
                <a:ea typeface="Hiragino Sans"/>
                <a:cs typeface="Hiragino Sans"/>
              </a:defRPr>
            </a:lvl3pPr>
            <a:lvl4pPr>
              <a:defRPr sz="1600">
                <a:ea typeface="Hiragino Sans"/>
                <a:cs typeface="Hiragino Sans"/>
              </a:defRPr>
            </a:lvl4pPr>
            <a:lvl5pPr>
              <a:defRPr sz="1600">
                <a:ea typeface="Hiragino Sans"/>
                <a:cs typeface="Hiragino Sans"/>
              </a:defRPr>
            </a:lvl5pPr>
            <a:lvl6pPr>
              <a:defRPr sz="1600">
                <a:ea typeface="Hiragino Sans"/>
                <a:cs typeface="Hiragino Sans"/>
              </a:defRPr>
            </a:lvl6pPr>
            <a:lvl7pPr>
              <a:defRPr sz="1600">
                <a:ea typeface="Hiragino Sans"/>
                <a:cs typeface="Hiragino Sans"/>
              </a:defRPr>
            </a:lvl7pPr>
            <a:lvl8pPr>
              <a:defRPr sz="1600">
                <a:ea typeface="Hiragino Sans"/>
                <a:cs typeface="Hiragino Sans"/>
              </a:defRPr>
            </a:lvl8pPr>
            <a:lvl9pPr>
              <a:defRPr sz="16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>
                <a:ea typeface="Hiragino Sans"/>
                <a:cs typeface="Hiragino Sans"/>
              </a:defRPr>
            </a:lvl1pPr>
            <a:lvl2pPr marL="457200" indent="0">
              <a:buNone/>
              <a:defRPr sz="2000" b="1">
                <a:ea typeface="Hiragino Sans"/>
                <a:cs typeface="Hiragino Sans"/>
              </a:defRPr>
            </a:lvl2pPr>
            <a:lvl3pPr marL="914400" indent="0">
              <a:buNone/>
              <a:defRPr sz="1800" b="1">
                <a:ea typeface="Hiragino Sans"/>
                <a:cs typeface="Hiragino Sans"/>
              </a:defRPr>
            </a:lvl3pPr>
            <a:lvl4pPr marL="1371600" indent="0">
              <a:buNone/>
              <a:defRPr sz="1600" b="1">
                <a:ea typeface="Hiragino Sans"/>
                <a:cs typeface="Hiragino Sans"/>
              </a:defRPr>
            </a:lvl4pPr>
            <a:lvl5pPr marL="1828800" indent="0">
              <a:buNone/>
              <a:defRPr sz="1600" b="1">
                <a:ea typeface="Hiragino Sans"/>
                <a:cs typeface="Hiragino Sans"/>
              </a:defRPr>
            </a:lvl5pPr>
            <a:lvl6pPr marL="2286000" indent="0">
              <a:buNone/>
              <a:defRPr sz="1600" b="1">
                <a:ea typeface="Hiragino Sans"/>
                <a:cs typeface="Hiragino Sans"/>
              </a:defRPr>
            </a:lvl6pPr>
            <a:lvl7pPr marL="2743200" indent="0">
              <a:buNone/>
              <a:defRPr sz="1600" b="1">
                <a:ea typeface="Hiragino Sans"/>
                <a:cs typeface="Hiragino Sans"/>
              </a:defRPr>
            </a:lvl7pPr>
            <a:lvl8pPr marL="3200400" indent="0">
              <a:buNone/>
              <a:defRPr sz="1600" b="1">
                <a:ea typeface="Hiragino Sans"/>
                <a:cs typeface="Hiragino Sans"/>
              </a:defRPr>
            </a:lvl8pPr>
            <a:lvl9pPr marL="3657600" indent="0">
              <a:buNone/>
              <a:defRPr sz="1600" b="1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>
                <a:ea typeface="Hiragino Sans"/>
                <a:cs typeface="Hiragino Sans"/>
              </a:defRPr>
            </a:lvl1pPr>
            <a:lvl2pPr>
              <a:defRPr sz="2000">
                <a:ea typeface="Hiragino Sans"/>
                <a:cs typeface="Hiragino Sans"/>
              </a:defRPr>
            </a:lvl2pPr>
            <a:lvl3pPr>
              <a:defRPr sz="1800">
                <a:ea typeface="Hiragino Sans"/>
                <a:cs typeface="Hiragino Sans"/>
              </a:defRPr>
            </a:lvl3pPr>
            <a:lvl4pPr>
              <a:defRPr sz="1600">
                <a:ea typeface="Hiragino Sans"/>
                <a:cs typeface="Hiragino Sans"/>
              </a:defRPr>
            </a:lvl4pPr>
            <a:lvl5pPr>
              <a:defRPr sz="1600">
                <a:ea typeface="Hiragino Sans"/>
                <a:cs typeface="Hiragino Sans"/>
              </a:defRPr>
            </a:lvl5pPr>
            <a:lvl6pPr>
              <a:defRPr sz="1600">
                <a:ea typeface="Hiragino Sans"/>
                <a:cs typeface="Hiragino Sans"/>
              </a:defRPr>
            </a:lvl6pPr>
            <a:lvl7pPr>
              <a:defRPr sz="1600">
                <a:ea typeface="Hiragino Sans"/>
                <a:cs typeface="Hiragino Sans"/>
              </a:defRPr>
            </a:lvl7pPr>
            <a:lvl8pPr>
              <a:defRPr sz="1600">
                <a:ea typeface="Hiragino Sans"/>
                <a:cs typeface="Hiragino Sans"/>
              </a:defRPr>
            </a:lvl8pPr>
            <a:lvl9pPr>
              <a:defRPr sz="16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>
                <a:ea typeface="Hiragino Sans"/>
                <a:cs typeface="Hiragino Sans"/>
              </a:defRPr>
            </a:lvl1pPr>
            <a:lvl2pPr>
              <a:defRPr sz="2800">
                <a:ea typeface="Hiragino Sans"/>
                <a:cs typeface="Hiragino Sans"/>
              </a:defRPr>
            </a:lvl2pPr>
            <a:lvl3pPr>
              <a:defRPr sz="2400">
                <a:ea typeface="Hiragino Sans"/>
                <a:cs typeface="Hiragino Sans"/>
              </a:defRPr>
            </a:lvl3pPr>
            <a:lvl4pPr>
              <a:defRPr sz="2000">
                <a:ea typeface="Hiragino Sans"/>
                <a:cs typeface="Hiragino Sans"/>
              </a:defRPr>
            </a:lvl4pPr>
            <a:lvl5pPr>
              <a:defRPr sz="2000">
                <a:ea typeface="Hiragino Sans"/>
                <a:cs typeface="Hiragino Sans"/>
              </a:defRPr>
            </a:lvl5pPr>
            <a:lvl6pPr>
              <a:defRPr sz="2000">
                <a:ea typeface="Hiragino Sans"/>
                <a:cs typeface="Hiragino Sans"/>
              </a:defRPr>
            </a:lvl6pPr>
            <a:lvl7pPr>
              <a:defRPr sz="2000">
                <a:ea typeface="Hiragino Sans"/>
                <a:cs typeface="Hiragino Sans"/>
              </a:defRPr>
            </a:lvl7pPr>
            <a:lvl8pPr>
              <a:defRPr sz="2000">
                <a:ea typeface="Hiragino Sans"/>
                <a:cs typeface="Hiragino Sans"/>
              </a:defRPr>
            </a:lvl8pPr>
            <a:lvl9pPr>
              <a:defRPr sz="20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>
                <a:ea typeface="Hiragino Sans"/>
                <a:cs typeface="Hiragino Sans"/>
              </a:defRPr>
            </a:lvl1pPr>
            <a:lvl2pPr marL="457200" indent="0">
              <a:buNone/>
              <a:defRPr sz="1200">
                <a:ea typeface="Hiragino Sans"/>
                <a:cs typeface="Hiragino Sans"/>
              </a:defRPr>
            </a:lvl2pPr>
            <a:lvl3pPr marL="914400" indent="0">
              <a:buNone/>
              <a:defRPr sz="1000">
                <a:ea typeface="Hiragino Sans"/>
                <a:cs typeface="Hiragino Sans"/>
              </a:defRPr>
            </a:lvl3pPr>
            <a:lvl4pPr marL="1371600" indent="0">
              <a:buNone/>
              <a:defRPr sz="900">
                <a:ea typeface="Hiragino Sans"/>
                <a:cs typeface="Hiragino Sans"/>
              </a:defRPr>
            </a:lvl4pPr>
            <a:lvl5pPr marL="1828800" indent="0">
              <a:buNone/>
              <a:defRPr sz="900">
                <a:ea typeface="Hiragino Sans"/>
                <a:cs typeface="Hiragino Sans"/>
              </a:defRPr>
            </a:lvl5pPr>
            <a:lvl6pPr marL="2286000" indent="0">
              <a:buNone/>
              <a:defRPr sz="900">
                <a:ea typeface="Hiragino Sans"/>
                <a:cs typeface="Hiragino Sans"/>
              </a:defRPr>
            </a:lvl6pPr>
            <a:lvl7pPr marL="2743200" indent="0">
              <a:buNone/>
              <a:defRPr sz="900">
                <a:ea typeface="Hiragino Sans"/>
                <a:cs typeface="Hiragino Sans"/>
              </a:defRPr>
            </a:lvl7pPr>
            <a:lvl8pPr marL="3200400" indent="0">
              <a:buNone/>
              <a:defRPr sz="900">
                <a:ea typeface="Hiragino Sans"/>
                <a:cs typeface="Hiragino Sans"/>
              </a:defRPr>
            </a:lvl8pPr>
            <a:lvl9pPr marL="3657600" indent="0">
              <a:buNone/>
              <a:defRPr sz="9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ea typeface="Hiragino Sans"/>
                <a:cs typeface="Hiragino Sans"/>
              </a:defRPr>
            </a:lvl1pPr>
            <a:lvl2pPr marL="457200" indent="0">
              <a:buNone/>
              <a:defRPr sz="2800">
                <a:ea typeface="Hiragino Sans"/>
                <a:cs typeface="Hiragino Sans"/>
              </a:defRPr>
            </a:lvl2pPr>
            <a:lvl3pPr marL="914400" indent="0">
              <a:buNone/>
              <a:defRPr sz="2400">
                <a:ea typeface="Hiragino Sans"/>
                <a:cs typeface="Hiragino Sans"/>
              </a:defRPr>
            </a:lvl3pPr>
            <a:lvl4pPr marL="1371600" indent="0">
              <a:buNone/>
              <a:defRPr sz="2000">
                <a:ea typeface="Hiragino Sans"/>
                <a:cs typeface="Hiragino Sans"/>
              </a:defRPr>
            </a:lvl4pPr>
            <a:lvl5pPr marL="1828800" indent="0">
              <a:buNone/>
              <a:defRPr sz="2000">
                <a:ea typeface="Hiragino Sans"/>
                <a:cs typeface="Hiragino Sans"/>
              </a:defRPr>
            </a:lvl5pPr>
            <a:lvl6pPr marL="2286000" indent="0">
              <a:buNone/>
              <a:defRPr sz="2000">
                <a:ea typeface="Hiragino Sans"/>
                <a:cs typeface="Hiragino Sans"/>
              </a:defRPr>
            </a:lvl6pPr>
            <a:lvl7pPr marL="2743200" indent="0">
              <a:buNone/>
              <a:defRPr sz="2000">
                <a:ea typeface="Hiragino Sans"/>
                <a:cs typeface="Hiragino Sans"/>
              </a:defRPr>
            </a:lvl7pPr>
            <a:lvl8pPr marL="3200400" indent="0">
              <a:buNone/>
              <a:defRPr sz="2000">
                <a:ea typeface="Hiragino Sans"/>
                <a:cs typeface="Hiragino Sans"/>
              </a:defRPr>
            </a:lvl8pPr>
            <a:lvl9pPr marL="3657600" indent="0">
              <a:buNone/>
              <a:defRPr sz="2000">
                <a:ea typeface="Hiragino Sans"/>
                <a:cs typeface="Hiragino Sans"/>
              </a:defRPr>
            </a:lvl9pPr>
          </a:lstStyle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>
                <a:ea typeface="Hiragino Sans"/>
                <a:cs typeface="Hiragino Sans"/>
              </a:defRPr>
            </a:lvl1pPr>
            <a:lvl2pPr marL="457200" indent="0">
              <a:buNone/>
              <a:defRPr sz="1200">
                <a:ea typeface="Hiragino Sans"/>
                <a:cs typeface="Hiragino Sans"/>
              </a:defRPr>
            </a:lvl2pPr>
            <a:lvl3pPr marL="914400" indent="0">
              <a:buNone/>
              <a:defRPr sz="1000">
                <a:ea typeface="Hiragino Sans"/>
                <a:cs typeface="Hiragino Sans"/>
              </a:defRPr>
            </a:lvl3pPr>
            <a:lvl4pPr marL="1371600" indent="0">
              <a:buNone/>
              <a:defRPr sz="900">
                <a:ea typeface="Hiragino Sans"/>
                <a:cs typeface="Hiragino Sans"/>
              </a:defRPr>
            </a:lvl4pPr>
            <a:lvl5pPr marL="1828800" indent="0">
              <a:buNone/>
              <a:defRPr sz="900">
                <a:ea typeface="Hiragino Sans"/>
                <a:cs typeface="Hiragino Sans"/>
              </a:defRPr>
            </a:lvl5pPr>
            <a:lvl6pPr marL="2286000" indent="0">
              <a:buNone/>
              <a:defRPr sz="900">
                <a:ea typeface="Hiragino Sans"/>
                <a:cs typeface="Hiragino Sans"/>
              </a:defRPr>
            </a:lvl6pPr>
            <a:lvl7pPr marL="2743200" indent="0">
              <a:buNone/>
              <a:defRPr sz="900">
                <a:ea typeface="Hiragino Sans"/>
                <a:cs typeface="Hiragino Sans"/>
              </a:defRPr>
            </a:lvl7pPr>
            <a:lvl8pPr marL="3200400" indent="0">
              <a:buNone/>
              <a:defRPr sz="900">
                <a:ea typeface="Hiragino Sans"/>
                <a:cs typeface="Hiragino Sans"/>
              </a:defRPr>
            </a:lvl8pPr>
            <a:lvl9pPr marL="3657600" indent="0">
              <a:buNone/>
              <a:defRPr sz="9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Hiragino Sans"/>
          <a:cs typeface="Hiragino San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Hiragino Sans"/>
          <a:cs typeface="Hiragino San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Hiragino Sans"/>
          <a:cs typeface="Hiragino San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Hiragino Sans"/>
          <a:cs typeface="Hiragino San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9pPr>
    </p:bodyStyle>
    <p:otherStyle>
      <a:defPPr>
        <a:defRPr lang="en-US">
          <a:ea typeface="Hiragino Sans"/>
          <a:cs typeface="Hiragino Sans"/>
        </a:defRPr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slide" Target="slide7.xml"/><Relationship Id="rId4" Type="http://schemas.openxmlformats.org/officeDocument/2006/relationships/slide" Target="slide16.xml"/><Relationship Id="rId5" Type="http://schemas.openxmlformats.org/officeDocument/2006/relationships/slide" Target="slide20.xml"/><Relationship Id="rId6" Type="http://schemas.openxmlformats.org/officeDocument/2006/relationships/slide" Target="slide2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3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3172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電気は「作る」のではなく「変換する」— 効率の壁はどこにあるか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5592927" y="2889504"/>
            <a:ext cx="1005840" cy="2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054096"/>
            <a:ext cx="10728655" cy="18173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6000"/>
              </a:lnSpc>
              <a:defRPr sz="54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第1回 エネルギー変換の基礎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100066"/>
            <a:ext cx="9997135" cy="8686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800">
                <a:solidFill>
                  <a:srgbClr val="EBE0DF"/>
                </a:solidFill>
                <a:latin typeface="Avenir Next"/>
                <a:ea typeface="Hiragino Sans"/>
                <a:cs typeface="Hiragino Sans"/>
              </a:rPr>
              <a:t>重信颯人（福井大学）／ Day 1・コマ 1 ／ 教科書 第1章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38647" y="2330958"/>
            <a:ext cx="91440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586990"/>
            <a:ext cx="9997135" cy="17754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</a:pPr>
            <a:r>
              <a:rPr sz="28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rPr>
              <a:t>発電とは多段のエネルギー変換であり、総合効率は各段の効率の積で決まる。熱を通る道には、技術では越えられない物理の壁がある。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 / 36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この回の全体像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一枚で｜問い → 課題 → 道具 → 到達点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29232"/>
            <a:ext cx="11057839" cy="112845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4728" y="1907032"/>
            <a:ext cx="10702239" cy="31089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200" b="1">
                <a:solidFill>
                  <a:srgbClr val="964136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問い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4728" y="2268728"/>
            <a:ext cx="10702239" cy="4111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なぜ火力発電は 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40% 前後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で止まるのか。技術の限界か、物理の限界か。風力や太陽光にも同じ「壁」はあるのか。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3022282"/>
            <a:ext cx="3082442" cy="2613724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4728" y="3200082"/>
            <a:ext cx="2726842" cy="31089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200" b="1">
                <a:solidFill>
                  <a:srgbClr val="964136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課題</a:t>
            </a:r>
          </a:p>
        </p:txBody>
      </p:sp>
      <p:pic>
        <p:nvPicPr>
          <p:cNvPr id="9" name="Picture 8" descr="ch01_ch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0890" y="3561778"/>
            <a:ext cx="1834517" cy="81534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4728" y="4453319"/>
            <a:ext cx="2726842" cy="100488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発電は 4 回の変換。効率は 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積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 で減り、熱→回転の段で半分以上を失う。</a:t>
            </a:r>
          </a:p>
        </p:txBody>
      </p:sp>
      <p:sp>
        <p:nvSpPr>
          <p:cNvPr id="11" name="Chevron 10"/>
          <p:cNvSpPr/>
          <p:nvPr/>
        </p:nvSpPr>
        <p:spPr>
          <a:xfrm>
            <a:off x="3850538" y="4125944"/>
            <a:ext cx="502920" cy="406400"/>
          </a:xfrm>
          <a:prstGeom prst="chevron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54626" y="3022282"/>
            <a:ext cx="3082442" cy="2613724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19050">
            <a:solidFill>
              <a:srgbClr val="B85042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32426" y="3200082"/>
            <a:ext cx="2726842" cy="31089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200" b="1">
                <a:solidFill>
                  <a:srgbClr val="964136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道具</a:t>
            </a:r>
          </a:p>
        </p:txBody>
      </p:sp>
      <p:pic>
        <p:nvPicPr>
          <p:cNvPr id="14" name="Picture 13" descr="ch01_carnot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3045" y="3561778"/>
            <a:ext cx="1125604" cy="66770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32426" y="4305681"/>
            <a:ext cx="2726842" cy="4114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/>
            <a:r>
              <a:rPr sz="9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η の積</a:t>
            </a:r>
            <a:r>
              <a:rPr sz="800">
                <a:ea typeface="Hiragino Sans"/>
                <a:cs typeface="Hiragino Sans"/>
                <a:solidFill>
                  <a:srgbClr val="B85042"/>
                </a:solidFill>
              </a:rPr>
              <a:t>  ▶  </a:t>
            </a:r>
            <a:r>
              <a:rPr sz="9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カルノー</a:t>
            </a:r>
            <a:r>
              <a:rPr sz="800">
                <a:ea typeface="Hiragino Sans"/>
                <a:cs typeface="Hiragino Sans"/>
                <a:solidFill>
                  <a:srgbClr val="B85042"/>
                </a:solidFill>
              </a:rPr>
              <a:t>  ▶  </a:t>
            </a:r>
            <a:r>
              <a:rPr sz="9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ベッツ</a:t>
            </a:r>
            <a:r>
              <a:rPr sz="800">
                <a:ea typeface="Hiragino Sans"/>
                <a:cs typeface="Hiragino Sans"/>
                <a:solidFill>
                  <a:srgbClr val="B85042"/>
                </a:solidFill>
              </a:rPr>
              <a:t>  ▶  </a:t>
            </a:r>
            <a:r>
              <a:rPr sz="9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バンドギャップ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2426" y="4762881"/>
            <a:ext cx="2726842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壁の式を </a:t>
            </a:r>
            <a:r>
              <a:rPr sz="1500">
                <a:solidFill>
                  <a:srgbClr val="33221E"/>
                </a:solidFill>
                <a:highlight>
                  <a:srgbClr val="EBCECA"/>
                </a:highlight>
                <a:latin typeface="Avenir Next"/>
                <a:ea typeface="Hiragino Sans"/>
                <a:cs typeface="Hiragino Sans"/>
              </a:rPr>
              <a:t>導出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 し、実機を上限と比べる。</a:t>
            </a:r>
          </a:p>
        </p:txBody>
      </p:sp>
      <p:sp>
        <p:nvSpPr>
          <p:cNvPr id="17" name="Chevron 16"/>
          <p:cNvSpPr/>
          <p:nvPr/>
        </p:nvSpPr>
        <p:spPr>
          <a:xfrm>
            <a:off x="7838236" y="4125944"/>
            <a:ext cx="502920" cy="406400"/>
          </a:xfrm>
          <a:prstGeom prst="chevron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542324" y="3022282"/>
            <a:ext cx="3082442" cy="2613724"/>
          </a:xfrm>
          <a:prstGeom prst="roundRect">
            <a:avLst>
              <a:gd name="adj" fmla="val 3500"/>
            </a:avLst>
          </a:prstGeom>
          <a:solidFill>
            <a:srgbClr val="7C3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20124" y="3200082"/>
            <a:ext cx="2726842" cy="31089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到達点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20124" y="3561778"/>
            <a:ext cx="2726842" cy="80327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5059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6〜7割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20124" y="4365052"/>
            <a:ext cx="2726842" cy="109315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EBE0DF"/>
                </a:solidFill>
                <a:latin typeface="Avenir Next"/>
                <a:ea typeface="Hiragino Sans"/>
                <a:cs typeface="Hiragino Sans"/>
              </a:rPr>
              <a:t>実機はどの方式も理論上限の 6〜7 割。上限を上げる道は「高温化」だけ、と数字で言える。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745734"/>
            <a:ext cx="11057839" cy="42646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数値はすべて本資料の Python コード（コード/fig_ch01.py）で計算。T_L = 30 °C。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 / 36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現場で起きたこと — 効率 1% が国家予算になる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578735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2011年 東日本大震災の後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70835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原子力の停止で火力（LNG・石炭・石油）への依存が </a:t>
            </a:r>
            <a:r>
              <a:rPr sz="1500">
                <a:solidFill>
                  <a:srgbClr val="33221E"/>
                </a:solidFill>
                <a:highlight>
                  <a:srgbClr val="EBCECA"/>
                </a:highlight>
                <a:latin typeface="Avenir Next"/>
                <a:ea typeface="Hiragino Sans"/>
                <a:cs typeface="Hiragino Sans"/>
              </a:rPr>
              <a:t>約9割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 に上がり、燃料の輸入額が年に数兆円規模で増えた。発電効率 1 ポイントの差が、そのまま燃料費と CO₂ の差になる。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718052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895344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沖縄本島の電源構成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87444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石炭・LNG・石油火力が中心で、他地域との連系線がない。燃料の調達と効率が電気料金に直結し、太陽光を増やすほど「回転機が減る」問題（第8回の慣性）が前に出てくる。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4 / 36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たとえ話 — 滝とバケツリレー</a:t>
            </a:r>
          </a:p>
        </p:txBody>
      </p:sp>
      <p:pic>
        <p:nvPicPr>
          <p:cNvPr id="3" name="Picture 2" descr="ch01_ana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16" y="713232"/>
            <a:ext cx="11176863" cy="532231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たとえ話が崩れる点も押さえておく。水は下流にそのまま残るが、捨てた熱は二度と仕事に戻らない（熱力学第二法則）。だから「熱を通る道」にだけ上限がある。　出典｜コード/fig_ch01.py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5 / 36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この回の地図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627632"/>
            <a:ext cx="822960" cy="10515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01</a:t>
            </a:r>
          </a:p>
        </p:txBody>
      </p:sp>
      <p:sp>
        <p:nvSpPr>
          <p:cNvPr id="4" name="agenda:item:0"/>
          <p:cNvSpPr txBox="1"/>
          <p:nvPr/>
        </p:nvSpPr>
        <p:spPr>
          <a:xfrm>
            <a:off x="1572768" y="1627632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33221E"/>
                </a:solidFill>
                <a:latin typeface="Avenir Next"/>
                <a:ea typeface="Hiragino Sans"/>
                <a:cs typeface="Hiragino Sans"/>
              </a:defRPr>
            </a:pPr>
            <a:r>
              <a:rPr u="none">
                <a:ea typeface="Hiragino Sans"/>
                <a:cs typeface="Hiragino Sans"/>
                <a:hlinkClick r:id="rId3" action="ppaction://hlinksldjump"/>
              </a:rPr>
              <a:t>エネルギー保存則と第二法則 — 効率に上限がある理由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666492"/>
            <a:ext cx="11057839" cy="9525"/>
          </a:xfrm>
          <a:prstGeom prst="rect">
            <a:avLst/>
          </a:prstGeom>
          <a:solidFill>
            <a:srgbClr val="DFD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679192"/>
            <a:ext cx="822960" cy="10515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02</a:t>
            </a:r>
          </a:p>
        </p:txBody>
      </p:sp>
      <p:sp>
        <p:nvSpPr>
          <p:cNvPr id="7" name="agenda:item:1"/>
          <p:cNvSpPr txBox="1"/>
          <p:nvPr/>
        </p:nvSpPr>
        <p:spPr>
          <a:xfrm>
            <a:off x="1572768" y="2679192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33221E"/>
                </a:solidFill>
                <a:latin typeface="Avenir Next"/>
                <a:ea typeface="Hiragino Sans"/>
                <a:cs typeface="Hiragino Sans"/>
              </a:defRPr>
            </a:pPr>
            <a:r>
              <a:rPr u="none">
                <a:ea typeface="Hiragino Sans"/>
                <a:cs typeface="Hiragino Sans"/>
                <a:hlinkClick r:id="rId4" action="ppaction://hlinksldjump"/>
              </a:rPr>
              <a:t>発電方式を「変換の連鎖」として統一的に見る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718052"/>
            <a:ext cx="11057839" cy="9525"/>
          </a:xfrm>
          <a:prstGeom prst="rect">
            <a:avLst/>
          </a:prstGeom>
          <a:solidFill>
            <a:srgbClr val="DFD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3730752"/>
            <a:ext cx="822960" cy="10515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03</a:t>
            </a:r>
          </a:p>
        </p:txBody>
      </p:sp>
      <p:sp>
        <p:nvSpPr>
          <p:cNvPr id="10" name="agenda:item:2"/>
          <p:cNvSpPr txBox="1"/>
          <p:nvPr/>
        </p:nvSpPr>
        <p:spPr>
          <a:xfrm>
            <a:off x="1572768" y="3730752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33221E"/>
                </a:solidFill>
                <a:latin typeface="Avenir Next"/>
                <a:ea typeface="Hiragino Sans"/>
                <a:cs typeface="Hiragino Sans"/>
              </a:defRPr>
            </a:pPr>
            <a:r>
              <a:rPr u="none">
                <a:ea typeface="Hiragino Sans"/>
                <a:cs typeface="Hiragino Sans"/>
                <a:hlinkClick r:id="rId5" action="ppaction://hlinksldjump"/>
              </a:rPr>
              <a:t>理論限界 — カルノー効率とベッツの限界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4769612"/>
            <a:ext cx="11057839" cy="9525"/>
          </a:xfrm>
          <a:prstGeom prst="rect">
            <a:avLst/>
          </a:prstGeom>
          <a:solidFill>
            <a:srgbClr val="DFD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4782312"/>
            <a:ext cx="822960" cy="10515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04</a:t>
            </a:r>
          </a:p>
        </p:txBody>
      </p:sp>
      <p:sp>
        <p:nvSpPr>
          <p:cNvPr id="13" name="agenda:item:3"/>
          <p:cNvSpPr txBox="1"/>
          <p:nvPr/>
        </p:nvSpPr>
        <p:spPr>
          <a:xfrm>
            <a:off x="1572768" y="4782312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33221E"/>
                </a:solidFill>
                <a:latin typeface="Avenir Next"/>
                <a:ea typeface="Hiragino Sans"/>
                <a:cs typeface="Hiragino Sans"/>
              </a:defRPr>
            </a:pPr>
            <a:r>
              <a:rPr u="none">
                <a:ea typeface="Hiragino Sans"/>
                <a:cs typeface="Hiragino Sans"/>
                <a:hlinkClick r:id="rId6" action="ppaction://hlinksldjump"/>
              </a:rPr>
              <a:t>電力品質の 3 指標と単位換算（W・Wh・J・toe）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6 / 36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:ghost-number"/>
          <p:cNvSpPr txBox="1"/>
          <p:nvPr/>
        </p:nvSpPr>
        <p:spPr>
          <a:xfrm>
            <a:off x="777240" y="777240"/>
            <a:ext cx="4572000" cy="2381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5000" b="1">
                <a:solidFill>
                  <a:srgbClr val="EFE6E5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A03A2E"/>
                </a:solidFill>
                <a:latin typeface="Avenir Next"/>
                <a:ea typeface="Hiragino Sans"/>
                <a:cs typeface="Hiragino Sans"/>
              </a:defRPr>
            </a:pPr>
            <a:r>
              <a:rPr spc="200">
                <a:ea typeface="Hiragino Sans"/>
                <a:cs typeface="Hiragino Sans"/>
              </a:rPr>
              <a:t>SECTION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84448"/>
            <a:ext cx="10362895" cy="5721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  <a:defRPr sz="3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Ⅰ. エネルギー保存則と第二法則</a:t>
            </a:r>
          </a:p>
        </p:txBody>
      </p:sp>
      <p:sp>
        <p:nvSpPr>
          <p:cNvPr id="5" name="Rectangle 4"/>
          <p:cNvSpPr/>
          <p:nvPr/>
        </p:nvSpPr>
        <p:spPr>
          <a:xfrm>
            <a:off x="5775807" y="4321175"/>
            <a:ext cx="6400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31487"/>
            <a:ext cx="10362895" cy="3619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効率は「積」で減り、熱を通る段には上限がある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7 / 36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4 回の変換 — 効率は掛け算で減る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読み方｜入力 100 が 90 → 40.5 → 39.7 になる。半分以上をタービンで失う</a:t>
            </a:r>
          </a:p>
        </p:txBody>
      </p:sp>
      <p:pic>
        <p:nvPicPr>
          <p:cNvPr id="4" name="Picture 3" descr="ch01_ch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44192"/>
            <a:ext cx="6413546" cy="2850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749520"/>
            <a:ext cx="6413546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出典｜コード/fig_ch01.py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4522" y="2312225"/>
            <a:ext cx="4260245" cy="2286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ボイラ</a:t>
            </a: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 0.90：排ガスに逃げる</a:t>
            </a:r>
          </a:p>
          <a:p>
            <a:pPr>
              <a:spcBef>
                <a:spcPts val="400"/>
              </a:spcBef>
              <a:buChar char="•"/>
            </a:pPr>
            <a:r>
              <a:rPr sz="20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タービン</a:t>
            </a: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 0.45：ここにカルノーの壁</a:t>
            </a:r>
          </a:p>
          <a:p>
            <a:pPr>
              <a:spcBef>
                <a:spcPts val="400"/>
              </a:spcBef>
              <a:buChar char="•"/>
            </a:pPr>
            <a:r>
              <a:rPr sz="20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発電機</a:t>
            </a: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 0.98：最も無駄が少ない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総合 = 0.90 × 0.45 × 0.98 = </a:t>
            </a:r>
            <a:r>
              <a:rPr sz="20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0.397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482971"/>
            <a:ext cx="11057839" cy="625221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482971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609971"/>
            <a:ext cx="10600639" cy="37122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直列の変換は掛け算。一番弱い段が全体を決めるので、改善はタービン（熱→回転）に集中する。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8 / 36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なぜ熱機関の効率に上限があるのか</a:t>
            </a:r>
          </a:p>
        </p:txBody>
      </p:sp>
      <p:pic>
        <p:nvPicPr>
          <p:cNvPr id="3" name="Picture 2" descr="ch01_deriv_carnot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039" y="713232"/>
            <a:ext cx="10743616" cy="532231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高温 T_H で受けた熱と、低温 T_L で捨てた熱。可逆サイクルなら 1 周でエントロピーが元に戻るので、この 2 つの比が温度の比に等しくなる。　出典｜コード/fig_ch01.py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9 / 36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なぜ熱機関の効率に上限があるのか</a:t>
            </a:r>
          </a:p>
        </p:txBody>
      </p:sp>
      <p:pic>
        <p:nvPicPr>
          <p:cNvPr id="3" name="Picture 2" descr="ch01_deriv_carnot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039" y="713232"/>
            <a:ext cx="10743616" cy="532231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取り出せる仕事は、受けた熱から捨てた熱を引いた残り。①より Q_L は正の値なので、捨てる熱をゼロにすることはできない。　出典｜コード/fig_ch01.py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10 / 36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なぜ熱機関の効率に上限があるのか</a:t>
            </a:r>
          </a:p>
        </p:txBody>
      </p:sp>
      <p:pic>
        <p:nvPicPr>
          <p:cNvPr id="3" name="Picture 2" descr="ch01_deriv_carnot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039" y="713232"/>
            <a:ext cx="10743616" cy="532231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効率の定義に代入し、①で Q_L を消すと熱量が全部消えて温度だけが残る。上げるには T_H を上げるか T_L を下げるかしかなく、T_L は環境温度なので下げられない。　出典｜コード/fig_ch01.py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11 / 36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T–S 図で見る — 面積が熱、差が仕事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読み方｜長方形の上下が T_H と T_L。上の面積を受け、下の面積を捨てる</a:t>
            </a:r>
          </a:p>
        </p:txBody>
      </p:sp>
      <p:pic>
        <p:nvPicPr>
          <p:cNvPr id="4" name="Picture 3" descr="ch01_carnot_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83512"/>
            <a:ext cx="4217649" cy="3171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910201"/>
            <a:ext cx="4217649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出典｜コード/fig_ch01.py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68625" y="2629725"/>
            <a:ext cx="6456142" cy="165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① 等温膨張：Q_H = T_H ΔS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③ 等温圧縮：Q_L = T_L ΔS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赤の面積 = 仕事 W = (T_H − T_L) ΔS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η = W/Q_H = </a:t>
            </a:r>
            <a:r>
              <a:rPr sz="20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1 − T_L/T_H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482971"/>
            <a:ext cx="11057839" cy="625221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482971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609971"/>
            <a:ext cx="10600639" cy="37122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灰色（捨てる熱）は T_L に比例して必ず残る。これが「壁」の正体で、温度は必ず絶対温度 [K]。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12 / 36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実機は上限の 6〜7 割で動いている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読み方｜曲線が上限、緑の点が実機。上限を上げる唯一の道は T_H</a:t>
            </a:r>
          </a:p>
        </p:txBody>
      </p:sp>
      <p:pic>
        <p:nvPicPr>
          <p:cNvPr id="4" name="Picture 3" descr="ch01_carnot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83512"/>
            <a:ext cx="4945589" cy="29337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672076"/>
            <a:ext cx="4945589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出典｜コード/fig_ch01.py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96565" y="2510663"/>
            <a:ext cx="5728202" cy="165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原子力：T_H 285 °C → 上限 46%、実機 34%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石炭 USC：600 °C → 65%、実機 42%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コンバインド：1,400 °C → 82%、実機 58%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差はタービン以外の損失と所内動力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244846"/>
            <a:ext cx="11057839" cy="863346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244846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371846"/>
            <a:ext cx="10600639" cy="60934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原子力の効率が低いのは技術が劣るからではなく、燃料被覆管の制約で T_H が低いから。CC が 60% に届くのは高温から取るから。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13 / 36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例題 1 — コンバインドサイクルの上限を出す</a:t>
            </a:r>
          </a:p>
        </p:txBody>
      </p:sp>
      <p:sp>
        <p:nvSpPr>
          <p:cNvPr id="3" name="Oval 2"/>
          <p:cNvSpPr/>
          <p:nvPr/>
        </p:nvSpPr>
        <p:spPr>
          <a:xfrm>
            <a:off x="1597113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絶対温度に直す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ガスタービン入口 1,400 °C → 1,673 K。復水器側 30 °C → 303 K</a:t>
            </a:r>
          </a:p>
        </p:txBody>
      </p:sp>
      <p:sp>
        <p:nvSpPr>
          <p:cNvPr id="6" name="Oval 5"/>
          <p:cNvSpPr/>
          <p:nvPr/>
        </p:nvSpPr>
        <p:spPr>
          <a:xfrm>
            <a:off x="4425580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95395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23995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カルノー上限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η_C = 1 − 303/1673 = 0.819。理論上は 82%</a:t>
            </a:r>
          </a:p>
        </p:txBody>
      </p:sp>
      <p:sp>
        <p:nvSpPr>
          <p:cNvPr id="9" name="Oval 8"/>
          <p:cNvSpPr/>
          <p:nvPr/>
        </p:nvSpPr>
        <p:spPr>
          <a:xfrm>
            <a:off x="7254047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3862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52462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石炭火力と比べる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主蒸気 600 °C → 873 K。η_C = 1 − 303/873 = 0.653。上限 65%</a:t>
            </a:r>
          </a:p>
        </p:txBody>
      </p:sp>
      <p:sp>
        <p:nvSpPr>
          <p:cNvPr id="12" name="Oval 11"/>
          <p:cNvSpPr/>
          <p:nvPr/>
        </p:nvSpPr>
        <p:spPr>
          <a:xfrm>
            <a:off x="10082514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52329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80929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実機との比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CC 実機約 58〜63% は上限の 7 割。石炭 USC 42% は上限の 6.4 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14 / 36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結果 — 高温から取るほど壁が遠のく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2857627"/>
            <a:ext cx="3503066" cy="174625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857627"/>
            <a:ext cx="3503066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124327"/>
            <a:ext cx="3045866" cy="1250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60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rPr>
              <a:t>82%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CC のカルノー上限（1,400 °C）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4314" y="2857627"/>
            <a:ext cx="3503066" cy="174625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44314" y="2857627"/>
            <a:ext cx="3503066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914" y="3124327"/>
            <a:ext cx="3045866" cy="1250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60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rPr>
              <a:t>65%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石炭 USC の上限（600 °C）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21700" y="2857627"/>
            <a:ext cx="3503066" cy="174625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21700" y="2857627"/>
            <a:ext cx="3503066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50300" y="3124327"/>
            <a:ext cx="3045866" cy="1250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60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rPr>
              <a:t>46%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原子力の上限（285 °C）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15 / 36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:ghost-number"/>
          <p:cNvSpPr txBox="1"/>
          <p:nvPr/>
        </p:nvSpPr>
        <p:spPr>
          <a:xfrm>
            <a:off x="777240" y="777240"/>
            <a:ext cx="4572000" cy="2381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5000" b="1">
                <a:solidFill>
                  <a:srgbClr val="EFE6E5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A03A2E"/>
                </a:solidFill>
                <a:latin typeface="Avenir Next"/>
                <a:ea typeface="Hiragino Sans"/>
                <a:cs typeface="Hiragino Sans"/>
              </a:defRPr>
            </a:pPr>
            <a:r>
              <a:rPr spc="200">
                <a:ea typeface="Hiragino Sans"/>
                <a:cs typeface="Hiragino Sans"/>
              </a:rP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84448"/>
            <a:ext cx="10362895" cy="5721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  <a:defRPr sz="3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Ⅱ. 発電方式を「変換の連鎖」で見る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775807" y="4321175"/>
            <a:ext cx="6400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31487"/>
            <a:ext cx="10362895" cy="3619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熱を通るか通らないかで、壁の種類が変わる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16 / 36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方式ごとの効率 — 壁は 2 種類ある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読み方｜赤は熱を経由（カルノー上限）、緑は経由しない（別の上限）</a:t>
            </a:r>
          </a:p>
        </p:txBody>
      </p:sp>
      <p:pic>
        <p:nvPicPr>
          <p:cNvPr id="4" name="Picture 3" descr="ch01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83512"/>
            <a:ext cx="5578290" cy="3171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910201"/>
            <a:ext cx="5578290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出典｜コード/fig_ch01.py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29266" y="2312225"/>
            <a:ext cx="5095501" cy="2286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汽力 40〜43%、CC 55〜64%、原子力 33〜35%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水力 80〜90%：位置エネルギーを直接回転に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風力 35〜45%：ベッツの限界 59% が壁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太陽光 15〜22%：バンドギャップが壁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482971"/>
            <a:ext cx="11057839" cy="625221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482971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609971"/>
            <a:ext cx="10600639" cy="37122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効率の数字だけを並べて優劣を言わない。「どの壁に対して何割か」で技術の成熟度を読む。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17 / 36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水力 — 位置エネルギーの減少率がそのまま出力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991868"/>
            <a:ext cx="11057839" cy="690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34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/>
            </a:r>
            <a14:m xmlns:a14="http://schemas.microsoft.com/office/drawing/2010/main" xmlns:mc="http://schemas.openxmlformats.org/markup-compatibility/2006">
              <m:oMathPara xmlns:m="http://schemas.openxmlformats.org/officeDocument/2006/math">
                <m:oMathParaPr>
                  <m:jc m:val="center"/>
                </m:oMathParaPr>
                <m:oMath>
                  <m:r>
                    <ns0:rPr xmlns:ns0="http://schemas.openxmlformats.org/wordprocessingml/2006/main">
                      <ns0:sz ns0:val="68"/>
                      <ns0:szCs ns0:val="68"/>
                    </ns0:rPr>
                    <m:t>P</m:t>
                  </m:r>
                  <m:r>
                    <m:rPr>
                      <m:sty m:val="p"/>
                    </m:rPr>
                    <ns0:rPr xmlns:ns0="http://schemas.openxmlformats.org/wordprocessingml/2006/main">
                      <ns0:sz ns0:val="68"/>
                      <ns0:szCs ns0:val="68"/>
                    </ns0:rPr>
                    <m:t>=</m:t>
                  </m:r>
                  <m:r>
                    <ns0:rPr xmlns:ns0="http://schemas.openxmlformats.org/wordprocessingml/2006/main">
                      <ns0:sz ns0:val="68"/>
                      <ns0:szCs ns0:val="68"/>
                    </ns0:rPr>
                    <m:t>ρ</m:t>
                  </m:r>
                  <m:r>
                    <ns0:rPr xmlns:ns0="http://schemas.openxmlformats.org/wordprocessingml/2006/main">
                      <ns0:sz ns0:val="68"/>
                      <ns0:szCs ns0:val="68"/>
                    </ns0:rPr>
                    <m:t> </m:t>
                  </m:r>
                  <m:r>
                    <ns0:rPr xmlns:ns0="http://schemas.openxmlformats.org/wordprocessingml/2006/main">
                      <ns0:sz ns0:val="68"/>
                      <ns0:szCs ns0:val="68"/>
                    </ns0:rPr>
                    <m:t>g</m:t>
                  </m:r>
                  <m:r>
                    <ns0:rPr xmlns:ns0="http://schemas.openxmlformats.org/wordprocessingml/2006/main">
                      <ns0:sz ns0:val="68"/>
                      <ns0:szCs ns0:val="68"/>
                    </ns0:rPr>
                    <m:t> </m:t>
                  </m:r>
                  <m:r>
                    <ns0:rPr xmlns:ns0="http://schemas.openxmlformats.org/wordprocessingml/2006/main">
                      <ns0:sz ns0:val="68"/>
                      <ns0:szCs ns0:val="68"/>
                    </ns0:rPr>
                    <m:t>Q</m:t>
                  </m:r>
                  <m:r>
                    <ns0:rPr xmlns:ns0="http://schemas.openxmlformats.org/wordprocessingml/2006/main">
                      <ns0:sz ns0:val="68"/>
                      <ns0:szCs ns0:val="68"/>
                    </ns0:rPr>
                    <m:t> </m:t>
                  </m:r>
                  <m:r>
                    <ns0:rPr xmlns:ns0="http://schemas.openxmlformats.org/wordprocessingml/2006/main">
                      <ns0:sz ns0:val="68"/>
                      <ns0:szCs ns0:val="68"/>
                    </ns0:rPr>
                    <m:t>H</m:t>
                  </m:r>
                  <m:r>
                    <ns0:rPr xmlns:ns0="http://schemas.openxmlformats.org/wordprocessingml/2006/main">
                      <ns0:sz ns0:val="68"/>
                      <ns0:szCs ns0:val="68"/>
                    </ns0:rPr>
                    <m:t> </m:t>
                  </m:r>
                  <m:r>
                    <ns0:rPr xmlns:ns0="http://schemas.openxmlformats.org/wordprocessingml/2006/main">
                      <ns0:sz ns0:val="68"/>
                      <ns0:szCs ns0:val="68"/>
                    </ns0:rPr>
                    <m:t>η</m:t>
                  </m:r>
                  <m:r>
                    <m:rPr>
                      <m:sty m:val="p"/>
                    </m:rPr>
                    <ns0:rPr xmlns:ns0="http://schemas.openxmlformats.org/wordprocessingml/2006/main">
                      <ns0:sz ns0:val="68"/>
                      <ns0:szCs ns0:val="68"/>
                    </ns0:rPr>
                    <m:t>=</m:t>
                  </m:r>
                  <m:r>
                    <ns0:rPr xmlns:ns0="http://schemas.openxmlformats.org/wordprocessingml/2006/main">
                      <ns0:sz ns0:val="68"/>
                      <ns0:szCs ns0:val="68"/>
                    </ns0:rPr>
                    <m:t>1000</m:t>
                  </m:r>
                  <m:r>
                    <m:rPr>
                      <m:sty m:val="p"/>
                    </m:rPr>
                    <ns0:rPr xmlns:ns0="http://schemas.openxmlformats.org/wordprocessingml/2006/main">
                      <ns0:sz ns0:val="68"/>
                      <ns0:szCs ns0:val="68"/>
                    </ns0:rPr>
                    <m:t>×</m:t>
                  </m:r>
                  <m:r>
                    <ns0:rPr xmlns:ns0="http://schemas.openxmlformats.org/wordprocessingml/2006/main">
                      <ns0:sz ns0:val="68"/>
                      <ns0:szCs ns0:val="68"/>
                    </ns0:rPr>
                    <m:t>9.8</m:t>
                  </m:r>
                  <m:r>
                    <m:rPr>
                      <m:sty m:val="p"/>
                    </m:rPr>
                    <ns0:rPr xmlns:ns0="http://schemas.openxmlformats.org/wordprocessingml/2006/main">
                      <ns0:sz ns0:val="68"/>
                      <ns0:szCs ns0:val="68"/>
                    </ns0:rPr>
                    <m:t>×</m:t>
                  </m:r>
                  <m:r>
                    <ns0:rPr xmlns:ns0="http://schemas.openxmlformats.org/wordprocessingml/2006/main">
                      <ns0:sz ns0:val="68"/>
                      <ns0:szCs ns0:val="68"/>
                    </ns0:rPr>
                    <m:t>Q</m:t>
                  </m:r>
                  <m:r>
                    <ns0:rPr xmlns:ns0="http://schemas.openxmlformats.org/wordprocessingml/2006/main">
                      <ns0:sz ns0:val="68"/>
                      <ns0:szCs ns0:val="68"/>
                    </ns0:rPr>
                    <m:t>H</m:t>
                  </m:r>
                  <m:r>
                    <ns0:rPr xmlns:ns0="http://schemas.openxmlformats.org/wordprocessingml/2006/main">
                      <ns0:sz ns0:val="68"/>
                      <ns0:szCs ns0:val="68"/>
                    </ns0:rPr>
                    <m:t>η</m:t>
                  </m:r>
                  <m:r>
                    <ns0:rPr xmlns:ns0="http://schemas.openxmlformats.org/wordprocessingml/2006/main">
                      <ns0:sz ns0:val="68"/>
                      <ns0:szCs ns0:val="68"/>
                    </ns0:rPr>
                    <m:t> </m:t>
                  </m:r>
                  <m:r>
                    <m:rPr>
                      <m:sty m:val="p"/>
                    </m:rPr>
                    <ns0:rPr xmlns:ns0="http://schemas.openxmlformats.org/wordprocessingml/2006/main">
                      <ns0:sz ns0:val="68"/>
                      <ns0:szCs ns0:val="68"/>
                    </ns0:rPr>
                    <m:t>[</m:t>
                  </m:r>
                  <m:r>
                    <m:rPr>
                      <m:nor/>
                      <m:sty m:val="p"/>
                    </m:rPr>
                    <ns0:rPr xmlns:ns0="http://schemas.openxmlformats.org/wordprocessingml/2006/main">
                      <ns0:sz ns0:val="68"/>
                      <ns0:szCs ns0:val="68"/>
                    </ns0:rPr>
                    <m:t>W</m:t>
                  </m:r>
                  <m:r>
                    <m:rPr>
                      <m:sty m:val="p"/>
                    </m:rPr>
                    <ns0:rPr xmlns:ns0="http://schemas.openxmlformats.org/wordprocessingml/2006/main">
                      <ns0:sz ns0:val="68"/>
                      <ns0:szCs ns0:val="68"/>
                    </ns0:rPr>
                    <m:t>]</m:t>
                  </m:r>
                  <m:r>
                    <m:rPr>
                      <m:sty m:val="p"/>
                    </m:rPr>
                    <ns0:rPr xmlns:ns0="http://schemas.openxmlformats.org/wordprocessingml/2006/main">
                      <ns0:sz ns0:val="68"/>
                      <ns0:szCs ns0:val="68"/>
                    </ns0:rPr>
                    <m:t>=</m:t>
                  </m:r>
                  <m:r>
                    <ns0:rPr xmlns:ns0="http://schemas.openxmlformats.org/wordprocessingml/2006/main">
                      <ns0:sz ns0:val="68"/>
                      <ns0:szCs ns0:val="68"/>
                    </ns0:rPr>
                    <m:t>9.8</m:t>
                  </m:r>
                  <m:r>
                    <ns0:rPr xmlns:ns0="http://schemas.openxmlformats.org/wordprocessingml/2006/main">
                      <ns0:sz ns0:val="68"/>
                      <ns0:szCs ns0:val="68"/>
                    </ns0:rPr>
                    <m:t> </m:t>
                  </m:r>
                  <m:r>
                    <ns0:rPr xmlns:ns0="http://schemas.openxmlformats.org/wordprocessingml/2006/main">
                      <ns0:sz ns0:val="68"/>
                      <ns0:szCs ns0:val="68"/>
                    </ns0:rPr>
                    <m:t>Q</m:t>
                  </m:r>
                  <m:r>
                    <ns0:rPr xmlns:ns0="http://schemas.openxmlformats.org/wordprocessingml/2006/main">
                      <ns0:sz ns0:val="68"/>
                      <ns0:szCs ns0:val="68"/>
                    </ns0:rPr>
                    <m:t>H</m:t>
                  </m:r>
                  <m:r>
                    <ns0:rPr xmlns:ns0="http://schemas.openxmlformats.org/wordprocessingml/2006/main">
                      <ns0:sz ns0:val="68"/>
                      <ns0:szCs ns0:val="68"/>
                    </ns0:rPr>
                    <m:t>η</m:t>
                  </m:r>
                  <m:r>
                    <ns0:rPr xmlns:ns0="http://schemas.openxmlformats.org/wordprocessingml/2006/main">
                      <ns0:sz ns0:val="68"/>
                      <ns0:szCs ns0:val="68"/>
                    </ns0:rPr>
                    <m:t> </m:t>
                  </m:r>
                  <m:r>
                    <m:rPr>
                      <m:sty m:val="p"/>
                    </m:rPr>
                    <ns0:rPr xmlns:ns0="http://schemas.openxmlformats.org/wordprocessingml/2006/main">
                      <ns0:sz ns0:val="68"/>
                      <ns0:szCs ns0:val="68"/>
                    </ns0:rPr>
                    <m:t>[</m:t>
                  </m:r>
                  <m:r>
                    <m:rPr>
                      <m:nor/>
                      <m:sty m:val="p"/>
                    </m:rPr>
                    <ns0:rPr xmlns:ns0="http://schemas.openxmlformats.org/wordprocessingml/2006/main">
                      <ns0:sz ns0:val="68"/>
                      <ns0:szCs ns0:val="68"/>
                    </ns0:rPr>
                    <m:t>kW</m:t>
                  </m:r>
                  <m:r>
                    <m:rPr>
                      <m:sty m:val="p"/>
                    </m:rPr>
                    <ns0:rPr xmlns:ns0="http://schemas.openxmlformats.org/wordprocessingml/2006/main">
                      <ns0:sz ns0:val="68"/>
                      <ns0:szCs ns0:val="68"/>
                    </ns0:rPr>
                    <m:t>]</m:t>
                  </m:r>
                </m:oMath>
              </m:oMathPara>
            </a14:m>
          </a:p>
        </p:txBody>
      </p:sp>
      <p:sp>
        <p:nvSpPr>
          <p:cNvPr id="4" name="TextBox 3"/>
          <p:cNvSpPr txBox="1"/>
          <p:nvPr/>
        </p:nvSpPr>
        <p:spPr>
          <a:xfrm>
            <a:off x="2255367" y="2710180"/>
            <a:ext cx="1554480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2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180">
                <a:ea typeface="Hiragino Sans"/>
                <a:cs typeface="Hiragino Sans"/>
              </a:rPr>
              <a:t>WHERE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038447" y="2947924"/>
            <a:ext cx="9525" cy="1755648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55367" y="2911348"/>
            <a:ext cx="1554480" cy="457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/>
            <a:r>
              <a:rPr sz="2000">
                <a:solidFill>
                  <a:srgbClr val="A03A2E"/>
                </a:solidFill>
                <a:latin typeface="Avenir Next"/>
                <a:ea typeface="Hiragino Sans"/>
                <a:cs typeface="Hiragino Sans"/>
              </a:rPr>
              <a:t/>
            </a:r>
            <a14:m xmlns:a14="http://schemas.microsoft.com/office/drawing/2010/main" xmlns:mc="http://schemas.openxmlformats.org/markup-compatibility/2006">
              <m:oMath xmlns:m="http://schemas.openxmlformats.org/officeDocument/2006/math">
                <m:r>
                  <ns0:rPr xmlns:ns0="http://schemas.openxmlformats.org/wordprocessingml/2006/main">
                    <ns0:sz ns0:val="40"/>
                    <ns0:szCs ns0:val="40"/>
                  </ns0:rPr>
                  <m:t>ρ</m:t>
                </m:r>
                <m:r>
                  <ns0:rPr xmlns:ns0="http://schemas.openxmlformats.org/wordprocessingml/2006/main">
                    <ns0:sz ns0:val="40"/>
                    <ns0:szCs ns0:val="40"/>
                  </ns0:rPr>
                  <m:t>Q</m:t>
                </m:r>
              </m:oMath>
            </a14:m>
          </a:p>
        </p:txBody>
      </p:sp>
      <p:sp>
        <p:nvSpPr>
          <p:cNvPr id="7" name="TextBox 6"/>
          <p:cNvSpPr txBox="1"/>
          <p:nvPr/>
        </p:nvSpPr>
        <p:spPr>
          <a:xfrm>
            <a:off x="4267047" y="2911348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7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単位時間に落ちる水の質量 [kg/s]。ρ = 1000 kg/m³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55367" y="3368548"/>
            <a:ext cx="1554480" cy="457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/>
            <a:r>
              <a:rPr sz="2000">
                <a:solidFill>
                  <a:srgbClr val="A03A2E"/>
                </a:solidFill>
                <a:latin typeface="Avenir Next"/>
                <a:ea typeface="Hiragino Sans"/>
                <a:cs typeface="Hiragino Sans"/>
              </a:rPr>
              <a:t/>
            </a:r>
            <a14:m xmlns:a14="http://schemas.microsoft.com/office/drawing/2010/main" xmlns:mc="http://schemas.openxmlformats.org/markup-compatibility/2006">
              <m:oMath xmlns:m="http://schemas.openxmlformats.org/officeDocument/2006/math">
                <m:r>
                  <ns0:rPr xmlns:ns0="http://schemas.openxmlformats.org/wordprocessingml/2006/main">
                    <ns0:sz ns0:val="40"/>
                    <ns0:szCs ns0:val="40"/>
                  </ns0:rPr>
                  <m:t>g</m:t>
                </m:r>
                <m:r>
                  <ns0:rPr xmlns:ns0="http://schemas.openxmlformats.org/wordprocessingml/2006/main">
                    <ns0:sz ns0:val="40"/>
                    <ns0:szCs ns0:val="40"/>
                  </ns0:rPr>
                  <m:t>H</m:t>
                </m:r>
              </m:oMath>
            </a14:m>
          </a:p>
        </p:txBody>
      </p:sp>
      <p:sp>
        <p:nvSpPr>
          <p:cNvPr id="9" name="TextBox 8"/>
          <p:cNvSpPr txBox="1"/>
          <p:nvPr/>
        </p:nvSpPr>
        <p:spPr>
          <a:xfrm>
            <a:off x="4267047" y="3368548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1 kg あたりの位置エネルギーの減少 [J/kg]。H は有効落差（損失水頭を引いたもの）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55367" y="3825748"/>
            <a:ext cx="1554480" cy="457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/>
            <a:r>
              <a:rPr sz="2000">
                <a:solidFill>
                  <a:srgbClr val="A03A2E"/>
                </a:solidFill>
                <a:latin typeface="Avenir Next"/>
                <a:ea typeface="Hiragino Sans"/>
                <a:cs typeface="Hiragino Sans"/>
              </a:rPr>
              <a:t/>
            </a:r>
            <a14:m xmlns:a14="http://schemas.microsoft.com/office/drawing/2010/main" xmlns:mc="http://schemas.openxmlformats.org/markup-compatibility/2006">
              <m:oMath xmlns:m="http://schemas.openxmlformats.org/officeDocument/2006/math">
                <m:r>
                  <ns0:rPr xmlns:ns0="http://schemas.openxmlformats.org/wordprocessingml/2006/main">
                    <ns0:sz ns0:val="40"/>
                    <ns0:szCs ns0:val="40"/>
                  </ns0:rPr>
                  <m:t>η</m:t>
                </m:r>
              </m:oMath>
            </a14:m>
          </a:p>
        </p:txBody>
      </p:sp>
      <p:sp>
        <p:nvSpPr>
          <p:cNvPr id="11" name="TextBox 10"/>
          <p:cNvSpPr txBox="1"/>
          <p:nvPr/>
        </p:nvSpPr>
        <p:spPr>
          <a:xfrm>
            <a:off x="4267047" y="3825748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5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水車 × 発電機の総合効率。0.8〜0.9 と高い。熱を通らない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5367" y="4282948"/>
            <a:ext cx="1554480" cy="457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/>
            <a:r>
              <a:rPr sz="2000">
                <a:solidFill>
                  <a:srgbClr val="A03A2E"/>
                </a:solidFill>
                <a:latin typeface="Avenir Next"/>
                <a:ea typeface="Hiragino Sans"/>
                <a:cs typeface="Hiragino Sans"/>
              </a:rPr>
              <a:t/>
            </a:r>
            <a14:m xmlns:a14="http://schemas.microsoft.com/office/drawing/2010/main" xmlns:mc="http://schemas.openxmlformats.org/markup-compatibility/2006">
              <m:oMath xmlns:m="http://schemas.openxmlformats.org/officeDocument/2006/math">
                <m:r>
                  <ns0:rPr xmlns:ns0="http://schemas.openxmlformats.org/wordprocessingml/2006/main">
                    <ns0:sz ns0:val="40"/>
                    <ns0:szCs ns0:val="40"/>
                  </ns0:rPr>
                  <m:t>9.8</m:t>
                </m:r>
              </m:oMath>
            </a14:m>
          </a:p>
        </p:txBody>
      </p:sp>
      <p:sp>
        <p:nvSpPr>
          <p:cNvPr id="13" name="TextBox 12"/>
          <p:cNvSpPr txBox="1"/>
          <p:nvPr/>
        </p:nvSpPr>
        <p:spPr>
          <a:xfrm>
            <a:off x="4267047" y="4282948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ρg/1000 の値。単位を kW にするための係数で、覚えるのはこれ 1 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18 / 36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例題 2 — 落差 120 m・流量 8 m³/s の水力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読み方｜出力は落差と流量に比例。直線の傾きが流量</a:t>
            </a:r>
          </a:p>
        </p:txBody>
      </p:sp>
      <p:pic>
        <p:nvPicPr>
          <p:cNvPr id="4" name="Picture 3" descr="ch01_hyd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83512"/>
            <a:ext cx="5232745" cy="3171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910201"/>
            <a:ext cx="5232745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出典｜コード/fig_ch01.py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3721" y="2629725"/>
            <a:ext cx="5441046" cy="165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P = 9.8 × 8 × 120 × 0.85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= </a:t>
            </a:r>
            <a:r>
              <a:rPr sz="20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7,997 kW ≈ 8.0 MW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流量 12 m³/s なら 12 MW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落差を 2 倍にしても 2 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482971"/>
            <a:ext cx="11057839" cy="625221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482971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609971"/>
            <a:ext cx="10600639" cy="37122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同じ 8 MW を火力で出すには燃料 8/0.4 = 20 MW 分の熱が要る。水力の「効率 0.85」の意味はここ。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19 / 36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:ghost-number"/>
          <p:cNvSpPr txBox="1"/>
          <p:nvPr/>
        </p:nvSpPr>
        <p:spPr>
          <a:xfrm>
            <a:off x="777240" y="777240"/>
            <a:ext cx="4572000" cy="2381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5000" b="1">
                <a:solidFill>
                  <a:srgbClr val="EFE6E5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A03A2E"/>
                </a:solidFill>
                <a:latin typeface="Avenir Next"/>
                <a:ea typeface="Hiragino Sans"/>
                <a:cs typeface="Hiragino Sans"/>
              </a:defRPr>
            </a:pPr>
            <a:r>
              <a:rPr spc="200">
                <a:ea typeface="Hiragino Sans"/>
                <a:cs typeface="Hiragino Sans"/>
              </a:rPr>
              <a:t>SECTION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84448"/>
            <a:ext cx="10362895" cy="5721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  <a:defRPr sz="3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Ⅲ. 風と光の上限</a:t>
            </a:r>
          </a:p>
        </p:txBody>
      </p:sp>
      <p:sp>
        <p:nvSpPr>
          <p:cNvPr id="5" name="Rectangle 4"/>
          <p:cNvSpPr/>
          <p:nvPr/>
        </p:nvSpPr>
        <p:spPr>
          <a:xfrm>
            <a:off x="5775807" y="4321175"/>
            <a:ext cx="6400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31487"/>
            <a:ext cx="10362895" cy="3619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熱を通らない方式にも、流体と量子の壁がある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20 / 36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風力 — 風速の 3 乗、そしてパワーカーブ</a:t>
            </a:r>
          </a:p>
        </p:txBody>
      </p:sp>
      <p:pic>
        <p:nvPicPr>
          <p:cNvPr id="3" name="Picture 2" descr="ch01_wi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994695"/>
            <a:ext cx="11734495" cy="4759389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風速が 2 倍になればパワーは 8 倍。裏を返せば、風速の予測が 10% 外れると出力は 33% 外れる。第10回で風力予測が難しいと言うのは、この 3 乗則のことである。　出典｜コード/fig_ch01.py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21 / 36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ベッツの限界（運動量理論）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229993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① 風を減速させて取り出す｜上流 v₁ → ロータ面 v → 下流 v₂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22093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ロータ面の風速は上下流の平均 v = (v₁ + v₂)/2。減速の割合を a = (v₁ − v)/v₁ とおく（誘導係数）。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059747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uild:ghost"/>
          <p:cNvSpPr txBox="1"/>
          <p:nvPr/>
        </p:nvSpPr>
        <p:spPr>
          <a:xfrm>
            <a:off x="566928" y="3237039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C1C9C5"/>
                </a:solidFill>
                <a:latin typeface="Avenir Next"/>
                <a:ea typeface="Hiragino Sans"/>
                <a:cs typeface="Hiragino Sans"/>
              </a:rPr>
              <a:t>② 取り出す仕事率｜P = 力 × 速度 = ρAv(v₁ − v₂) × v</a:t>
            </a:r>
          </a:p>
        </p:txBody>
      </p:sp>
      <p:sp>
        <p:nvSpPr>
          <p:cNvPr id="7" name="build:ghost"/>
          <p:cNvSpPr txBox="1"/>
          <p:nvPr/>
        </p:nvSpPr>
        <p:spPr>
          <a:xfrm>
            <a:off x="822960" y="3529139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v₂ = v₁(1 − 2a) を代入すると </a:t>
            </a:r>
            <a:r>
              <a:rPr sz="1500" b="1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P = ½ρA v₁³ · 4a(1 − a)²</a:t>
            </a: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。C_p(a) = 4a(1 − a)² が「取り出せる割合」。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066793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build:ghost"/>
          <p:cNvSpPr txBox="1"/>
          <p:nvPr/>
        </p:nvSpPr>
        <p:spPr>
          <a:xfrm>
            <a:off x="566928" y="4244085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C1C9C5"/>
                </a:solidFill>
                <a:latin typeface="Avenir Next"/>
                <a:ea typeface="Hiragino Sans"/>
                <a:cs typeface="Hiragino Sans"/>
              </a:rPr>
              <a:t>③ 最大化｜dC_p/da = 0 → a = 1/3</a:t>
            </a:r>
          </a:p>
        </p:txBody>
      </p:sp>
      <p:sp>
        <p:nvSpPr>
          <p:cNvPr id="10" name="build:ghost"/>
          <p:cNvSpPr txBox="1"/>
          <p:nvPr/>
        </p:nvSpPr>
        <p:spPr>
          <a:xfrm>
            <a:off x="822960" y="4536185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C_p,max = 4 · (1/3) · (2/3)² = </a:t>
            </a:r>
            <a:r>
              <a:rPr sz="1500" b="1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16/27 = 0.593</a:t>
            </a: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。風を止めきると（a = 1/2 で v₂ = 0）後ろに空気が流れ込めず、取れる量は減る。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22 / 36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ベッツの限界（運動量理論）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229993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① 風を減速させて取り出す｜上流 v₁ → ロータ面 v → 下流 v₂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22093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ロータ面の風速は上下流の平均 v = (v₁ + v₂)/2。減速の割合を a = (v₁ − v)/v₁ とおく（誘導係数）。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059747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237039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② 取り出す仕事率｜P = 力 × 速度 = ρAv(v₁ − v₂) × 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29139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v₂ = v₁(1 − 2a) を代入すると 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P = ½ρA v₁³ · 4a(1 − a)²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。C_p(a) = 4a(1 − a)² が「取り出せる割合」。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066793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build:ghost"/>
          <p:cNvSpPr txBox="1"/>
          <p:nvPr/>
        </p:nvSpPr>
        <p:spPr>
          <a:xfrm>
            <a:off x="566928" y="4244085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C1C9C5"/>
                </a:solidFill>
                <a:latin typeface="Avenir Next"/>
                <a:ea typeface="Hiragino Sans"/>
                <a:cs typeface="Hiragino Sans"/>
              </a:rPr>
              <a:t>③ 最大化｜dC_p/da = 0 → a = 1/3</a:t>
            </a:r>
          </a:p>
        </p:txBody>
      </p:sp>
      <p:sp>
        <p:nvSpPr>
          <p:cNvPr id="10" name="build:ghost"/>
          <p:cNvSpPr txBox="1"/>
          <p:nvPr/>
        </p:nvSpPr>
        <p:spPr>
          <a:xfrm>
            <a:off x="822960" y="4536185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C_p,max = 4 · (1/3) · (2/3)² = </a:t>
            </a:r>
            <a:r>
              <a:rPr sz="1500" b="1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16/27 = 0.593</a:t>
            </a: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。風を止めきると（a = 1/2 で v₂ = 0）後ろに空気が流れ込めず、取れる量は減る。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23 / 36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ベッツの限界（運動量理論）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229993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① 風を減速させて取り出す｜上流 v₁ → ロータ面 v → 下流 v₂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22093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ロータ面の風速は上下流の平均 v = (v₁ + v₂)/2。減速の割合を a = (v₁ − v)/v₁ とおく（誘導係数）。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059747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237039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② 取り出す仕事率｜P = 力 × 速度 = ρAv(v₁ − v₂) × 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29139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v₂ = v₁(1 − 2a) を代入すると 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P = ½ρA v₁³ · 4a(1 − a)²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。C_p(a) = 4a(1 − a)² が「取り出せる割合」。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066793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4244085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③ 最大化｜dC_p/da = 0 → a = 1/3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536185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C_p,max = 4 · (1/3) · (2/3)² = 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16/27 = 0.593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。風を止めきると（a = 1/2 で v₂ = 0）後ろに空気が流れ込めず、取れる量は減る。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24 / 36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C_p は減速 1/3 で最大 0.593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読み方｜横軸はどれだけ風を減速させるか。取りすぎても取らなすぎても損</a:t>
            </a:r>
          </a:p>
        </p:txBody>
      </p:sp>
      <p:pic>
        <p:nvPicPr>
          <p:cNvPr id="4" name="Picture 3" descr="ch01_bet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83512"/>
            <a:ext cx="5045219" cy="3171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910201"/>
            <a:ext cx="5045219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出典｜コード/fig_ch01.py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6195" y="2629725"/>
            <a:ext cx="5628572" cy="165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C_p(a) = 4a(1 − a)²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a = 1/3 で </a:t>
            </a:r>
            <a:r>
              <a:rPr sz="20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16/27 = 0.593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実機 0.35〜0.45（緑の帯）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上限の 6〜7 割：火力と同じ到達度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482971"/>
            <a:ext cx="11057839" cy="625221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482971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609971"/>
            <a:ext cx="10600639" cy="37122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カルノーは「温度の比」、ベッツは「速度の比」。どちらも比が壁を作る。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25 / 36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例題 3 — 風車のパワー係数を実測から逆算する</a:t>
            </a:r>
          </a:p>
        </p:txBody>
      </p:sp>
      <p:sp>
        <p:nvSpPr>
          <p:cNvPr id="3" name="Oval 2"/>
          <p:cNvSpPr/>
          <p:nvPr/>
        </p:nvSpPr>
        <p:spPr>
          <a:xfrm>
            <a:off x="1597113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条件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定格 2.0 MW、直径 90 m。風速 8 m/s のとき 0.85 MW を発電。ρ = 1.225 kg/m³</a:t>
            </a:r>
          </a:p>
        </p:txBody>
      </p:sp>
      <p:sp>
        <p:nvSpPr>
          <p:cNvPr id="6" name="Oval 5"/>
          <p:cNvSpPr/>
          <p:nvPr/>
        </p:nvSpPr>
        <p:spPr>
          <a:xfrm>
            <a:off x="4425580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95395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23995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受風面積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A = π × 90²/4 = 6,362 m²</a:t>
            </a:r>
          </a:p>
        </p:txBody>
      </p:sp>
      <p:sp>
        <p:nvSpPr>
          <p:cNvPr id="9" name="Oval 8"/>
          <p:cNvSpPr/>
          <p:nvPr/>
        </p:nvSpPr>
        <p:spPr>
          <a:xfrm>
            <a:off x="7254047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3862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52462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風のパワー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½ρAv³ = 0.5 × 1.225 × 6,362 × 8³ = 1.995 MW</a:t>
            </a:r>
          </a:p>
        </p:txBody>
      </p:sp>
      <p:sp>
        <p:nvSpPr>
          <p:cNvPr id="12" name="Oval 11"/>
          <p:cNvSpPr/>
          <p:nvPr/>
        </p:nvSpPr>
        <p:spPr>
          <a:xfrm>
            <a:off x="10082514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52329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80929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120">
                <a:ea typeface="Hiragino Sans"/>
                <a:cs typeface="Hiragino Sans"/>
              </a:rPr>
              <a:t>C_P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C_p = 0.85/1.995 = 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0.426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。ベッツ 0.593 の 72%。良い風車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26 / 36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太陽光 — バンドギャップが決める上限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読み方｜Si は 1.12 eV。それ未満の光子は素通り、超えた分は熱になる</a:t>
            </a:r>
          </a:p>
        </p:txBody>
      </p:sp>
      <p:pic>
        <p:nvPicPr>
          <p:cNvPr id="4" name="Picture 3" descr="ch01_pv_spectr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83512"/>
            <a:ext cx="5486845" cy="3171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910201"/>
            <a:ext cx="5486845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出典｜コード/fig_ch01.py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37821" y="2629725"/>
            <a:ext cx="5186946" cy="165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吸収されない（E &lt; E_g）：23%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熱になる（E − E_g）：32%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電気になれる分：</a:t>
            </a:r>
            <a:r>
              <a:rPr sz="20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44%</a:t>
            </a: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（究極効率）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再結合まで入れると </a:t>
            </a:r>
            <a:r>
              <a:rPr sz="20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33.7%</a:t>
            </a: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（SQ 限界）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482971"/>
            <a:ext cx="11057839" cy="625221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482971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609971"/>
            <a:ext cx="10600639" cy="37122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実用セル 20% 前後、モジュール 15〜22%。上限の 6 割で、ここも火力・風力と同じ到達度。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27 / 36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:ghost-number"/>
          <p:cNvSpPr txBox="1"/>
          <p:nvPr/>
        </p:nvSpPr>
        <p:spPr>
          <a:xfrm>
            <a:off x="777240" y="777240"/>
            <a:ext cx="4572000" cy="2381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5000" b="1">
                <a:solidFill>
                  <a:srgbClr val="EFE6E5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A03A2E"/>
                </a:solidFill>
                <a:latin typeface="Avenir Next"/>
                <a:ea typeface="Hiragino Sans"/>
                <a:cs typeface="Hiragino Sans"/>
              </a:defRPr>
            </a:pPr>
            <a:r>
              <a:rPr spc="200">
                <a:ea typeface="Hiragino Sans"/>
                <a:cs typeface="Hiragino Sans"/>
              </a:rPr>
              <a:t>SECTION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84448"/>
            <a:ext cx="10362895" cy="5721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  <a:defRPr sz="3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Ⅳ. 電力品質と単位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5775807" y="4321175"/>
            <a:ext cx="6400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31487"/>
            <a:ext cx="10362895" cy="3619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電気は「同じ品質で届く」前提で機器が作られている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28 / 36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電力品質の 3 指標 — 電圧・周波数・高調波</a:t>
            </a:r>
          </a:p>
        </p:txBody>
      </p:sp>
      <p:pic>
        <p:nvPicPr>
          <p:cNvPr id="3" name="Picture 2" descr="ch01_qu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543373"/>
            <a:ext cx="11734495" cy="3662034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この例では電圧 101 ± 6 V、周波数 60 ± 0.2 Hz、高調波 THD 5.8%。電圧が下がったらその場所の Q が足りない（第6回）、周波数が下がったら系統全体で P が足りない（第8回）。どちらの話かを取り違えないための最初の区別である。　出典｜コード/fig_ch01.py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29 / 36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品質の基準と、崩れたときに起きること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204212"/>
            <a:ext cx="11057839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日本の基準値（低圧・高圧）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783290" y="2752852"/>
          <a:ext cx="8625114" cy="1498600"/>
        </p:xfrm>
        <a:graphic>
          <a:graphicData uri="http://schemas.openxmlformats.org/drawingml/2006/table">
            <a:tbl>
              <a:tblPr/>
              <a:tblGrid>
                <a:gridCol w="998045"/>
                <a:gridCol w="2608379"/>
                <a:gridCol w="2420445"/>
                <a:gridCol w="2598245"/>
              </a:tblGrid>
              <a:tr h="37465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指標</a:t>
                      </a:r>
                    </a:p>
                  </a:txBody>
                  <a:tcPr anchor="ctr" marL="127000" marR="127000" marT="76200" marB="76200">
                    <a:lnB w="12700" cap="flat" cmpd="sng" algn="ctr">
                      <a:solidFill>
                        <a:srgbClr val="7C332A"/>
                      </a:solidFill>
                      <a:prstDash val="solid"/>
                    </a:lnB>
                    <a:lnT w="15875" cap="flat" cmpd="sng" algn="ctr">
                      <a:solidFill>
                        <a:srgbClr val="7C332A"/>
                      </a:solidFill>
                      <a:prstDash val="solid"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基準</a:t>
                      </a:r>
                    </a:p>
                  </a:txBody>
                  <a:tcPr anchor="ctr" marL="127000" marR="127000" marT="76200" marB="76200">
                    <a:lnB w="12700" cap="flat" cmpd="sng" algn="ctr">
                      <a:solidFill>
                        <a:srgbClr val="7C332A"/>
                      </a:solidFill>
                      <a:prstDash val="solid"/>
                    </a:lnB>
                    <a:lnT w="15875" cap="flat" cmpd="sng" algn="ctr">
                      <a:solidFill>
                        <a:srgbClr val="7C332A"/>
                      </a:solidFill>
                      <a:prstDash val="solid"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崩れると</a:t>
                      </a:r>
                    </a:p>
                  </a:txBody>
                  <a:tcPr anchor="ctr" marL="127000" marR="127000" marT="76200" marB="76200">
                    <a:lnB w="12700" cap="flat" cmpd="sng" algn="ctr">
                      <a:solidFill>
                        <a:srgbClr val="7C332A"/>
                      </a:solidFill>
                      <a:prstDash val="solid"/>
                    </a:lnB>
                    <a:lnT w="15875" cap="flat" cmpd="sng" algn="ctr">
                      <a:solidFill>
                        <a:srgbClr val="7C332A"/>
                      </a:solidFill>
                      <a:prstDash val="solid"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主な原因</a:t>
                      </a:r>
                    </a:p>
                  </a:txBody>
                  <a:tcPr anchor="ctr" marL="127000" marR="127000" marT="76200" marB="76200">
                    <a:lnB w="12700" cap="flat" cmpd="sng" algn="ctr">
                      <a:solidFill>
                        <a:srgbClr val="7C332A"/>
                      </a:solidFill>
                      <a:prstDash val="solid"/>
                    </a:lnB>
                    <a:lnT w="15875" cap="flat" cmpd="sng" algn="ctr">
                      <a:solidFill>
                        <a:srgbClr val="7C332A"/>
                      </a:solidFill>
                      <a:prstDash val="solid"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  <a:tr h="37465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C7268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電圧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101 ± 6 V / 202 ± 20 V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焼損・トルク不足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需要変動・逆潮流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  <a:tr h="37465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C7268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周波数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60 ± 0.2 Hz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脱調・広域停電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需給バランスの崩れ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  <a:tr h="37465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C7268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高調波</a:t>
                      </a:r>
                    </a:p>
                  </a:txBody>
                  <a:tcPr anchor="ctr" marL="127000" marR="127000" marT="76200" marB="76200">
                    <a:lnB w="15875" cap="flat" cmpd="sng" algn="ctr">
                      <a:solidFill>
                        <a:srgbClr val="7C332A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ひずみ率 5% 以下（高圧）</a:t>
                      </a:r>
                    </a:p>
                  </a:txBody>
                  <a:tcPr anchor="ctr" marL="127000" marR="127000" marT="76200" marB="76200">
                    <a:lnB w="15875" cap="flat" cmpd="sng" algn="ctr">
                      <a:solidFill>
                        <a:srgbClr val="7C332A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コンデンサ過熱・誤動作</a:t>
                      </a:r>
                    </a:p>
                  </a:txBody>
                  <a:tcPr anchor="ctr" marL="127000" marR="127000" marT="76200" marB="76200">
                    <a:lnB w="15875" cap="flat" cmpd="sng" algn="ctr">
                      <a:solidFill>
                        <a:srgbClr val="7C332A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インバータ等の非線形負荷</a:t>
                      </a:r>
                    </a:p>
                  </a:txBody>
                  <a:tcPr anchor="ctr" marL="127000" marR="127000" marT="76200" marB="76200">
                    <a:lnB w="15875" cap="flat" cmpd="sng" algn="ctr">
                      <a:solidFill>
                        <a:srgbClr val="7C332A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66928" y="4434332"/>
            <a:ext cx="11057839" cy="82296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434332"/>
            <a:ext cx="50800" cy="82296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4535932"/>
            <a:ext cx="10626039" cy="619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電圧は局所量、周波数は系統全体の共通量。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 この違いが第6回（電圧）と第8回（周波数）の分かれ目になる。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30 / 36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単位換算 — 桁を体で覚える</a:t>
            </a:r>
          </a:p>
        </p:txBody>
      </p:sp>
      <p:pic>
        <p:nvPicPr>
          <p:cNvPr id="3" name="Picture 2" descr="ch01_un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437467"/>
            <a:ext cx="11734495" cy="3873845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効率 40% の発電所が 1 kWh を作るには 3.6 ÷ 0.4 = 9 MJ の燃料が要る。効率 60% なら 6 MJ。この差の 3 MJ が、そのまま燃料費と CO₂ の差になる。　出典｜コード/fig_ch01.py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31 / 36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動く図で試す — viz/energy.html</a:t>
            </a:r>
          </a:p>
        </p:txBody>
      </p:sp>
      <p:pic>
        <p:nvPicPr>
          <p:cNvPr id="3" name="Picture 2" descr="ch01_v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2217" y="1353312"/>
            <a:ext cx="4827260" cy="32423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4732782"/>
            <a:ext cx="11057839" cy="2984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動く図 カルノー効率・風速の 3 乗則・パワーカーブをブラウザ内で実計算する 13 枚のスライド。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214112"/>
            <a:ext cx="11057839" cy="939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T_H のスライダを 600 → 1,400 °C に動かし、上限がどう伸びるか見る</a:t>
            </a:r>
          </a:p>
          <a:p>
            <a:pPr>
              <a:spcBef>
                <a:spcPts val="400"/>
              </a:spcBef>
              <a:buChar char="•"/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風速を 8 → 10 m/s にして、出力が約 2 倍になるのを確かめる</a:t>
            </a:r>
          </a:p>
          <a:p>
            <a:pPr>
              <a:spcBef>
                <a:spcPts val="400"/>
              </a:spcBef>
              <a:buChar char="•"/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各段の効率を掛けて、総合効率が一番弱い段に引きずられるのを見る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32 / 36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なぜそう考えるか — 積・絶対温度・壁の種類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2248916"/>
            <a:ext cx="11057839" cy="310896"/>
          </a:xfrm>
          <a:prstGeom prst="rect">
            <a:avLst/>
          </a:prstGeom>
          <a:solidFill>
            <a:srgbClr val="5C7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48916"/>
            <a:ext cx="10728655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r>
              <a:rPr sz="15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rPr>
              <a:t>なぜ効率は「積」なのか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559812"/>
            <a:ext cx="11057839" cy="458216"/>
          </a:xfrm>
          <a:prstGeom prst="rect">
            <a:avLst/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2605532"/>
            <a:ext cx="10655503" cy="385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変換が直列だから。前段の出力がそのまま次段の入力になる。並列なら足し算、直列なら掛け算。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3219196"/>
            <a:ext cx="11057839" cy="310896"/>
          </a:xfrm>
          <a:prstGeom prst="rect">
            <a:avLst/>
          </a:prstGeom>
          <a:solidFill>
            <a:srgbClr val="146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219196"/>
            <a:ext cx="10728655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r>
              <a:rPr sz="15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rPr>
              <a:t>なぜ絶対温度なのか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530092"/>
            <a:ext cx="11057839" cy="712216"/>
          </a:xfrm>
          <a:prstGeom prst="rect">
            <a:avLst/>
          </a:prstGeom>
          <a:solidFill>
            <a:srgbClr val="EE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3575812"/>
            <a:ext cx="10655503" cy="639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η_C は温度の「比」で決まる。比が意味を持つのは絶対零度を 0 とする尺度だけ。°C のまま 1 − 30/1400 と計算すると 0.98 になり、物理的に無意味。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4443476"/>
            <a:ext cx="11057839" cy="310896"/>
          </a:xfrm>
          <a:prstGeom prst="rect">
            <a:avLst/>
          </a:prstGeom>
          <a:solidFill>
            <a:srgbClr val="9F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443476"/>
            <a:ext cx="10728655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r>
              <a:rPr sz="15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rPr>
              <a:t>壁は 3 種類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754372"/>
            <a:ext cx="11057839" cy="458216"/>
          </a:xfrm>
          <a:prstGeom prst="rect">
            <a:avLst/>
          </a:prstGeom>
          <a:solidFill>
            <a:srgbClr val="F8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4800092"/>
            <a:ext cx="10655503" cy="385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熱を通る方式はカルノー（温度の比）、流体はベッツ（速度の比）、光はバンドギャップ（光子のエネルギー）。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33 / 36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よくある誤解</a:t>
            </a:r>
          </a:p>
        </p:txBody>
      </p:sp>
      <p:pic>
        <p:nvPicPr>
          <p:cNvPr id="3" name="Picture 2" descr="ch01_my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16" y="713232"/>
            <a:ext cx="11176863" cy="532231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原子力の効率が見劣りするのは技術が劣るからではなく、燃料被覆管の制約で T_H を上げられないから。CC が 60% 台に届くのは高温から取れるから。　出典｜コード/fig_ch01.py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34 / 36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持ち帰る 3 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5547207" y="2394204"/>
            <a:ext cx="10972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2595372"/>
            <a:ext cx="10143439" cy="965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</a:pPr>
            <a:r>
              <a:rPr sz="28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rPr>
              <a:t>効率の上限は技術ではなく物理が決める。上限に対して何割かで技術を評価する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47088" y="3926332"/>
            <a:ext cx="8497519" cy="939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800"/>
              </a:spcBef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•  総合効率は各段の積。一番弱い段（熱→回転）が全体を決める</a:t>
            </a:r>
          </a:p>
          <a:p>
            <a:pPr>
              <a:spcBef>
                <a:spcPts val="800"/>
              </a:spcBef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•  カルノー 1 − T_L/T_H、ベッツ 16/27、SQ 33.7%。実機はどれも上限の 6〜7 割</a:t>
            </a:r>
          </a:p>
          <a:p>
            <a:pPr>
              <a:spcBef>
                <a:spcPts val="800"/>
              </a:spcBef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•  電圧は場所の量、周波数は系統全体の量（第6回・第8回へ）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35 / 36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3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592927" y="2697480"/>
            <a:ext cx="1005840" cy="2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880360"/>
            <a:ext cx="10362895" cy="7462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452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次回：第2回 電力システムの構成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60520"/>
            <a:ext cx="10362895" cy="822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EBE0D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演習 ex/ch01.html で数値を変えて確かめる</a:t>
            </a:r>
          </a:p>
          <a:p>
            <a:pPr algn="ctr">
              <a:spcBef>
                <a:spcPts val="400"/>
              </a:spcBef>
              <a:defRPr sz="1800">
                <a:solidFill>
                  <a:srgbClr val="EBE0D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なぜ 50 万ボルトで運ぶのか — 損失の式から答えを出す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