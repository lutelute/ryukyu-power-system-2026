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物理から経済へ。ここまでの制約（電圧・容量・安定度）が、そのまま最適化の制約条件になる。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「揃える」が今日のキーワード。水面が揃う、という直感を最後まで使う。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右下が結論。物理的な制約（線路容量）が、価格という形で経済に現れる。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 λ が、市場では「価格」として目に見える。理論と制度が直結している回。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表の5行は本日の全体を先取りしている。λ・費用曲線・出力上限・混雑・LMP が、あとで順番に式になって出てくる。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次近似は実務でも使う。実際には弁点効果（valve point）でギザギザするが、まずはこの形で考える。　図の要点：費用は出力の 2 次関数で近似する／傾き（限界費用）は右上がりの直線／石炭は安いが傾きが急／石油は高いが傾きは緩い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③の説明が最も腑に落ちる。数式より先にこちらを話してもよい。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②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③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均等配分は極端な比較だが、λ を揃える価値を実感させるには分かりやすい。　図の要点：需要 600 MW、λ = 17.81 千円/MWh／石炭 245 MW、LNG 242 MW、石油 113 MW／均等配分（各 200 MW）より安い／差は 123 千円/h ＝ 年 10.7 億円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単調性があるので二分法で確実に解ける。実装は数十行で済む。　図の要点：λ を仮に決めると各機の出力が決まる／合計が需要より少なければ λ を上げる／12 回程度の反復で収束／上下限に当たった機は固定して残りで揃える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折れ点は「ある機が上限に達した」瞬間。そこから先は残りの機で需要増を賄うので λ の上がり方が急になる。　図の要点：需要が小さいうちは安い機が主体／増えると高い機が入ってくる／λ は 11.6 → 23.8 千円/MWh へ上昇／上限に当たると傾きが変わる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これが限界費用価格（marginal pricing）。全員が同じ価格で約定するので、単一価格オークションとも呼ばれる。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実際には「焚けるものが無い」状態になると価格は上限（当時 200 円）まで跳ね上がる。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逆転価格は燃料費の前提で大きく動く。燃料が高騰すれば、より低い炭素価格で逆転する。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第4回の直流法がここで効いてくる。近似だからこそ、市場という「毎日必ず解く」場面で使える。</a:t>
            </a:r>
          </a:p>
          <a:p/>
          <a:p>
            <a:r>
              <a:t>_class: equation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三角形の系統なので、母線1 の出力は 1–3 と 1–2–3 の 2 経路に分かれて流れる。だから 1–3 の容量が 120 でも 60 MW しか出せない。　図の要点：混雑なし：安い母線1 が 300 MW すべて／容量 120 MW に制限すると／母線1 は 60 MW、母線2 が 240 MW／費用は 3.30 → 5.41 百万円/h に増加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②が直感の核心。「安い電気が届かないから高い電気を使う」という当たり前のことを価格が表している。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②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③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混雑レント（価格差 × 潮流）は送電事業者の収入にもなる。制度設計と物理がつながる場所。　図の要点：容量が十分なら費用も価格も一定／絞るほど費用が増える／LMP は混雑した瞬間から跳ね上がる／14.0 → 36.5 千円/MWh（2.6 倍）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講義全体の構造がここで見える。第4〜8回の物理が、第13〜14回の運用を支えている。　図の要点：状態推定で今を知る（第13回）／N-1 で危ない箇所を洗い出す／OPF で制約を守る最安の配分／ELD / LFC で発電機へ指令（第8回）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直感に反して「安い機の出力が少ない」。傾き（c）が急だからで、ここが等 λ の面白いところ。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5.xml"/><Relationship Id="rId5" Type="http://schemas.openxmlformats.org/officeDocument/2006/relationships/slide" Target="slide19.xml"/><Relationship Id="rId6" Type="http://schemas.openxmlformats.org/officeDocument/2006/relationships/slide" Target="slide2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54096"/>
            <a:ext cx="10728655" cy="1817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54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第14回 系統最適化と市場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10006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4・コマ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33095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86990"/>
            <a:ext cx="9997135" cy="1775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発電機を安い順に使うのが経済負荷配分で、最適条件は「限界費用 λ が全機で等しい」。制約を足すと OPF になり、混雑があると地点ごとに価格が分かれる。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発電機が何台もある。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どれをどれだけ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動かせば燃料費が最小になるのか。送電線が詰まったらどうなるのか。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14_cos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728" y="3561778"/>
            <a:ext cx="2726841" cy="10451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683121"/>
            <a:ext cx="2726842" cy="77508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機ごとに費用の形が違う。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14_equal_lamb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110" y="3561778"/>
            <a:ext cx="2481473" cy="9772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615244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25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等 λ 法 ▶ OPF ▶ LMP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5072444"/>
            <a:ext cx="2726842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限界費用を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揃える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2.6 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10931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線路が混雑すると、地点価格が 14.0 → 36.5 千円/MWh に。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コード（コード/fig_ch14.py）で計算。3 機の経済負荷配分と 3 母線の DC-OPF。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価格は「限界」で決まる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57873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2021年1月 スポット価格が 200 円/kWh を超えた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083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日本卸電力取引所（JEPX）のスポット市場は、安い電源から順に積み上げて需要と交わる点で価格が決まる。寒波と LNG 在庫不足で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高い電源まで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使う日が続き、価格は平時の 10 倍以上に跳ねた。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地点で違う価格 — 米国 PJM の LMP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送電線が混雑すると、安い電気を運びきれない地点では高い電源で賄うしかなく、その地点の価格（地点別限界価格 LMP）が上がる。沖縄は他地域と連系がなく市場取引もないため、沖縄電力が自社内で経済負荷配分を行う。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つながった水槽と渋滞</a:t>
            </a:r>
          </a:p>
        </p:txBody>
      </p:sp>
      <p:pic>
        <p:nvPicPr>
          <p:cNvPr id="3" name="Picture 2" descr="ch14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たとえ話が崩れる点も押さえておく。水槽は独立に上限があるだけだが、発電機は起動・停止に時間と費用がかかる。それを扱うのがユニットコミットメント（UC）である。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経済負荷配分（ELD）と等 λ 法 — なぜ「等しい」が最適か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市場のメリットオーダーと価格の決まり方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OPF と DC-OPF — 制約を足すとどうなるか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LMP と混雑、そして EMS の中での位置づけ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経済負荷配分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なぜ「限界費用を揃える」のが最適か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費用曲線と限界費用</a:t>
            </a:r>
          </a:p>
        </p:txBody>
      </p:sp>
      <p:pic>
        <p:nvPicPr>
          <p:cNvPr id="3" name="Picture 2" descr="ch14_cos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30495"/>
            <a:ext cx="11734495" cy="4497594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出力を上げるほど限界費用が上がるので、「安い機を全部使う」のが最適とは限らない。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等 λ 法</a:t>
            </a:r>
          </a:p>
        </p:txBody>
      </p:sp>
      <p:pic>
        <p:nvPicPr>
          <p:cNvPr id="3" name="Picture 2" descr="ch14_deriv_lambd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269" y="713232"/>
            <a:ext cx="11349156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min Σ C_i(P_i)、条件 Σ P_i = D。制約付き最小化なのでラグランジュの未定乗数法を使う。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等 λ 法</a:t>
            </a:r>
          </a:p>
        </p:txBody>
      </p:sp>
      <p:pic>
        <p:nvPicPr>
          <p:cNvPr id="3" name="Picture 2" descr="ch14_deriv_lambd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269" y="713232"/>
            <a:ext cx="11349156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P_i で偏微分して 0 と置くと dC_i/dP_i = λ（すべての i で同じ）。これが等 λ 条件である。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等 λ 法</a:t>
            </a:r>
          </a:p>
        </p:txBody>
      </p:sp>
      <p:pic>
        <p:nvPicPr>
          <p:cNvPr id="3" name="Picture 2" descr="ch14_deriv_lambd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76" y="713232"/>
            <a:ext cx="10918742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もし機 1 の λ が機 2 より高ければ、機 1 を 1 MW 減らして機 2 を 1 MW 増やすだけで総費用が下がる。下がらなくなる点が等しい点。λ は「あと 1 MWh の値段」。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等 λ で配分する</a:t>
            </a:r>
          </a:p>
        </p:txBody>
      </p:sp>
      <p:pic>
        <p:nvPicPr>
          <p:cNvPr id="3" name="Picture 2" descr="ch14_equal_lamb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68624"/>
            <a:ext cx="11734495" cy="4621335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限界費用を「揃える」だけで年 10 億円の差になる。3 機でこれなら、数十機の系統では桁が変わる。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λ をどう探すか — 二分法</a:t>
            </a:r>
          </a:p>
        </p:txBody>
      </p:sp>
      <p:pic>
        <p:nvPicPr>
          <p:cNvPr id="3" name="Picture 2" descr="ch14_lambda_it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90758"/>
            <a:ext cx="11734495" cy="4577067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解くべきは λ という 1 変数の方程式。数十機あっても、探す相手は λ ただ 1 つである。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需要が増えると何が起きるか</a:t>
            </a:r>
          </a:p>
        </p:txBody>
      </p:sp>
      <p:pic>
        <p:nvPicPr>
          <p:cNvPr id="3" name="Picture 2" descr="ch14_dispatch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19809"/>
            <a:ext cx="11734495" cy="4518965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λ は「その時点の需要 1 MWh あたりの値段」。これが市場価格の理論値になる。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市場での価格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メリットオーダーと約定価格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メリットオーダー — 安い順に積む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読み方｜横軸が累積の供給力、縦軸が限界費用。需要線と交わる高さが価格</a:t>
            </a:r>
          </a:p>
        </p:txBody>
      </p:sp>
      <p:pic>
        <p:nvPicPr>
          <p:cNvPr id="4" name="Picture 3" descr="ch14_merit_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850852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850852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出典｜コード/fig_ch14.py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01828" y="2629725"/>
            <a:ext cx="4822939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再エネ・原子力 → 石炭 → LNG → 石油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需要 900 MW は LNG まで届く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約定価格は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13 円/kWh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安い電源も同じ価格で売れる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価格を決めるのは「最後の 1 台」。安い電源はその差額が利益になり、投資回収の原資になる。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需要が伸びると価格は階段状に跳ねる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読み方｜需要がどの電源まで届くかで、価格が段階的に変わる</a:t>
            </a:r>
          </a:p>
        </p:txBody>
      </p:sp>
      <p:pic>
        <p:nvPicPr>
          <p:cNvPr id="4" name="Picture 3" descr="ch14_pric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660764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660764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出典｜コード/fig_ch14.py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11740" y="2629725"/>
            <a:ext cx="5013027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軽負荷の夜：2 円/kWh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平常：8 円/kWh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猛暑日のピーク：30 円/kWh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段差は電源の切り替わり点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2021 年 1 月に価格が 200 円を超えたのは、この階段の一番上まで需要が届いたから。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炭素価格は順位を入れ替える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読み方｜横軸が炭素価格、縦軸が燃料費＋炭素費用</a:t>
            </a:r>
          </a:p>
        </p:txBody>
      </p:sp>
      <p:pic>
        <p:nvPicPr>
          <p:cNvPr id="4" name="Picture 3" descr="ch14_car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828803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828803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出典｜コード/fig_ch14.py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79779" y="2629725"/>
            <a:ext cx="4844988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石炭は燃料が安いが CO₂ が多い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LNG は燃料が高いが CO₂ が半分以下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約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11,200 円/t-CO₂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で逆転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そこを超えると LNG が先に焚かれる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価格に環境コストを載せると、メリットオーダーそのものが変わる。制度が運用を動かす仕組み。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制約を足す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ELD から OPF 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OPF — 潮流方程式と系統制約を足す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91868"/>
            <a:ext cx="11057839" cy="690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min</m:t>
                  </m:r>
                  <m:nary>
                    <m:naryPr>
                      <m:chr m:val="∑"/>
                      <m:limLoc m:val="undOvr"/>
                      <m:subHide m:val="off"/>
                      <m:supHide m:val="on"/>
                    </m:naryPr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i</m:t>
                      </m:r>
                    </m:sub>
                    <m:sup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​</m:t>
                      </m:r>
                    </m:sup>
                    <m:e>
                      <m:sSub>
                        <m:e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C</m:t>
                          </m:r>
                        </m:e>
                        <m:sub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i</m:t>
                          </m:r>
                        </m:sub>
                      </m:sSub>
                    </m:e>
                  </m:nary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(</m:t>
                  </m:r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P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G</m:t>
                      </m:r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i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)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 </m:t>
                  </m:r>
                  <m:r>
                    <m:rPr>
                      <m:nor/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s.t.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 </m:t>
                  </m:r>
                  <m:d>
                    <m:dPr>
                      <m:begChr m:val="{"/>
                      <m:sepChr m:val=""/>
                      <m:endChr m:val=""/>
                      <m:grow/>
                    </m:dPr>
                    <m:e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nor/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潮流方程式（第4回）</m:t>
                            </m:r>
                          </m:e>
                        </m:mr>
                        <m:mr>
                          <m:e>
                            <m:sSubSup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P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G</m:t>
                                </m:r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</m:sub>
                              <m:sup>
                                <m:r>
                                  <m:rPr>
                                    <m:nor/>
                                    <m:sty m:val="p"/>
                                  </m:rP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min</m:t>
                                </m:r>
                              </m:sup>
                            </m:sSubSup>
                            <m:r>
                              <m:rPr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≤</m:t>
                            </m:r>
                            <m:sSub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P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G</m:t>
                                </m:r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≤</m:t>
                            </m:r>
                            <m:sSubSup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P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G</m:t>
                                </m:r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</m:sub>
                              <m:sup>
                                <m:r>
                                  <m:rPr>
                                    <m:nor/>
                                    <m:sty m:val="p"/>
                                  </m:rP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max</m:t>
                                </m:r>
                              </m:sup>
                            </m:sSubSup>
                          </m:e>
                        </m:mr>
                        <m:mr>
                          <m:e>
                            <m:sSubSup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V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</m:sub>
                              <m:sup>
                                <m:r>
                                  <m:rPr>
                                    <m:nor/>
                                    <m:sty m:val="p"/>
                                  </m:rP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min</m:t>
                                </m:r>
                              </m:sup>
                            </m:sSubSup>
                            <m:r>
                              <m:rPr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≤</m:t>
                            </m:r>
                            <m:sSub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V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≤</m:t>
                            </m:r>
                            <m:sSubSup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V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</m:sub>
                              <m:sup>
                                <m:r>
                                  <m:rPr>
                                    <m:nor/>
                                    <m:sty m:val="p"/>
                                  </m:rP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max</m:t>
                                </m:r>
                              </m:sup>
                            </m:sSubSup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|</m:t>
                            </m:r>
                            <m:sSub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P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j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|</m:t>
                            </m:r>
                            <m:r>
                              <m:rPr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≤</m:t>
                            </m:r>
                            <m:sSubSup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P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j</m:t>
                                </m:r>
                              </m:sub>
                              <m:sup>
                                <m:r>
                                  <m:rPr>
                                    <m:nor/>
                                    <m:sty m:val="p"/>
                                  </m:rP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max</m:t>
                                </m:r>
                              </m:sup>
                            </m:sSubSup>
                          </m:e>
                        </m:mr>
                      </m:m>
                    </m:e>
                  </m:d>
                </m:oMath>
              </m:oMathPara>
            </a14:m>
          </a:p>
        </p:txBody>
      </p:sp>
      <p:sp>
        <p:nvSpPr>
          <p:cNvPr id="4" name="TextBox 3"/>
          <p:cNvSpPr txBox="1"/>
          <p:nvPr/>
        </p:nvSpPr>
        <p:spPr>
          <a:xfrm>
            <a:off x="2255367" y="2710180"/>
            <a:ext cx="1554480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2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180">
                <a:ea typeface="Hiragino Sans"/>
                <a:cs typeface="Hiragino Sans"/>
              </a:rPr>
              <a:t>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8447" y="2947924"/>
            <a:ext cx="9525" cy="1755648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55367" y="29113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m:rPr>
                    <m:nor/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s.t.</m:t>
                </m:r>
              </m:oMath>
            </a14:m>
          </a:p>
        </p:txBody>
      </p:sp>
      <p:sp>
        <p:nvSpPr>
          <p:cNvPr id="7" name="TextBox 6"/>
          <p:cNvSpPr txBox="1"/>
          <p:nvPr/>
        </p:nvSpPr>
        <p:spPr>
          <a:xfrm>
            <a:off x="4267047" y="29113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ELD との違い：需給バランスだけでなく、電圧・線路容量・安定度も守る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367" y="33685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A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C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−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O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P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F</m:t>
                </m:r>
              </m:oMath>
            </a14:m>
          </a:p>
        </p:txBody>
      </p:sp>
      <p:sp>
        <p:nvSpPr>
          <p:cNvPr id="9" name="TextBox 8"/>
          <p:cNvSpPr txBox="1"/>
          <p:nvPr/>
        </p:nvSpPr>
        <p:spPr>
          <a:xfrm>
            <a:off x="4267047" y="33685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7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厳密だが非線形・非凸。局所解に落ちることがある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38257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D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C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−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O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P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F</m:t>
                </m:r>
              </m:oMath>
            </a14:m>
          </a:p>
        </p:txBody>
      </p:sp>
      <p:sp>
        <p:nvSpPr>
          <p:cNvPr id="11" name="TextBox 10"/>
          <p:cNvSpPr txBox="1"/>
          <p:nvPr/>
        </p:nvSpPr>
        <p:spPr>
          <a:xfrm>
            <a:off x="4267047" y="38257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5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第4回の 3 近似で線形化。線形計画なので数万変数でも秒で解ける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5367" y="42829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P</m:t>
                    </m:r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i</m:t>
                    </m:r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j</m:t>
                    </m:r>
                  </m:sub>
                </m:sSub>
              </m:oMath>
            </a14:m>
          </a:p>
        </p:txBody>
      </p:sp>
      <p:sp>
        <p:nvSpPr>
          <p:cNvPr id="13" name="TextBox 12"/>
          <p:cNvSpPr txBox="1"/>
          <p:nvPr/>
        </p:nvSpPr>
        <p:spPr>
          <a:xfrm>
            <a:off x="4267047" y="42829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5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用途：市場の約定計算・混雑管理は DC-OPF、詳細検討は AC-OPF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 母線の DC-OPF — 混雑で配分が変わる</a:t>
            </a:r>
          </a:p>
        </p:txBody>
      </p:sp>
      <p:pic>
        <p:nvPicPr>
          <p:cNvPr id="3" name="Picture 2" descr="ch14_l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7638"/>
            <a:ext cx="11734495" cy="4683307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送電線の容量は「物理の制約」だが、結果として「経済の損失」になる。増強の価値はここで測る。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LMP はなぜ地点で違うのか</a:t>
            </a:r>
          </a:p>
        </p:txBody>
      </p:sp>
      <p:pic>
        <p:nvPicPr>
          <p:cNvPr id="3" name="Picture 2" descr="ch14_deriv_lmp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30157"/>
            <a:ext cx="11734495" cy="528846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λ と同じ考え方を「地点ごと」に適用する。混雑がなければ、どの地点で増やしても同じ機が応じるので 全地点で同じ値になる。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LMP はなぜ地点で違うのか</a:t>
            </a:r>
          </a:p>
        </p:txBody>
      </p:sp>
      <p:pic>
        <p:nvPicPr>
          <p:cNvPr id="3" name="Picture 2" descr="ch14_deriv_lmp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30157"/>
            <a:ext cx="11734495" cy="528846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線路が満杯だと、その先で 1 MW 増やす需要はその地点側の高い電源で賄うしかない。だから LMP がそこだけ上がる。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LMP はなぜ地点で違うのか</a:t>
            </a:r>
          </a:p>
        </p:txBody>
      </p:sp>
      <p:pic>
        <p:nvPicPr>
          <p:cNvPr id="3" name="Picture 2" descr="ch14_deriv_lmp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30157"/>
            <a:ext cx="11734495" cy="528846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系統全体の λ に、混雑成分と損失成分が地点ごとに乗る。混雑レント = (LMP差) × 潮流 が、送電線を増強する価値の目安になる。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容量と価格の関係</a:t>
            </a:r>
          </a:p>
        </p:txBody>
      </p:sp>
      <p:pic>
        <p:nvPicPr>
          <p:cNvPr id="3" name="Picture 2" descr="ch14_cong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37152"/>
            <a:ext cx="11734495" cy="448428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送電線を 1 MW 太くすると、いくら安くなるか。この図の傾きが増強投資の判断材料になる。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今日の数字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953512"/>
            <a:ext cx="3503066" cy="155448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95351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220212"/>
            <a:ext cx="3045866" cy="10591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44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17.81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システム λ [千円/MWh]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953512"/>
            <a:ext cx="3503066" cy="155448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95351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220212"/>
            <a:ext cx="3045866" cy="10591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44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10.7 億円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等 λ 法による年間の節約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953512"/>
            <a:ext cx="3503066" cy="155448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95351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220212"/>
            <a:ext cx="3045866" cy="10591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44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2.6 倍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混雑による LMP の上昇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運用の中で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EMS の一部としての最適化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EMS の流れ — 最適化はこの輪の中にある</a:t>
            </a:r>
          </a:p>
        </p:txBody>
      </p:sp>
      <p:pic>
        <p:nvPicPr>
          <p:cNvPr id="3" name="Picture 2" descr="ch14_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04529"/>
            <a:ext cx="11734495" cy="514952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最適化は単体の技術ではなく、運用の輪の 1 工程。前後の工程がなければ答えを実行できない。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等 λ・線形化・二値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21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21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なぜ「等しい」が最適なのか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432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78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ラグランジュ乗数 λ は「需要を 1 MW 増やしたときの総費用の増分」。どの機で増やしても同じでなければ、安い方へ移す余地が残っている。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346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46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 DC-OPF は線形計画になるのか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57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2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直流法の 3 近似（|V| = 1、R = 0、sin θ ≈ θ）で潮流制約が線形になる。費用も区分線形にすれば完全な LP で、数万変数でも秒で解ける。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570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570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ユニットコミットメント（UC）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81372"/>
            <a:ext cx="11057839" cy="458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92709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「どの機を起動するか」は 0/1 の変数。混合整数計画で NP 困難。起動費用と最低運転時間が絡む。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2 台の等 λ 配分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機1：λ₁ = 10 + 0.04 P₁、機2：λ₂ = 12 + 0.02 P₂。需要 400 MW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等 λ 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10 + 0.04 P₁ = 12 + 0.02 (400 − P₁)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解く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0.06 P₁ = 10 → P₁ = 166.7 MW、P₂ = 233.3 MW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λ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λ = 10 + 0.04 × 166.7 = 16.7 千円/MWh。安い機 1 の方が出力は少ない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viz/opf.html</a:t>
            </a:r>
          </a:p>
        </p:txBody>
      </p:sp>
      <p:pic>
        <p:nvPicPr>
          <p:cNvPr id="3" name="Picture 2" descr="ch14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等 λ 法・メリットオーダー・炭素価格・LMP をブラウザ内で実計算する 14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等 λ の反復を 1 回ずつ進め、λ が需要に合うまで修正されるのを見る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メリットオーダーで需要を動かし、約定価格が段階的に跳ねるのを見る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線路容量を絞り、混雑したノードだけ LMP が上がるのを見る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 — 3 つとも「限界費用」を見落としている</a:t>
            </a:r>
          </a:p>
        </p:txBody>
      </p:sp>
      <p:pic>
        <p:nvPicPr>
          <p:cNvPr id="3" name="Picture 2" descr="ch14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3 つとも根は同じ。限界費用は出力とともに動き、混雑すれば地点によっても動く。「一定」だと思っている限り、この 3 つの誤解から抜けられない。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最適は「揃える」。λ を揃え、制約を足して OPF、混雑は価格に表れる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等 λ 法：dC_i/dP_i = λ。上限に当たった機は固定して残りで揃える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OPF = ELD + 潮流 + 制約。DC-OPF は第4回の近似で線形計画になる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LMP = λ + 混雑 + 損失。混雑レントが送電線増強の価値を測る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次回：第15回 沖縄系統・統合演習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ex/ch14.html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15 回の道具を全部つないで、太陽光を何 MW まで入れられるかを出す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