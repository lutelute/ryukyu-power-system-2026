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の最後のコマ。目的は「配線は行列に、需給は方程式に置き換わる」という見方と、「未知数を数えられる」こと。90 分で 4 章、例題 4 つ。解法（NR 法）は第5回。</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1 文を最後にもう一度見せる。「行列」「方程式」「未知数の数」の 3 語がキーワード。</a:t>
            </a:r>
          </a:p>
          <a:p/>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最初の 2 枚で全体像を渡す。右下の「22 個」は IEEE 14 母線の未知数。第5回でこの 22 × 22 のヤコビアンを解く。</a:t>
            </a:r>
          </a:p>
          <a:p/>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 2 つの道具（Y_bus と直流法）がそのまま現場にある、という話。3.4% と 9 MW は後の図で実際に出す。</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Y22 と Y33 を暗算させる（−j15、−j14）。「行の和が 0」は対地要素がないときだけ。充電容量があると虚部に対地分が残る（ノート 4.2.2）。</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段階開示。②で「V_i の係数」と「V_j の係数」を色分けして板書すると、対角と非対角の由来が見える。移相器があると対称が崩れる（本講義では扱わない）。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段階開示。②で「V_i の係数」と「V_j の係数」を色分けして板書すると、対角と非対角の由来が見える。移相器があると対称が崩れる（本講義では扱わない）。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段階開示。②で「V_i の係数」と「V_j の係数」を色分けして板書すると、対角と非対角の由来が見える。移相器があると対称が崩れる（本講義では扱わない）。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手を動かす 3 分。学生に 3 と 4 をやらせる。「1/(jx) の符号はなぜマイナスか」→ 1/j = −j。よくある間違いは非対角の符号を忘れること。</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動く図 viz/ybus.html でこの操作をやって見せる。「線路を切る」は N-1 解析（第15回）でそのまま使う。　図の要点：Y22：−j5 → −j15（y を足す）／Y33：−j4 → −j14（y を足す）／Y23 = Y32：0 → +j10（−y）／他の 5 セルはそのまま</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母線の図で、対角から離れた点は「番号が離れた母線どうしの線路」。番号の付け方で見た目は変わるが非零の数は変わらない。</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密度はおよそ 6/n。母線数 n が 10 倍になると密度は 1/10。</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段階開示。②の共役で Y_ij* = G − jB になる符号に注意。③は板書で 1 行ずつ。2 母線・無損失にすると第3回の P = V_sV_r sinδ/X に戻ることを確認させる。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段階開示。②の共役で Y_ij* = G − jB になる符号に注意。③は板書で 1 行ずつ。2 母線・無損失にすると第3回の P = V_sV_r sinδ/X に戻ることを確認させる。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段階開示。②の共役で Y_ij* = G − jB になる符号に注意。③は板書で 1 行ずつ。2 母線・無損失にすると第3回の P = V_sV_r sinδ/X に戻ることを確認させる。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母線・G = 0・B12 = −1/X で P1 = −V1V2 sin(θ1 − θ2)/X。符号の向き（注入か流出か）を除けば第3回の式。「一般式が特殊ケースを含む」を必ず確かめさせる。</a:t>
            </a:r>
          </a:p>
          <a:p/>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「なぜ電流で解かないのか」という質問は毎年出る。答え：負荷は電力で指定されるから。電流で指定できるなら潮流計算は要らない。　図の要点：θ = 30° で直線近似の誤差 4.7%／θ = 90° で P は頭打ち（第7回）／V が 5% 下がると P は 9.8% 減／未知数の積と三角関数が非線形の源</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順問題は式に入れるだけで一発。逆問題（潮流計算）は反復が要る。「ΣP = 損失」がスラック母線の必要性への伏線。</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3 を計算させる（3 分）。θ_23 = −3 − (−5) = +2° の符号を間違えやすい。「位相が進んでいる側から遅れている側へ P が流れる」で検算。</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「発電機があるから PV」ではない。電圧を制御しているかで決まる。力率 1 固定のインバータは Q = 0 が既知なので PQ。第9回で電圧制御付きインバータの話につながる。　図の要点：スラック：V, θ 既知（P, Q は事後）／PV：P, V 既知（AVR）。未知は θ／PQ：P, Q 既知。未知は V と θ／力率固定の太陽光は PQ</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つのスラックを置くと損失の分担が決まらず解が一意でない。教科書はスラックノードと基準ノードを区別するが、通常は同じノード。</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2 と 3 をやらせる。太陽光の判定が要注意。「発電機があるから PV」と答えたら、電圧を制御しているかを問い返す。</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IEEE 118 の PV 割合が 45% と高いのは発電機母線が多いから。実系統では PQ が圧倒的に多く、傾きは 2 に近づく。</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つの数は第5回でそのままヤコビアンの大きさとして再登場する。</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段階開示。「直流法」は直流送電の話ではなく、V ↔ δ、I ↔ P、R ↔ X の対応で直流回路と同じ式になるから。Q・電圧・損失は出ない。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段階開示。「直流法」は直流送電の話ではなく、V ↔ δ、I ↔ P、R ↔ X の対応で直流回路と同じ式になるから。Q・電圧・損失は出ない。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段階開示。「直流法」は直流送電の話ではなく、V ↔ δ、I ↔ P、R ↔ X の対応で直流回路と同じ式になるから。Q・電圧・損失は出ない。</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δ3 = −32° は近似 3 の限界に近い。教科書の題材なのでそのまま使うが、実系統では 30° 以内が普通。P12 の負号の意味を必ず聞く。　図の要点：2 元連立：[2.25 −1; −1 3][δ2; δ3]／δ2 = +0.104、δ3 = −0.565 rad／P12 = −0.130（2 → 1 へ逆流）／P13 = 1.130、P23 = 0.670</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3 を解かせる（行列式 5.75）。「母線 1 の式は使わないのか」→ スラックなので不要。解いた後に P1 = P12 + P13 で出る。</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使い分け：N-1 スクリーニング・市場計算・手計算は直流法、電圧問題・損失評価は交流法。配電系統（R ≈ X）では直流法の誤差が大きい。</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「速いが Q と損失は出ない」を数字で。</a:t>
            </a:r>
          </a:p>
          <a:p/>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 ex/ch04.html は学籍番号で数値が変わる。動く図で手順を見せてから演習へ。</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blocks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16.xml"/><Relationship Id="rId5" Type="http://schemas.openxmlformats.org/officeDocument/2006/relationships/slide" Target="slide24.xml"/><Relationship Id="rId6" Type="http://schemas.openxmlformats.org/officeDocument/2006/relationships/slide" Target="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TextBox 1"/>
          <p:cNvSpPr txBox="1"/>
          <p:nvPr/>
        </p:nvSpPr>
        <p:spPr>
          <a:xfrm>
            <a:off x="914400" y="2331720"/>
            <a:ext cx="10362895" cy="237744"/>
          </a:xfrm>
          <a:prstGeom prst="rect">
            <a:avLst/>
          </a:prstGeom>
          <a:noFill/>
        </p:spPr>
        <p:txBody>
          <a:bodyPr wrap="none" lIns="0" rIns="0" tIns="0" bIns="0">
            <a:noAutofit/>
          </a:bodyPr>
          <a:lstStyle/>
          <a:p>
            <a:pPr algn="ctr">
              <a:defRPr sz="1200" b="1">
                <a:solidFill>
                  <a:srgbClr val="FFFFFF"/>
                </a:solidFill>
                <a:latin typeface="Avenir Next"/>
                <a:ea typeface="Hiragino Sans"/>
                <a:cs typeface="Hiragino Sans"/>
              </a:defRPr>
            </a:pPr>
            <a:r>
              <a:rPr spc="40">
                <a:ea typeface="Hiragino Sans"/>
                <a:cs typeface="Hiragino Sans"/>
              </a:rPr>
              <a:t>系統を 1 つの行列で書く — Y_bus と電力方程式</a:t>
            </a:r>
          </a:p>
        </p:txBody>
      </p:sp>
      <p:sp>
        <p:nvSpPr>
          <p:cNvPr id="3" name="Rectangle 2"/>
          <p:cNvSpPr/>
          <p:nvPr/>
        </p:nvSpPr>
        <p:spPr>
          <a:xfrm>
            <a:off x="5592927" y="2889504"/>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54096"/>
            <a:ext cx="10728655" cy="1817370"/>
          </a:xfrm>
          <a:prstGeom prst="rect">
            <a:avLst/>
          </a:prstGeom>
          <a:noFill/>
        </p:spPr>
        <p:txBody>
          <a:bodyPr wrap="square" lIns="0" rIns="0" tIns="0" bIns="0" anchor="t">
            <a:noAutofit/>
          </a:bodyPr>
          <a:lstStyle/>
          <a:p>
            <a:pPr algn="ctr">
              <a:lnSpc>
                <a:spcPct val="106000"/>
              </a:lnSpc>
              <a:defRPr sz="5400" b="1">
                <a:solidFill>
                  <a:srgbClr val="FFFFFF"/>
                </a:solidFill>
                <a:latin typeface="Avenir Next"/>
                <a:ea typeface="Hiragino Sans"/>
                <a:cs typeface="Hiragino Sans"/>
              </a:defRPr>
            </a:pPr>
            <a:r>
              <a:rPr>
                <a:ea typeface="Hiragino Sans"/>
                <a:cs typeface="Hiragino Sans"/>
              </a:rPr>
              <a:t>第4回 潮流計算の理論（1）</a:t>
            </a:r>
          </a:p>
        </p:txBody>
      </p:sp>
      <p:sp>
        <p:nvSpPr>
          <p:cNvPr id="5" name="TextBox 4"/>
          <p:cNvSpPr txBox="1"/>
          <p:nvPr/>
        </p:nvSpPr>
        <p:spPr>
          <a:xfrm>
            <a:off x="1097280" y="5100066"/>
            <a:ext cx="9997135" cy="868680"/>
          </a:xfrm>
          <a:prstGeom prst="rect">
            <a:avLst/>
          </a:prstGeom>
          <a:noFill/>
        </p:spPr>
        <p:txBody>
          <a:bodyPr wrap="square" lIns="0" rIns="0" tIns="0" bIns="0">
            <a:noAutofit/>
          </a:bodyPr>
          <a:lstStyle/>
          <a:p>
            <a:pPr algn="ctr"/>
            <a:r>
              <a:rPr sz="1800">
                <a:solidFill>
                  <a:srgbClr val="EBE0DF"/>
                </a:solidFill>
                <a:latin typeface="Avenir Next"/>
                <a:ea typeface="Hiragino Sans"/>
                <a:cs typeface="Hiragino Sans"/>
              </a:rPr>
              <a:t>重信颯人（福井大学）／ Day 1・コマ 4 ／ 教科書 第4章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553208"/>
            <a:ext cx="91440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809240"/>
            <a:ext cx="9997135" cy="133096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系統の配線は 1 つの行列 Y_bus に、各母線の需給は電力方程式に集約される。解くべき未知数は N_PV + 2N_PQ 個。</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 /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一枚で｜問い → 課題 → 道具 → 到達点</a:t>
            </a:r>
          </a:p>
        </p:txBody>
      </p:sp>
      <p:sp>
        <p:nvSpPr>
          <p:cNvPr id="4" name="Rounded Rectangle 3"/>
          <p:cNvSpPr/>
          <p:nvPr/>
        </p:nvSpPr>
        <p:spPr>
          <a:xfrm>
            <a:off x="566928" y="1729232"/>
            <a:ext cx="11057839" cy="1128458"/>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系統の配線と需給を、計算機に渡せる </a:t>
            </a:r>
            <a:r>
              <a:rPr sz="1500" b="1">
                <a:solidFill>
                  <a:srgbClr val="33221E"/>
                </a:solidFill>
                <a:latin typeface="Avenir Next"/>
                <a:ea typeface="Hiragino Sans"/>
                <a:cs typeface="Hiragino Sans"/>
              </a:rPr>
              <a:t>1 組の式</a:t>
            </a:r>
            <a:r>
              <a:rPr sz="1500">
                <a:solidFill>
                  <a:srgbClr val="33221E"/>
                </a:solidFill>
                <a:latin typeface="Avenir Next"/>
                <a:ea typeface="Hiragino Sans"/>
                <a:cs typeface="Hiragino Sans"/>
              </a:rPr>
              <a:t> にできるか。3 母線でも 1 万母線でも同じ手順で組めるか。</a:t>
            </a:r>
          </a:p>
        </p:txBody>
      </p:sp>
      <p:sp>
        <p:nvSpPr>
          <p:cNvPr id="7" name="Rounded Rectangle 6"/>
          <p:cNvSpPr/>
          <p:nvPr/>
        </p:nvSpPr>
        <p:spPr>
          <a:xfrm>
            <a:off x="566928" y="3022282"/>
            <a:ext cx="3082442" cy="2613724"/>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課題</a:t>
            </a:r>
          </a:p>
        </p:txBody>
      </p:sp>
      <p:pic>
        <p:nvPicPr>
          <p:cNvPr id="9" name="Picture 8" descr="ch04_ybus3.png"/>
          <p:cNvPicPr>
            <a:picLocks noChangeAspect="1"/>
          </p:cNvPicPr>
          <p:nvPr/>
        </p:nvPicPr>
        <p:blipFill>
          <a:blip r:embed="rId2"/>
          <a:stretch>
            <a:fillRect/>
          </a:stretch>
        </p:blipFill>
        <p:spPr>
          <a:xfrm>
            <a:off x="1307417" y="3561778"/>
            <a:ext cx="1601463" cy="815341"/>
          </a:xfrm>
          <a:prstGeom prst="rect">
            <a:avLst/>
          </a:prstGeom>
        </p:spPr>
      </p:pic>
      <p:sp>
        <p:nvSpPr>
          <p:cNvPr id="10" name="TextBox 9"/>
          <p:cNvSpPr txBox="1"/>
          <p:nvPr/>
        </p:nvSpPr>
        <p:spPr>
          <a:xfrm>
            <a:off x="744728" y="4453319"/>
            <a:ext cx="2726842" cy="1004887"/>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配線は行列 Y_bus に。対角は </a:t>
            </a:r>
            <a:r>
              <a:rPr sz="1500" b="1">
                <a:solidFill>
                  <a:srgbClr val="33221E"/>
                </a:solidFill>
                <a:latin typeface="Avenir Next"/>
                <a:ea typeface="Hiragino Sans"/>
                <a:cs typeface="Hiragino Sans"/>
              </a:rPr>
              <a:t>和</a:t>
            </a:r>
            <a:r>
              <a:rPr sz="1500">
                <a:solidFill>
                  <a:srgbClr val="33221E"/>
                </a:solidFill>
                <a:latin typeface="Avenir Next"/>
                <a:ea typeface="Hiragino Sans"/>
                <a:cs typeface="Hiragino Sans"/>
              </a:rPr>
              <a:t>、非対角は </a:t>
            </a:r>
            <a:r>
              <a:rPr sz="1500" b="1">
                <a:solidFill>
                  <a:srgbClr val="33221E"/>
                </a:solidFill>
                <a:latin typeface="Avenir Next"/>
                <a:ea typeface="Hiragino Sans"/>
                <a:cs typeface="Hiragino Sans"/>
              </a:rPr>
              <a:t>−y</a:t>
            </a:r>
            <a:r>
              <a:rPr sz="1500">
                <a:solidFill>
                  <a:srgbClr val="33221E"/>
                </a:solidFill>
                <a:latin typeface="Avenir Next"/>
                <a:ea typeface="Hiragino Sans"/>
                <a:cs typeface="Hiragino Sans"/>
              </a:rPr>
              <a:t>。線路 1 本で 4 か所。</a:t>
            </a:r>
          </a:p>
        </p:txBody>
      </p:sp>
      <p:sp>
        <p:nvSpPr>
          <p:cNvPr id="11" name="Chevron 10"/>
          <p:cNvSpPr/>
          <p:nvPr/>
        </p:nvSpPr>
        <p:spPr>
          <a:xfrm>
            <a:off x="3850538" y="4125944"/>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613724"/>
          </a:xfrm>
          <a:prstGeom prst="roundRect">
            <a:avLst>
              <a:gd name="adj" fmla="val 3500"/>
            </a:avLst>
          </a:prstGeom>
          <a:solidFill>
            <a:srgbClr val="F3EFE3"/>
          </a:solidFill>
          <a:ln w="19050">
            <a:solidFill>
              <a:srgbClr val="B85042"/>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道具</a:t>
            </a:r>
          </a:p>
        </p:txBody>
      </p:sp>
      <p:pic>
        <p:nvPicPr>
          <p:cNvPr id="14" name="Picture 13" descr="ch04_dcpf3.png"/>
          <p:cNvPicPr>
            <a:picLocks noChangeAspect="1"/>
          </p:cNvPicPr>
          <p:nvPr/>
        </p:nvPicPr>
        <p:blipFill>
          <a:blip r:embed="rId3"/>
          <a:stretch>
            <a:fillRect/>
          </a:stretch>
        </p:blipFill>
        <p:spPr>
          <a:xfrm>
            <a:off x="5216921" y="3561778"/>
            <a:ext cx="1757852" cy="667703"/>
          </a:xfrm>
          <a:prstGeom prst="rect">
            <a:avLst/>
          </a:prstGeom>
        </p:spPr>
      </p:pic>
      <p:sp>
        <p:nvSpPr>
          <p:cNvPr id="15" name="TextBox 14"/>
          <p:cNvSpPr txBox="1"/>
          <p:nvPr/>
        </p:nvSpPr>
        <p:spPr>
          <a:xfrm>
            <a:off x="4732426" y="4305681"/>
            <a:ext cx="2726842" cy="411480"/>
          </a:xfrm>
          <a:prstGeom prst="rect">
            <a:avLst/>
          </a:prstGeom>
          <a:noFill/>
        </p:spPr>
        <p:txBody>
          <a:bodyPr wrap="none" lIns="0" rIns="0" tIns="0" bIns="0">
            <a:noAutofit/>
          </a:bodyPr>
          <a:lstStyle/>
          <a:p>
            <a:pPr algn="ctr"/>
            <a:r>
              <a:rPr sz="1050" b="1">
                <a:solidFill>
                  <a:srgbClr val="33221E"/>
                </a:solidFill>
                <a:latin typeface="Avenir Next"/>
                <a:ea typeface="Hiragino Sans"/>
                <a:cs typeface="Hiragino Sans"/>
              </a:rPr>
              <a:t>KCL</a:t>
            </a:r>
            <a:r>
              <a:rPr sz="900">
                <a:ea typeface="Hiragino Sans"/>
                <a:cs typeface="Hiragino Sans"/>
                <a:solidFill>
                  <a:srgbClr val="B85042"/>
                </a:solidFill>
              </a:rPr>
              <a:t>  ▶  </a:t>
            </a:r>
            <a:r>
              <a:rPr sz="1050" b="1">
                <a:solidFill>
                  <a:srgbClr val="33221E"/>
                </a:solidFill>
                <a:latin typeface="Avenir Next"/>
                <a:ea typeface="Hiragino Sans"/>
                <a:cs typeface="Hiragino Sans"/>
              </a:rPr>
              <a:t>S = VI*</a:t>
            </a:r>
            <a:r>
              <a:rPr sz="900">
                <a:ea typeface="Hiragino Sans"/>
                <a:cs typeface="Hiragino Sans"/>
                <a:solidFill>
                  <a:srgbClr val="B85042"/>
                </a:solidFill>
              </a:rPr>
              <a:t>  ▶  </a:t>
            </a:r>
            <a:r>
              <a:rPr sz="1050" b="1">
                <a:solidFill>
                  <a:srgbClr val="33221E"/>
                </a:solidFill>
                <a:latin typeface="Avenir Next"/>
                <a:ea typeface="Hiragino Sans"/>
                <a:cs typeface="Hiragino Sans"/>
              </a:rPr>
              <a:t>母線種別</a:t>
            </a:r>
            <a:r>
              <a:rPr sz="900">
                <a:ea typeface="Hiragino Sans"/>
                <a:cs typeface="Hiragino Sans"/>
                <a:solidFill>
                  <a:srgbClr val="B85042"/>
                </a:solidFill>
              </a:rPr>
              <a:t>  ▶  </a:t>
            </a:r>
            <a:r>
              <a:rPr sz="1050" b="1">
                <a:solidFill>
                  <a:srgbClr val="33221E"/>
                </a:solidFill>
                <a:latin typeface="Avenir Next"/>
                <a:ea typeface="Hiragino Sans"/>
                <a:cs typeface="Hiragino Sans"/>
              </a:rPr>
              <a:t>直流法</a:t>
            </a:r>
          </a:p>
        </p:txBody>
      </p:sp>
      <p:sp>
        <p:nvSpPr>
          <p:cNvPr id="16" name="TextBox 15"/>
          <p:cNvSpPr txBox="1"/>
          <p:nvPr/>
        </p:nvSpPr>
        <p:spPr>
          <a:xfrm>
            <a:off x="4732426" y="4762881"/>
            <a:ext cx="2726842"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電力方程式を </a:t>
            </a:r>
            <a:r>
              <a:rPr sz="1500">
                <a:solidFill>
                  <a:srgbClr val="33221E"/>
                </a:solidFill>
                <a:highlight>
                  <a:srgbClr val="EBCECA"/>
                </a:highlight>
                <a:latin typeface="Avenir Next"/>
                <a:ea typeface="Hiragino Sans"/>
                <a:cs typeface="Hiragino Sans"/>
              </a:rPr>
              <a:t>導出</a:t>
            </a:r>
            <a:r>
              <a:rPr sz="1500">
                <a:solidFill>
                  <a:srgbClr val="33221E"/>
                </a:solidFill>
                <a:latin typeface="Avenir Next"/>
                <a:ea typeface="Hiragino Sans"/>
                <a:cs typeface="Hiragino Sans"/>
              </a:rPr>
              <a:t> し、未知数を数え、直流法で手計算する。</a:t>
            </a:r>
          </a:p>
        </p:txBody>
      </p:sp>
      <p:sp>
        <p:nvSpPr>
          <p:cNvPr id="17" name="Chevron 16"/>
          <p:cNvSpPr/>
          <p:nvPr/>
        </p:nvSpPr>
        <p:spPr>
          <a:xfrm>
            <a:off x="7838236" y="4125944"/>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613724"/>
          </a:xfrm>
          <a:prstGeom prst="roundRect">
            <a:avLst>
              <a:gd name="adj" fmla="val 3500"/>
            </a:avLst>
          </a:prstGeom>
          <a:solidFill>
            <a:srgbClr val="7C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到達点</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22 個</a:t>
            </a:r>
          </a:p>
        </p:txBody>
      </p:sp>
      <p:sp>
        <p:nvSpPr>
          <p:cNvPr id="21" name="TextBox 20"/>
          <p:cNvSpPr txBox="1"/>
          <p:nvPr/>
        </p:nvSpPr>
        <p:spPr>
          <a:xfrm>
            <a:off x="8720124" y="4365052"/>
            <a:ext cx="2726842" cy="1093154"/>
          </a:xfrm>
          <a:prstGeom prst="rect">
            <a:avLst/>
          </a:prstGeom>
          <a:noFill/>
        </p:spPr>
        <p:txBody>
          <a:bodyPr wrap="square" lIns="0" rIns="0" tIns="0" bIns="0">
            <a:noAutofit/>
          </a:bodyPr>
          <a:lstStyle/>
          <a:p>
            <a:pPr>
              <a:lnSpc>
                <a:spcPct val="130000"/>
              </a:lnSpc>
            </a:pPr>
            <a:r>
              <a:rPr sz="1500">
                <a:solidFill>
                  <a:srgbClr val="EBE0DF"/>
                </a:solidFill>
                <a:latin typeface="Avenir Next"/>
                <a:ea typeface="Hiragino Sans"/>
                <a:cs typeface="Hiragino Sans"/>
              </a:rPr>
              <a:t>IEEE 14 母線の未知数は 4 + 2 × 9 = 22。数えられれば、第5回の解法の設計図が描ける。</a:t>
            </a:r>
          </a:p>
        </p:txBody>
      </p:sp>
      <p:sp>
        <p:nvSpPr>
          <p:cNvPr id="22" name="TextBox 21"/>
          <p:cNvSpPr txBox="1"/>
          <p:nvPr/>
        </p:nvSpPr>
        <p:spPr>
          <a:xfrm>
            <a:off x="566928" y="5745734"/>
            <a:ext cx="11057839" cy="42646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数値はすべて本資料の Python コード（コード/fig_ch04.py、pandapower の case14 / case118）で計算。</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 / 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現場で起きたこと — 潮流計算は毎分回っている</a:t>
            </a:r>
          </a:p>
        </p:txBody>
      </p:sp>
      <p:sp>
        <p:nvSpPr>
          <p:cNvPr id="3" name="TextBox 2"/>
          <p:cNvSpPr txBox="1"/>
          <p:nvPr/>
        </p:nvSpPr>
        <p:spPr>
          <a:xfrm>
            <a:off x="566928" y="2578735"/>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数千母線の実系統と疎行列</a:t>
            </a:r>
          </a:p>
        </p:txBody>
      </p:sp>
      <p:sp>
        <p:nvSpPr>
          <p:cNvPr id="4" name="TextBox 3"/>
          <p:cNvSpPr txBox="1"/>
          <p:nvPr/>
        </p:nvSpPr>
        <p:spPr>
          <a:xfrm>
            <a:off x="822960" y="2870835"/>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IEEE 118 母線でも Y_bus の非零要素は </a:t>
            </a:r>
            <a:r>
              <a:rPr sz="1500">
                <a:solidFill>
                  <a:srgbClr val="33221E"/>
                </a:solidFill>
                <a:highlight>
                  <a:srgbClr val="EBCECA"/>
                </a:highlight>
                <a:latin typeface="Avenir Next"/>
                <a:ea typeface="Hiragino Sans"/>
                <a:cs typeface="Hiragino Sans"/>
              </a:rPr>
              <a:t>3.4%</a:t>
            </a:r>
            <a:r>
              <a:rPr sz="1500">
                <a:solidFill>
                  <a:srgbClr val="33221E"/>
                </a:solidFill>
                <a:latin typeface="Avenir Next"/>
                <a:ea typeface="Hiragino Sans"/>
                <a:cs typeface="Hiragino Sans"/>
              </a:rPr>
              <a:t>、1 万母線なら推定 0.06% しかない。各母線につながる線路は数本だから。密行列で持つと 1 万母線で 1 億要素・約 1.6 GB。疎行列を使わないと、中央給電の EMS は数分ごとの潮流計算を回せない。</a:t>
            </a:r>
          </a:p>
        </p:txBody>
      </p:sp>
      <p:sp>
        <p:nvSpPr>
          <p:cNvPr id="5" name="Rectangle 4"/>
          <p:cNvSpPr/>
          <p:nvPr/>
        </p:nvSpPr>
        <p:spPr>
          <a:xfrm>
            <a:off x="566928" y="3718052"/>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895344"/>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電力市場を動かす直流法潮流</a:t>
            </a:r>
          </a:p>
        </p:txBody>
      </p:sp>
      <p:sp>
        <p:nvSpPr>
          <p:cNvPr id="7" name="TextBox 6"/>
          <p:cNvSpPr txBox="1"/>
          <p:nvPr/>
        </p:nvSpPr>
        <p:spPr>
          <a:xfrm>
            <a:off x="822960" y="4187444"/>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地点別限界価格（第14回）や連系線の空き容量の評価は、線形で 1 回で解ける直流法潮流で回っている。IEEE 14 母線で交流法と比べると線路潮流のずれは最大 9 MW。「厳密でなくても速くて十分」な場面が実務には多い。</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 /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たとえ話 — 道路網の「通りやすさ表」</a:t>
            </a:r>
          </a:p>
        </p:txBody>
      </p:sp>
      <p:pic>
        <p:nvPicPr>
          <p:cNvPr id="3" name="Picture 2" descr="ch04_analogy.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たとえ話が崩れる点も押さえておく。道は「通れる／通れない」だが、電気は位相も持つ。だから式が非線形になる。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5 /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この回の地図</a:t>
            </a:r>
          </a:p>
        </p:txBody>
      </p:sp>
      <p:sp>
        <p:nvSpPr>
          <p:cNvPr id="3" name="TextBox 2"/>
          <p:cNvSpPr txBox="1"/>
          <p:nvPr/>
        </p:nvSpPr>
        <p:spPr>
          <a:xfrm>
            <a:off x="566928" y="162763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62763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3" action="ppaction://hlinksldjump"/>
              </a:rPr>
              <a:t>Y_bus の組み立て — 機械的に作れる</a:t>
            </a:r>
          </a:p>
        </p:txBody>
      </p:sp>
      <p:sp>
        <p:nvSpPr>
          <p:cNvPr id="5" name="Rectangle 4"/>
          <p:cNvSpPr/>
          <p:nvPr/>
        </p:nvSpPr>
        <p:spPr>
          <a:xfrm>
            <a:off x="566928" y="266649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7919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67919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4" action="ppaction://hlinksldjump"/>
              </a:rPr>
              <a:t>電力方程式の導出 — キルヒホッフから P, Q へ</a:t>
            </a:r>
          </a:p>
        </p:txBody>
      </p:sp>
      <p:sp>
        <p:nvSpPr>
          <p:cNvPr id="8" name="Rectangle 7"/>
          <p:cNvSpPr/>
          <p:nvPr/>
        </p:nvSpPr>
        <p:spPr>
          <a:xfrm>
            <a:off x="566928" y="371805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73075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373075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5" action="ppaction://hlinksldjump"/>
              </a:rPr>
              <a:t>母線種別と未知数の数 — なぜ 3 種類か</a:t>
            </a:r>
          </a:p>
        </p:txBody>
      </p:sp>
      <p:sp>
        <p:nvSpPr>
          <p:cNvPr id="11" name="Rectangle 10"/>
          <p:cNvSpPr/>
          <p:nvPr/>
        </p:nvSpPr>
        <p:spPr>
          <a:xfrm>
            <a:off x="566928" y="476961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8231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478231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6" action="ppaction://hlinksldjump"/>
              </a:rPr>
              <a:t>直流法潮流 — 手計算で概略をつかむ</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6 /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01</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01</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Ⅰ. Y_bus の組み立て</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配線を 1 枚の表にする — 対角は和、非対角はマイナス</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7 /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3 母線の Y_bus — 規則は 2 つだけ</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読み方｜左が配線、右が行列。対角は「つながる線路の和」、非対角は「−y」</a:t>
            </a:r>
          </a:p>
        </p:txBody>
      </p:sp>
      <p:pic>
        <p:nvPicPr>
          <p:cNvPr id="4" name="Picture 3" descr="ch04_ybus3.png"/>
          <p:cNvPicPr>
            <a:picLocks noChangeAspect="1"/>
          </p:cNvPicPr>
          <p:nvPr/>
        </p:nvPicPr>
        <p:blipFill>
          <a:blip r:embed="rId2"/>
          <a:stretch>
            <a:fillRect/>
          </a:stretch>
        </p:blipFill>
        <p:spPr>
          <a:xfrm>
            <a:off x="566928" y="1683512"/>
            <a:ext cx="6229983" cy="3171825"/>
          </a:xfrm>
          <a:prstGeom prst="rect">
            <a:avLst/>
          </a:prstGeom>
        </p:spPr>
      </p:pic>
      <p:sp>
        <p:nvSpPr>
          <p:cNvPr id="5" name="TextBox 4"/>
          <p:cNvSpPr txBox="1"/>
          <p:nvPr/>
        </p:nvSpPr>
        <p:spPr>
          <a:xfrm>
            <a:off x="566928" y="4910201"/>
            <a:ext cx="6229983"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出典｜コード/fig_ch04.py</a:t>
            </a:r>
          </a:p>
        </p:txBody>
      </p:sp>
      <p:sp>
        <p:nvSpPr>
          <p:cNvPr id="6" name="TextBox 5"/>
          <p:cNvSpPr txBox="1"/>
          <p:nvPr/>
        </p:nvSpPr>
        <p:spPr>
          <a:xfrm>
            <a:off x="7180959" y="2629725"/>
            <a:ext cx="4443808"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y = 1/(jx)：−j5、−j4、−j10</a:t>
            </a:r>
          </a:p>
          <a:p>
            <a:pPr>
              <a:spcBef>
                <a:spcPts val="400"/>
              </a:spcBef>
              <a:buChar char="•"/>
            </a:pPr>
            <a:r>
              <a:rPr sz="2000">
                <a:solidFill>
                  <a:srgbClr val="33221E"/>
                </a:solidFill>
                <a:latin typeface="Avenir Next"/>
                <a:ea typeface="Hiragino Sans"/>
                <a:cs typeface="Hiragino Sans"/>
              </a:rPr>
              <a:t>Y11 = −j5 − j4 = </a:t>
            </a:r>
            <a:r>
              <a:rPr sz="2000" b="1">
                <a:solidFill>
                  <a:srgbClr val="33221E"/>
                </a:solidFill>
                <a:latin typeface="Avenir Next"/>
                <a:ea typeface="Hiragino Sans"/>
                <a:cs typeface="Hiragino Sans"/>
              </a:rPr>
              <a:t>−j9</a:t>
            </a:r>
          </a:p>
          <a:p>
            <a:pPr>
              <a:spcBef>
                <a:spcPts val="400"/>
              </a:spcBef>
              <a:buChar char="•"/>
            </a:pPr>
            <a:r>
              <a:rPr sz="2000">
                <a:solidFill>
                  <a:srgbClr val="33221E"/>
                </a:solidFill>
                <a:latin typeface="Avenir Next"/>
                <a:ea typeface="Hiragino Sans"/>
                <a:cs typeface="Hiragino Sans"/>
              </a:rPr>
              <a:t>Y12 = −y12 = </a:t>
            </a:r>
            <a:r>
              <a:rPr sz="2000" b="1">
                <a:solidFill>
                  <a:srgbClr val="33221E"/>
                </a:solidFill>
                <a:latin typeface="Avenir Next"/>
                <a:ea typeface="Hiragino Sans"/>
                <a:cs typeface="Hiragino Sans"/>
              </a:rPr>
              <a:t>+j5</a:t>
            </a:r>
            <a:r>
              <a:rPr sz="2000">
                <a:solidFill>
                  <a:srgbClr val="33221E"/>
                </a:solidFill>
                <a:latin typeface="Avenir Next"/>
                <a:ea typeface="Hiragino Sans"/>
                <a:cs typeface="Hiragino Sans"/>
              </a:rPr>
              <a:t>（符号反転）</a:t>
            </a:r>
          </a:p>
          <a:p>
            <a:pPr>
              <a:spcBef>
                <a:spcPts val="400"/>
              </a:spcBef>
              <a:buChar char="•"/>
            </a:pPr>
            <a:r>
              <a:rPr sz="2000">
                <a:solidFill>
                  <a:srgbClr val="33221E"/>
                </a:solidFill>
                <a:latin typeface="Avenir Next"/>
                <a:ea typeface="Hiragino Sans"/>
                <a:cs typeface="Hiragino Sans"/>
              </a:rPr>
              <a:t>各行の和 0 が検算になる</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配線の情報はこの 3 × 3 に全部入る。線路が 100 本でも規則は同じ 2 つで、プログラムなら 10 行。</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8 / 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キルヒホッフの電流則から I = Y_bus V</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線路の電流｜母線 i から j へ I_ij = y_ij (V_i − V_j)</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線路は直列アドミタンス y_ij = 1/z_ij。両端の電圧差に比例した電流が流れる（オームの法則）。</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母線の収支｜注入電流 I_i = Σ_j I_ij（電流則）</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外から注入した電流は、つながる線路に全部分かれる。I_i = (Σ_j y_ij) V_i − Σ_j y_ij V_j。</a:t>
            </a:r>
            <a:r>
              <a:rPr sz="1500" b="1">
                <a:solidFill>
                  <a:srgbClr val="C1BCBB"/>
                </a:solidFill>
                <a:latin typeface="Avenir Next"/>
                <a:ea typeface="Hiragino Sans"/>
                <a:cs typeface="Hiragino Sans"/>
              </a:rPr>
              <a:t>V_i の係数が対角、V_j の係数が非対角</a:t>
            </a:r>
            <a:r>
              <a:rPr sz="1500">
                <a:solidFill>
                  <a:srgbClr val="C1BCBB"/>
                </a:solidFill>
                <a:latin typeface="Avenir Next"/>
                <a:ea typeface="Hiragino Sans"/>
                <a:cs typeface="Hiragino Sans"/>
              </a:rPr>
              <a:t>。</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並べる｜Y_ii = Σ_j y_ij + 対地分、Y_ij = −y_ij → I = Y_bus V</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全母線分を縦に並べると行列の式になる。対称（Y_ij = Y_ji）で、線路のない i–j は 0。</a:t>
            </a:r>
            <a:r>
              <a:rPr sz="1500" b="1">
                <a:solidFill>
                  <a:srgbClr val="C1BCBB"/>
                </a:solidFill>
                <a:latin typeface="Avenir Next"/>
                <a:ea typeface="Hiragino Sans"/>
                <a:cs typeface="Hiragino Sans"/>
              </a:rPr>
              <a:t>疎</a:t>
            </a:r>
            <a:r>
              <a:rPr sz="1500">
                <a:solidFill>
                  <a:srgbClr val="C1BCBB"/>
                </a:solidFill>
                <a:latin typeface="Avenir Next"/>
                <a:ea typeface="Hiragino Sans"/>
                <a:cs typeface="Hiragino Sans"/>
              </a:rPr>
              <a:t> で </a:t>
            </a:r>
            <a:r>
              <a:rPr sz="1500" b="1">
                <a:solidFill>
                  <a:srgbClr val="C1BCBB"/>
                </a:solidFill>
                <a:latin typeface="Avenir Next"/>
                <a:ea typeface="Hiragino Sans"/>
                <a:cs typeface="Hiragino Sans"/>
              </a:rPr>
              <a:t>対称</a:t>
            </a:r>
            <a:r>
              <a:rPr sz="1500">
                <a:solidFill>
                  <a:srgbClr val="C1BCBB"/>
                </a:solidFill>
                <a:latin typeface="Avenir Next"/>
                <a:ea typeface="Hiragino Sans"/>
                <a:cs typeface="Hiragino Sans"/>
              </a:rPr>
              <a:t> はここから来る。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9 /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キルヒホッフの電流則から I = Y_bus V</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線路の電流｜母線 i から j へ I_ij = y_ij (V_i − V_j)</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線路は直列アドミタンス y_ij = 1/z_ij。両端の電圧差に比例した電流が流れる（オームの法則）。</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母線の収支｜注入電流 I_i = Σ_j I_ij（電流則）</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外から注入した電流は、つながる線路に全部分かれる。I_i = (Σ_j y_ij) V_i − Σ_j y_ij V_j。</a:t>
            </a:r>
            <a:r>
              <a:rPr sz="1500" b="1">
                <a:solidFill>
                  <a:srgbClr val="33221E"/>
                </a:solidFill>
                <a:latin typeface="Avenir Next"/>
                <a:ea typeface="Hiragino Sans"/>
                <a:cs typeface="Hiragino Sans"/>
              </a:rPr>
              <a:t>V_i の係数が対角、V_j の係数が非対角</a:t>
            </a:r>
            <a:r>
              <a:rPr sz="1500">
                <a:solidFill>
                  <a:srgbClr val="33221E"/>
                </a:solidFill>
                <a:latin typeface="Avenir Next"/>
                <a:ea typeface="Hiragino Sans"/>
                <a:cs typeface="Hiragino Sans"/>
              </a:rPr>
              <a:t>。</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並べる｜Y_ii = Σ_j y_ij + 対地分、Y_ij = −y_ij → I = Y_bus V</a:t>
            </a:r>
          </a:p>
        </p:txBody>
      </p:sp>
      <p:sp>
        <p:nvSpPr>
          <p:cNvPr id="10" name="build:ghost"/>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全母線分を縦に並べると行列の式になる。対称（Y_ij = Y_ji）で、線路のない i–j は 0。</a:t>
            </a:r>
            <a:r>
              <a:rPr sz="1500" b="1">
                <a:solidFill>
                  <a:srgbClr val="C1BCBB"/>
                </a:solidFill>
                <a:latin typeface="Avenir Next"/>
                <a:ea typeface="Hiragino Sans"/>
                <a:cs typeface="Hiragino Sans"/>
              </a:rPr>
              <a:t>疎</a:t>
            </a:r>
            <a:r>
              <a:rPr sz="1500">
                <a:solidFill>
                  <a:srgbClr val="C1BCBB"/>
                </a:solidFill>
                <a:latin typeface="Avenir Next"/>
                <a:ea typeface="Hiragino Sans"/>
                <a:cs typeface="Hiragino Sans"/>
              </a:rPr>
              <a:t> で </a:t>
            </a:r>
            <a:r>
              <a:rPr sz="1500" b="1">
                <a:solidFill>
                  <a:srgbClr val="C1BCBB"/>
                </a:solidFill>
                <a:latin typeface="Avenir Next"/>
                <a:ea typeface="Hiragino Sans"/>
                <a:cs typeface="Hiragino Sans"/>
              </a:rPr>
              <a:t>対称</a:t>
            </a:r>
            <a:r>
              <a:rPr sz="1500">
                <a:solidFill>
                  <a:srgbClr val="C1BCBB"/>
                </a:solidFill>
                <a:latin typeface="Avenir Next"/>
                <a:ea typeface="Hiragino Sans"/>
                <a:cs typeface="Hiragino Sans"/>
              </a:rPr>
              <a:t> はここから来る。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10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キルヒホッフの電流則から I = Y_bus V</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線路の電流｜母線 i から j へ I_ij = y_ij (V_i − V_j)</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線路は直列アドミタンス y_ij = 1/z_ij。両端の電圧差に比例した電流が流れる（オームの法則）。</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母線の収支｜注入電流 I_i = Σ_j I_ij（電流則）</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外から注入した電流は、つながる線路に全部分かれる。I_i = (Σ_j y_ij) V_i − Σ_j y_ij V_j。</a:t>
            </a:r>
            <a:r>
              <a:rPr sz="1500" b="1">
                <a:solidFill>
                  <a:srgbClr val="33221E"/>
                </a:solidFill>
                <a:latin typeface="Avenir Next"/>
                <a:ea typeface="Hiragino Sans"/>
                <a:cs typeface="Hiragino Sans"/>
              </a:rPr>
              <a:t>V_i の係数が対角、V_j の係数が非対角</a:t>
            </a:r>
            <a:r>
              <a:rPr sz="1500">
                <a:solidFill>
                  <a:srgbClr val="33221E"/>
                </a:solidFill>
                <a:latin typeface="Avenir Next"/>
                <a:ea typeface="Hiragino Sans"/>
                <a:cs typeface="Hiragino Sans"/>
              </a:rPr>
              <a:t>。</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並べる｜Y_ii = Σ_j y_ij + 対地分、Y_ij = −y_ij → I = Y_bus V</a:t>
            </a:r>
          </a:p>
        </p:txBody>
      </p:sp>
      <p:sp>
        <p:nvSpPr>
          <p:cNvPr id="10" name="TextBox 9"/>
          <p:cNvSpPr txBox="1"/>
          <p:nvPr/>
        </p:nvSpPr>
        <p:spPr>
          <a:xfrm>
            <a:off x="822960" y="4845748"/>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全母線分を縦に並べると行列の式になる。対称（Y_ij = Y_ji）で、線路のない i–j は 0。</a:t>
            </a:r>
            <a:r>
              <a:rPr sz="1500" b="1">
                <a:solidFill>
                  <a:srgbClr val="33221E"/>
                </a:solidFill>
                <a:latin typeface="Avenir Next"/>
                <a:ea typeface="Hiragino Sans"/>
                <a:cs typeface="Hiragino Sans"/>
              </a:rPr>
              <a:t>疎</a:t>
            </a:r>
            <a:r>
              <a:rPr sz="1500">
                <a:solidFill>
                  <a:srgbClr val="33221E"/>
                </a:solidFill>
                <a:latin typeface="Avenir Next"/>
                <a:ea typeface="Hiragino Sans"/>
                <a:cs typeface="Hiragino Sans"/>
              </a:rPr>
              <a:t> で </a:t>
            </a:r>
            <a:r>
              <a:rPr sz="1500" b="1">
                <a:solidFill>
                  <a:srgbClr val="33221E"/>
                </a:solidFill>
                <a:latin typeface="Avenir Next"/>
                <a:ea typeface="Hiragino Sans"/>
                <a:cs typeface="Hiragino Sans"/>
              </a:rPr>
              <a:t>対称</a:t>
            </a:r>
            <a:r>
              <a:rPr sz="1500">
                <a:solidFill>
                  <a:srgbClr val="33221E"/>
                </a:solidFill>
                <a:latin typeface="Avenir Next"/>
                <a:ea typeface="Hiragino Sans"/>
                <a:cs typeface="Hiragino Sans"/>
              </a:rPr>
              <a:t> はここから来る。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11 /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1 — 3 母線の Y_bus を手で組む</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線路データ</a:t>
            </a:r>
          </a:p>
          <a:p>
            <a:pPr>
              <a:spcBef>
                <a:spcPts val="600"/>
              </a:spcBef>
            </a:pPr>
            <a:r>
              <a:rPr sz="1500">
                <a:solidFill>
                  <a:srgbClr val="33221E"/>
                </a:solidFill>
                <a:latin typeface="Avenir Next"/>
                <a:ea typeface="Hiragino Sans"/>
                <a:cs typeface="Hiragino Sans"/>
              </a:rPr>
              <a:t>1–2: x = 0.2、1–3: x = 0.25、2–3: x = 0.1（p.u.、R は無視）</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アドミタンス</a:t>
            </a:r>
          </a:p>
          <a:p>
            <a:pPr>
              <a:spcBef>
                <a:spcPts val="600"/>
              </a:spcBef>
            </a:pPr>
            <a:r>
              <a:rPr sz="1500">
                <a:solidFill>
                  <a:srgbClr val="33221E"/>
                </a:solidFill>
                <a:latin typeface="Avenir Next"/>
                <a:ea typeface="Hiragino Sans"/>
                <a:cs typeface="Hiragino Sans"/>
              </a:rPr>
              <a:t>y = 1/(jx) = −j/x：y12 = −j5、y13 = −j4、y23 = −j10</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対角と非対角</a:t>
            </a:r>
          </a:p>
          <a:p>
            <a:pPr>
              <a:spcBef>
                <a:spcPts val="600"/>
              </a:spcBef>
            </a:pPr>
            <a:r>
              <a:rPr sz="1500">
                <a:solidFill>
                  <a:srgbClr val="33221E"/>
                </a:solidFill>
                <a:latin typeface="Avenir Next"/>
                <a:ea typeface="Hiragino Sans"/>
                <a:cs typeface="Hiragino Sans"/>
              </a:rPr>
              <a:t>Y11 = −j9、Y22 = −j15、Y33 = −j14。Y12 = +j5、Y13 = +j4、Y23 = +j10</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検算</a:t>
            </a:r>
          </a:p>
          <a:p>
            <a:pPr>
              <a:spcBef>
                <a:spcPts val="600"/>
              </a:spcBef>
            </a:pPr>
            <a:r>
              <a:rPr sz="1500">
                <a:solidFill>
                  <a:srgbClr val="33221E"/>
                </a:solidFill>
                <a:latin typeface="Avenir Next"/>
                <a:ea typeface="Hiragino Sans"/>
                <a:cs typeface="Hiragino Sans"/>
              </a:rPr>
              <a:t>行 1：−9 + 5 + 4 = 0、行 2：5 − 15 + 10 = 0、行 3：4 + 10 − 14 = 0</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12 /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線路を 1 本足すと 4 か所だけ変わる</a:t>
            </a:r>
          </a:p>
        </p:txBody>
      </p:sp>
      <p:pic>
        <p:nvPicPr>
          <p:cNvPr id="3" name="Picture 2" descr="ch04_add_line.png"/>
          <p:cNvPicPr>
            <a:picLocks noChangeAspect="1"/>
          </p:cNvPicPr>
          <p:nvPr/>
        </p:nvPicPr>
        <p:blipFill>
          <a:blip r:embed="rId2"/>
          <a:stretch>
            <a:fillRect/>
          </a:stretch>
        </p:blipFill>
        <p:spPr>
          <a:xfrm>
            <a:off x="228600" y="801656"/>
            <a:ext cx="11734495" cy="5355271"/>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更新の手間は線路数に比例し、母線数の 2 乗では増えない。線路を外す N-1 解析でも同じ 4 か所を引くだけでよい。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13 /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実系統の Y_bus は疎 — 非零は数 %</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読み方｜黒い点が非零要素。母線が増えるほど対角線の近くしか埋まらない</a:t>
            </a:r>
          </a:p>
        </p:txBody>
      </p:sp>
      <p:pic>
        <p:nvPicPr>
          <p:cNvPr id="4" name="Picture 3" descr="ch04_spy.png"/>
          <p:cNvPicPr>
            <a:picLocks noChangeAspect="1"/>
          </p:cNvPicPr>
          <p:nvPr/>
        </p:nvPicPr>
        <p:blipFill>
          <a:blip r:embed="rId2"/>
          <a:stretch>
            <a:fillRect/>
          </a:stretch>
        </p:blipFill>
        <p:spPr>
          <a:xfrm>
            <a:off x="566928" y="1683512"/>
            <a:ext cx="6188602" cy="3171825"/>
          </a:xfrm>
          <a:prstGeom prst="rect">
            <a:avLst/>
          </a:prstGeom>
        </p:spPr>
      </p:pic>
      <p:sp>
        <p:nvSpPr>
          <p:cNvPr id="5" name="TextBox 4"/>
          <p:cNvSpPr txBox="1"/>
          <p:nvPr/>
        </p:nvSpPr>
        <p:spPr>
          <a:xfrm>
            <a:off x="566928" y="4910201"/>
            <a:ext cx="6188602"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出典｜コード/fig_ch04.py</a:t>
            </a:r>
          </a:p>
        </p:txBody>
      </p:sp>
      <p:sp>
        <p:nvSpPr>
          <p:cNvPr id="6" name="TextBox 5"/>
          <p:cNvSpPr txBox="1"/>
          <p:nvPr/>
        </p:nvSpPr>
        <p:spPr>
          <a:xfrm>
            <a:off x="7139578" y="2629725"/>
            <a:ext cx="4485189"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IEEE 14：54 / 196 = </a:t>
            </a:r>
            <a:r>
              <a:rPr sz="2000" b="1">
                <a:solidFill>
                  <a:srgbClr val="33221E"/>
                </a:solidFill>
                <a:latin typeface="Avenir Next"/>
                <a:ea typeface="Hiragino Sans"/>
                <a:cs typeface="Hiragino Sans"/>
              </a:rPr>
              <a:t>27.6%</a:t>
            </a:r>
          </a:p>
          <a:p>
            <a:pPr>
              <a:spcBef>
                <a:spcPts val="400"/>
              </a:spcBef>
              <a:buChar char="•"/>
            </a:pPr>
            <a:r>
              <a:rPr sz="2000">
                <a:solidFill>
                  <a:srgbClr val="33221E"/>
                </a:solidFill>
                <a:latin typeface="Avenir Next"/>
                <a:ea typeface="Hiragino Sans"/>
                <a:cs typeface="Hiragino Sans"/>
              </a:rPr>
              <a:t>IEEE 118：476 / 13,924 = </a:t>
            </a:r>
            <a:r>
              <a:rPr sz="2000" b="1">
                <a:solidFill>
                  <a:srgbClr val="33221E"/>
                </a:solidFill>
                <a:latin typeface="Avenir Next"/>
                <a:ea typeface="Hiragino Sans"/>
                <a:cs typeface="Hiragino Sans"/>
              </a:rPr>
              <a:t>3.4%</a:t>
            </a:r>
          </a:p>
          <a:p>
            <a:pPr>
              <a:spcBef>
                <a:spcPts val="400"/>
              </a:spcBef>
              <a:buChar char="•"/>
            </a:pPr>
            <a:r>
              <a:rPr sz="2000">
                <a:solidFill>
                  <a:srgbClr val="33221E"/>
                </a:solidFill>
                <a:latin typeface="Avenir Next"/>
                <a:ea typeface="Hiragino Sans"/>
                <a:cs typeface="Hiragino Sans"/>
              </a:rPr>
              <a:t>1 万母線なら推定 0.06%</a:t>
            </a:r>
          </a:p>
          <a:p>
            <a:pPr>
              <a:spcBef>
                <a:spcPts val="400"/>
              </a:spcBef>
              <a:buChar char="•"/>
            </a:pPr>
            <a:r>
              <a:rPr sz="2000">
                <a:solidFill>
                  <a:srgbClr val="33221E"/>
                </a:solidFill>
                <a:latin typeface="Avenir Next"/>
                <a:ea typeface="Hiragino Sans"/>
                <a:cs typeface="Hiragino Sans"/>
              </a:rPr>
              <a:t>1 行の非零 = つながる線路数 + 1</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密行列で 1 万母線を持つと 1 億要素。疎行列なら 6 万。この差が「解けるか解けないか」を分ける（第5回・第6回）。</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14 /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結果 — 母線が増えるほど Y_bus は空になる</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27.6%</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IEEE 14 母線の非零割合</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3.4%</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IEEE 118 母線</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0.06%</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1 万母線の推定（線路 2.5 本/母線）</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15 / 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02</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02</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Ⅱ. 電力方程式の導出</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電流ではなく電力が与えられる — だから非線形になる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16 / 42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S_i = V_i I_i* から P_i と Q_i へ</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複素電力｜S_i = P_i + jQ_i = V_i I_i*（第3回）</a:t>
            </a:r>
          </a:p>
        </p:txBody>
      </p:sp>
      <p:sp>
        <p:nvSpPr>
          <p:cNvPr id="4" name="TextBox 3"/>
          <p:cNvSpPr txBox="1"/>
          <p:nvPr/>
        </p:nvSpPr>
        <p:spPr>
          <a:xfrm>
            <a:off x="822960" y="2367312"/>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母線 i に注入する電力。I_i は Ⅰ章の I_i = Σ_j Y_ij V_j で電圧に置き換わる。</a:t>
            </a:r>
          </a:p>
        </p:txBody>
      </p:sp>
      <p:sp>
        <p:nvSpPr>
          <p:cNvPr id="5" name="Rectangle 4"/>
          <p:cNvSpPr/>
          <p:nvPr/>
        </p:nvSpPr>
        <p:spPr>
          <a:xfrm>
            <a:off x="566928" y="290496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082258"/>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代入｜S_i = V_i Σ_j Y_ij* V_j*</a:t>
            </a:r>
          </a:p>
        </p:txBody>
      </p:sp>
      <p:sp>
        <p:nvSpPr>
          <p:cNvPr id="7" name="build:ghost"/>
          <p:cNvSpPr txBox="1"/>
          <p:nvPr/>
        </p:nvSpPr>
        <p:spPr>
          <a:xfrm>
            <a:off x="822960" y="3374358"/>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極形式 V_i = V_i e^{jθ_i}、Y_ij = G_ij + jB_ij を入れると S_i = Σ_j V_i V_j (G_ij − jB_ij) e^{j(θ_i − θ_j)}。</a:t>
            </a:r>
            <a:r>
              <a:rPr sz="1500" b="1">
                <a:solidFill>
                  <a:srgbClr val="C1BCBB"/>
                </a:solidFill>
                <a:latin typeface="Avenir Next"/>
                <a:ea typeface="Hiragino Sans"/>
                <a:cs typeface="Hiragino Sans"/>
              </a:rPr>
              <a:t>電圧の積 V_i V_j</a:t>
            </a:r>
            <a:r>
              <a:rPr sz="1500">
                <a:solidFill>
                  <a:srgbClr val="C1BCBB"/>
                </a:solidFill>
                <a:latin typeface="Avenir Next"/>
                <a:ea typeface="Hiragino Sans"/>
                <a:cs typeface="Hiragino Sans"/>
              </a:rPr>
              <a:t> がここで生まれる。</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398867"/>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オイラー｜e^{jθ_ij} = cos θ_ij + j sin θ_ij で実部と虚部に分ける</a:t>
            </a:r>
          </a:p>
        </p:txBody>
      </p:sp>
      <p:sp>
        <p:nvSpPr>
          <p:cNvPr id="10" name="build:ghost"/>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P_i = V_i Σ_j V_j (G_ij cos θ_ij + B_ij sin θ_ij)、Q_i = V_i Σ_j V_j (G_ij sin θ_ij − B_ij cos θ_ij)。母線ごとに </a:t>
            </a:r>
            <a:r>
              <a:rPr sz="1500" b="1">
                <a:solidFill>
                  <a:srgbClr val="C1BCBB"/>
                </a:solidFill>
                <a:latin typeface="Avenir Next"/>
                <a:ea typeface="Hiragino Sans"/>
                <a:cs typeface="Hiragino Sans"/>
              </a:rPr>
              <a:t>P の式と Q の式が 1 本ずつ</a:t>
            </a:r>
            <a:r>
              <a:rPr sz="1500">
                <a:solidFill>
                  <a:srgbClr val="C1BCBB"/>
                </a:solidFill>
                <a:latin typeface="Avenir Next"/>
                <a:ea typeface="Hiragino Sans"/>
                <a:cs typeface="Hiragino Sans"/>
              </a:rPr>
              <a:t>。</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17 /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S_i = V_i I_i* から P_i と Q_i へ</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複素電力｜S_i = P_i + jQ_i = V_i I_i*（第3回）</a:t>
            </a:r>
          </a:p>
        </p:txBody>
      </p:sp>
      <p:sp>
        <p:nvSpPr>
          <p:cNvPr id="4" name="TextBox 3"/>
          <p:cNvSpPr txBox="1"/>
          <p:nvPr/>
        </p:nvSpPr>
        <p:spPr>
          <a:xfrm>
            <a:off x="822960" y="2367312"/>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母線 i に注入する電力。I_i は Ⅰ章の I_i = Σ_j Y_ij V_j で電圧に置き換わる。</a:t>
            </a:r>
          </a:p>
        </p:txBody>
      </p:sp>
      <p:sp>
        <p:nvSpPr>
          <p:cNvPr id="5" name="Rectangle 4"/>
          <p:cNvSpPr/>
          <p:nvPr/>
        </p:nvSpPr>
        <p:spPr>
          <a:xfrm>
            <a:off x="566928" y="290496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08225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代入｜S_i = V_i Σ_j Y_ij* V_j*</a:t>
            </a:r>
          </a:p>
        </p:txBody>
      </p:sp>
      <p:sp>
        <p:nvSpPr>
          <p:cNvPr id="7" name="TextBox 6"/>
          <p:cNvSpPr txBox="1"/>
          <p:nvPr/>
        </p:nvSpPr>
        <p:spPr>
          <a:xfrm>
            <a:off x="822960" y="3374358"/>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極形式 V_i = V_i e^{jθ_i}、Y_ij = G_ij + jB_ij を入れると S_i = Σ_j V_i V_j (G_ij − jB_ij) e^{j(θ_i − θ_j)}。</a:t>
            </a:r>
            <a:r>
              <a:rPr sz="1500" b="1">
                <a:solidFill>
                  <a:srgbClr val="33221E"/>
                </a:solidFill>
                <a:latin typeface="Avenir Next"/>
                <a:ea typeface="Hiragino Sans"/>
                <a:cs typeface="Hiragino Sans"/>
              </a:rPr>
              <a:t>電圧の積 V_i V_j</a:t>
            </a:r>
            <a:r>
              <a:rPr sz="1500">
                <a:solidFill>
                  <a:srgbClr val="33221E"/>
                </a:solidFill>
                <a:latin typeface="Avenir Next"/>
                <a:ea typeface="Hiragino Sans"/>
                <a:cs typeface="Hiragino Sans"/>
              </a:rPr>
              <a:t> がここで生まれる。</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398867"/>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オイラー｜e^{jθ_ij} = cos θ_ij + j sin θ_ij で実部と虚部に分ける</a:t>
            </a:r>
          </a:p>
        </p:txBody>
      </p:sp>
      <p:sp>
        <p:nvSpPr>
          <p:cNvPr id="10" name="build:ghost"/>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P_i = V_i Σ_j V_j (G_ij cos θ_ij + B_ij sin θ_ij)、Q_i = V_i Σ_j V_j (G_ij sin θ_ij − B_ij cos θ_ij)。母線ごとに </a:t>
            </a:r>
            <a:r>
              <a:rPr sz="1500" b="1">
                <a:solidFill>
                  <a:srgbClr val="C1BCBB"/>
                </a:solidFill>
                <a:latin typeface="Avenir Next"/>
                <a:ea typeface="Hiragino Sans"/>
                <a:cs typeface="Hiragino Sans"/>
              </a:rPr>
              <a:t>P の式と Q の式が 1 本ずつ</a:t>
            </a:r>
            <a:r>
              <a:rPr sz="1500">
                <a:solidFill>
                  <a:srgbClr val="C1BCBB"/>
                </a:solidFill>
                <a:latin typeface="Avenir Next"/>
                <a:ea typeface="Hiragino Sans"/>
                <a:cs typeface="Hiragino Sans"/>
              </a:rPr>
              <a:t>。</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18 / 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S_i = V_i I_i* から P_i と Q_i へ</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複素電力｜S_i = P_i + jQ_i = V_i I_i*（第3回）</a:t>
            </a:r>
          </a:p>
        </p:txBody>
      </p:sp>
      <p:sp>
        <p:nvSpPr>
          <p:cNvPr id="4" name="TextBox 3"/>
          <p:cNvSpPr txBox="1"/>
          <p:nvPr/>
        </p:nvSpPr>
        <p:spPr>
          <a:xfrm>
            <a:off x="822960" y="2367312"/>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母線 i に注入する電力。I_i は Ⅰ章の I_i = Σ_j Y_ij V_j で電圧に置き換わる。</a:t>
            </a:r>
          </a:p>
        </p:txBody>
      </p:sp>
      <p:sp>
        <p:nvSpPr>
          <p:cNvPr id="5" name="Rectangle 4"/>
          <p:cNvSpPr/>
          <p:nvPr/>
        </p:nvSpPr>
        <p:spPr>
          <a:xfrm>
            <a:off x="566928" y="290496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08225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代入｜S_i = V_i Σ_j Y_ij* V_j*</a:t>
            </a:r>
          </a:p>
        </p:txBody>
      </p:sp>
      <p:sp>
        <p:nvSpPr>
          <p:cNvPr id="7" name="TextBox 6"/>
          <p:cNvSpPr txBox="1"/>
          <p:nvPr/>
        </p:nvSpPr>
        <p:spPr>
          <a:xfrm>
            <a:off x="822960" y="3374358"/>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極形式 V_i = V_i e^{jθ_i}、Y_ij = G_ij + jB_ij を入れると S_i = Σ_j V_i V_j (G_ij − jB_ij) e^{j(θ_i − θ_j)}。</a:t>
            </a:r>
            <a:r>
              <a:rPr sz="1500" b="1">
                <a:solidFill>
                  <a:srgbClr val="33221E"/>
                </a:solidFill>
                <a:latin typeface="Avenir Next"/>
                <a:ea typeface="Hiragino Sans"/>
                <a:cs typeface="Hiragino Sans"/>
              </a:rPr>
              <a:t>電圧の積 V_i V_j</a:t>
            </a:r>
            <a:r>
              <a:rPr sz="1500">
                <a:solidFill>
                  <a:srgbClr val="33221E"/>
                </a:solidFill>
                <a:latin typeface="Avenir Next"/>
                <a:ea typeface="Hiragino Sans"/>
                <a:cs typeface="Hiragino Sans"/>
              </a:rPr>
              <a:t> がここで生まれる。</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398867"/>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オイラー｜e^{jθ_ij} = cos θ_ij + j sin θ_ij で実部と虚部に分ける</a:t>
            </a:r>
          </a:p>
        </p:txBody>
      </p:sp>
      <p:sp>
        <p:nvSpPr>
          <p:cNvPr id="10" name="TextBox 9"/>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P_i = V_i Σ_j V_j (G_ij cos θ_ij + B_ij sin θ_ij)、Q_i = V_i Σ_j V_j (G_ij sin θ_ij − B_ij cos θ_ij)。母線ごとに </a:t>
            </a:r>
            <a:r>
              <a:rPr sz="1500" b="1">
                <a:solidFill>
                  <a:srgbClr val="33221E"/>
                </a:solidFill>
                <a:latin typeface="Avenir Next"/>
                <a:ea typeface="Hiragino Sans"/>
                <a:cs typeface="Hiragino Sans"/>
              </a:rPr>
              <a:t>P の式と Q の式が 1 本ずつ</a:t>
            </a:r>
            <a:r>
              <a:rPr sz="1500">
                <a:solidFill>
                  <a:srgbClr val="33221E"/>
                </a:solidFill>
                <a:latin typeface="Avenir Next"/>
                <a:ea typeface="Hiragino Sans"/>
                <a:cs typeface="Hiragino Sans"/>
              </a:rPr>
              <a:t>。</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19 /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電力方程式 — 母線ごとに P と Q が 1 本ずつ</a:t>
            </a:r>
          </a:p>
        </p:txBody>
      </p:sp>
      <p:sp>
        <p:nvSpPr>
          <p:cNvPr id="3" name="TextBox 2"/>
          <p:cNvSpPr txBox="1"/>
          <p:nvPr/>
        </p:nvSpPr>
        <p:spPr>
          <a:xfrm>
            <a:off x="566928" y="1991868"/>
            <a:ext cx="11057839" cy="690880"/>
          </a:xfrm>
          <a:prstGeom prst="rect">
            <a:avLst/>
          </a:prstGeom>
          <a:noFill/>
        </p:spPr>
        <p:txBody>
          <a:bodyPr wrap="square" lIns="0" rIns="0" tIns="0" bIns="0" anchor="ctr">
            <a:noAutofit/>
          </a:bodyPr>
          <a:lstStyle/>
          <a:p>
            <a:pPr algn="ctr"/>
            <a:r>
              <a:rPr sz="3400">
                <a:solidFill>
                  <a:srgbClr val="33221E"/>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sSub>
                    <m:e>
                      <m:r>
                        <ns0:rPr xmlns:ns0="http://schemas.openxmlformats.org/wordprocessingml/2006/main">
                          <ns0:sz ns0:val="68"/>
                          <ns0:szCs ns0:val="68"/>
                        </ns0:rPr>
                        <m:t>P</m:t>
                      </m:r>
                    </m:e>
                    <m:sub>
                      <m:r>
                        <ns0:rPr xmlns:ns0="http://schemas.openxmlformats.org/wordprocessingml/2006/main">
                          <ns0:sz ns0:val="68"/>
                          <ns0:szCs ns0:val="68"/>
                        </ns0:rPr>
                        <m:t>i</m:t>
                      </m:r>
                    </m:sub>
                  </m:sSub>
                  <m:r>
                    <m:rPr>
                      <m:sty m:val="p"/>
                    </m:rPr>
                    <ns0:rPr xmlns:ns0="http://schemas.openxmlformats.org/wordprocessingml/2006/main">
                      <ns0:sz ns0:val="68"/>
                      <ns0:szCs ns0:val="68"/>
                    </ns0:rPr>
                    <m:t>=</m:t>
                  </m:r>
                  <m:sSub>
                    <m:e>
                      <m:r>
                        <ns0:rPr xmlns:ns0="http://schemas.openxmlformats.org/wordprocessingml/2006/main">
                          <ns0:sz ns0:val="68"/>
                          <ns0:szCs ns0:val="68"/>
                        </ns0:rPr>
                        <m:t>V</m:t>
                      </m:r>
                    </m:e>
                    <m:sub>
                      <m:r>
                        <ns0:rPr xmlns:ns0="http://schemas.openxmlformats.org/wordprocessingml/2006/main">
                          <ns0:sz ns0:val="68"/>
                          <ns0:szCs ns0:val="68"/>
                        </ns0:rPr>
                        <m:t>i</m:t>
                      </m:r>
                    </m:sub>
                  </m:sSub>
                  <m:nary>
                    <m:naryPr>
                      <m:chr m:val="∑"/>
                      <m:limLoc m:val="undOvr"/>
                      <m:subHide m:val="off"/>
                      <m:supHide m:val="on"/>
                    </m:naryPr>
                    <m:sub>
                      <m:r>
                        <ns0:rPr xmlns:ns0="http://schemas.openxmlformats.org/wordprocessingml/2006/main">
                          <ns0:sz ns0:val="68"/>
                          <ns0:szCs ns0:val="68"/>
                        </ns0:rPr>
                        <m:t>j</m:t>
                      </m:r>
                    </m:sub>
                    <m:sup>
                      <m:r>
                        <ns0:rPr xmlns:ns0="http://schemas.openxmlformats.org/wordprocessingml/2006/main">
                          <ns0:sz ns0:val="68"/>
                          <ns0:szCs ns0:val="68"/>
                        </ns0:rPr>
                        <m:t>​</m:t>
                      </m:r>
                    </m:sup>
                    <m:e>
                      <m:sSub>
                        <m:e>
                          <m:r>
                            <ns0:rPr xmlns:ns0="http://schemas.openxmlformats.org/wordprocessingml/2006/main">
                              <ns0:sz ns0:val="68"/>
                              <ns0:szCs ns0:val="68"/>
                            </ns0:rPr>
                            <m:t>V</m:t>
                          </m:r>
                        </m:e>
                        <m:sub>
                          <m:r>
                            <ns0:rPr xmlns:ns0="http://schemas.openxmlformats.org/wordprocessingml/2006/main">
                              <ns0:sz ns0:val="68"/>
                              <ns0:szCs ns0:val="68"/>
                            </ns0:rPr>
                            <m:t>j</m:t>
                          </m:r>
                        </m:sub>
                      </m:sSub>
                    </m:e>
                  </m:nary>
                  <m:r>
                    <ns0:rPr xmlns:ns0="http://schemas.openxmlformats.org/wordprocessingml/2006/main">
                      <ns0:sz ns0:val="68"/>
                      <ns0:szCs ns0:val="68"/>
                    </ns0:rPr>
                    <m:t> </m:t>
                  </m:r>
                  <m:r>
                    <m:rPr>
                      <m:sty m:val="p"/>
                    </m:rPr>
                    <ns0:rPr xmlns:ns0="http://schemas.openxmlformats.org/wordprocessingml/2006/main">
                      <ns0:sz ns0:val="68"/>
                      <ns0:szCs ns0:val="68"/>
                    </ns0:rPr>
                    <m:t>(</m:t>
                  </m:r>
                  <m:sSub>
                    <m:e>
                      <m:r>
                        <ns0:rPr xmlns:ns0="http://schemas.openxmlformats.org/wordprocessingml/2006/main">
                          <ns0:sz ns0:val="68"/>
                          <ns0:szCs ns0:val="68"/>
                        </ns0:rPr>
                        <m:t>G</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cos</m:t>
                  </m:r>
                  <m:sSub>
                    <m:e>
                      <m:r>
                        <ns0:rPr xmlns:ns0="http://schemas.openxmlformats.org/wordprocessingml/2006/main">
                          <ns0:sz ns0:val="68"/>
                          <ns0:szCs ns0:val="68"/>
                        </ns0:rPr>
                        <m:t>θ</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sSub>
                    <m:e>
                      <m:r>
                        <ns0:rPr xmlns:ns0="http://schemas.openxmlformats.org/wordprocessingml/2006/main">
                          <ns0:sz ns0:val="68"/>
                          <ns0:szCs ns0:val="68"/>
                        </ns0:rPr>
                        <m:t>B</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sin</m:t>
                  </m:r>
                  <m:sSub>
                    <m:e>
                      <m:r>
                        <ns0:rPr xmlns:ns0="http://schemas.openxmlformats.org/wordprocessingml/2006/main">
                          <ns0:sz ns0:val="68"/>
                          <ns0:szCs ns0:val="68"/>
                        </ns0:rPr>
                        <m:t>θ</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ns0:rPr xmlns:ns0="http://schemas.openxmlformats.org/wordprocessingml/2006/main">
                      <ns0:sz ns0:val="68"/>
                      <ns0:szCs ns0:val="68"/>
                    </ns0:rPr>
                    <m:t> </m:t>
                  </m:r>
                  <m:sSub>
                    <m:e>
                      <m:r>
                        <ns0:rPr xmlns:ns0="http://schemas.openxmlformats.org/wordprocessingml/2006/main">
                          <ns0:sz ns0:val="68"/>
                          <ns0:szCs ns0:val="68"/>
                        </ns0:rPr>
                        <m:t>Q</m:t>
                      </m:r>
                    </m:e>
                    <m:sub>
                      <m:r>
                        <ns0:rPr xmlns:ns0="http://schemas.openxmlformats.org/wordprocessingml/2006/main">
                          <ns0:sz ns0:val="68"/>
                          <ns0:szCs ns0:val="68"/>
                        </ns0:rPr>
                        <m:t>i</m:t>
                      </m:r>
                    </m:sub>
                  </m:sSub>
                  <m:r>
                    <m:rPr>
                      <m:sty m:val="p"/>
                    </m:rPr>
                    <ns0:rPr xmlns:ns0="http://schemas.openxmlformats.org/wordprocessingml/2006/main">
                      <ns0:sz ns0:val="68"/>
                      <ns0:szCs ns0:val="68"/>
                    </ns0:rPr>
                    <m:t>=</m:t>
                  </m:r>
                  <m:sSub>
                    <m:e>
                      <m:r>
                        <ns0:rPr xmlns:ns0="http://schemas.openxmlformats.org/wordprocessingml/2006/main">
                          <ns0:sz ns0:val="68"/>
                          <ns0:szCs ns0:val="68"/>
                        </ns0:rPr>
                        <m:t>V</m:t>
                      </m:r>
                    </m:e>
                    <m:sub>
                      <m:r>
                        <ns0:rPr xmlns:ns0="http://schemas.openxmlformats.org/wordprocessingml/2006/main">
                          <ns0:sz ns0:val="68"/>
                          <ns0:szCs ns0:val="68"/>
                        </ns0:rPr>
                        <m:t>i</m:t>
                      </m:r>
                    </m:sub>
                  </m:sSub>
                  <m:nary>
                    <m:naryPr>
                      <m:chr m:val="∑"/>
                      <m:limLoc m:val="undOvr"/>
                      <m:subHide m:val="off"/>
                      <m:supHide m:val="on"/>
                    </m:naryPr>
                    <m:sub>
                      <m:r>
                        <ns0:rPr xmlns:ns0="http://schemas.openxmlformats.org/wordprocessingml/2006/main">
                          <ns0:sz ns0:val="68"/>
                          <ns0:szCs ns0:val="68"/>
                        </ns0:rPr>
                        <m:t>j</m:t>
                      </m:r>
                    </m:sub>
                    <m:sup>
                      <m:r>
                        <ns0:rPr xmlns:ns0="http://schemas.openxmlformats.org/wordprocessingml/2006/main">
                          <ns0:sz ns0:val="68"/>
                          <ns0:szCs ns0:val="68"/>
                        </ns0:rPr>
                        <m:t>​</m:t>
                      </m:r>
                    </m:sup>
                    <m:e>
                      <m:sSub>
                        <m:e>
                          <m:r>
                            <ns0:rPr xmlns:ns0="http://schemas.openxmlformats.org/wordprocessingml/2006/main">
                              <ns0:sz ns0:val="68"/>
                              <ns0:szCs ns0:val="68"/>
                            </ns0:rPr>
                            <m:t>V</m:t>
                          </m:r>
                        </m:e>
                        <m:sub>
                          <m:r>
                            <ns0:rPr xmlns:ns0="http://schemas.openxmlformats.org/wordprocessingml/2006/main">
                              <ns0:sz ns0:val="68"/>
                              <ns0:szCs ns0:val="68"/>
                            </ns0:rPr>
                            <m:t>j</m:t>
                          </m:r>
                        </m:sub>
                      </m:sSub>
                    </m:e>
                  </m:nary>
                  <m:r>
                    <ns0:rPr xmlns:ns0="http://schemas.openxmlformats.org/wordprocessingml/2006/main">
                      <ns0:sz ns0:val="68"/>
                      <ns0:szCs ns0:val="68"/>
                    </ns0:rPr>
                    <m:t> </m:t>
                  </m:r>
                  <m:r>
                    <m:rPr>
                      <m:sty m:val="p"/>
                    </m:rPr>
                    <ns0:rPr xmlns:ns0="http://schemas.openxmlformats.org/wordprocessingml/2006/main">
                      <ns0:sz ns0:val="68"/>
                      <ns0:szCs ns0:val="68"/>
                    </ns0:rPr>
                    <m:t>(</m:t>
                  </m:r>
                  <m:sSub>
                    <m:e>
                      <m:r>
                        <ns0:rPr xmlns:ns0="http://schemas.openxmlformats.org/wordprocessingml/2006/main">
                          <ns0:sz ns0:val="68"/>
                          <ns0:szCs ns0:val="68"/>
                        </ns0:rPr>
                        <m:t>G</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sin</m:t>
                  </m:r>
                  <m:sSub>
                    <m:e>
                      <m:r>
                        <ns0:rPr xmlns:ns0="http://schemas.openxmlformats.org/wordprocessingml/2006/main">
                          <ns0:sz ns0:val="68"/>
                          <ns0:szCs ns0:val="68"/>
                        </ns0:rPr>
                        <m:t>θ</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sSub>
                    <m:e>
                      <m:r>
                        <ns0:rPr xmlns:ns0="http://schemas.openxmlformats.org/wordprocessingml/2006/main">
                          <ns0:sz ns0:val="68"/>
                          <ns0:szCs ns0:val="68"/>
                        </ns0:rPr>
                        <m:t>B</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cos</m:t>
                  </m:r>
                  <m:sSub>
                    <m:e>
                      <m:r>
                        <ns0:rPr xmlns:ns0="http://schemas.openxmlformats.org/wordprocessingml/2006/main">
                          <ns0:sz ns0:val="68"/>
                          <ns0:szCs ns0:val="68"/>
                        </ns0:rPr>
                        <m:t>θ</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oMath>
              </m:oMathPara>
            </a14:m>
          </a:p>
        </p:txBody>
      </p:sp>
      <p:sp>
        <p:nvSpPr>
          <p:cNvPr id="4" name="TextBox 3"/>
          <p:cNvSpPr txBox="1"/>
          <p:nvPr/>
        </p:nvSpPr>
        <p:spPr>
          <a:xfrm>
            <a:off x="2255367" y="2710180"/>
            <a:ext cx="1554480" cy="237744"/>
          </a:xfrm>
          <a:prstGeom prst="rect">
            <a:avLst/>
          </a:prstGeom>
          <a:noFill/>
        </p:spPr>
        <p:txBody>
          <a:bodyPr wrap="none" lIns="0" rIns="0" tIns="0" bIns="0">
            <a:noAutofit/>
          </a:bodyPr>
          <a:lstStyle/>
          <a:p>
            <a:pPr algn="r">
              <a:defRPr sz="1200" b="1">
                <a:solidFill>
                  <a:srgbClr val="71635B"/>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2947924"/>
            <a:ext cx="9525" cy="1755648"/>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113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G</m:t>
                    </m:r>
                  </m:e>
                  <m:sub>
                    <m:r>
                      <ns0:rPr xmlns:ns0="http://schemas.openxmlformats.org/wordprocessingml/2006/main">
                        <ns0:sz ns0:val="40"/>
                        <ns0:szCs ns0:val="40"/>
                      </ns0:rPr>
                      <m:t>i</m:t>
                    </m:r>
                    <m:r>
                      <ns0:rPr xmlns:ns0="http://schemas.openxmlformats.org/wordprocessingml/2006/main">
                        <ns0:sz ns0:val="40"/>
                        <ns0:szCs ns0:val="40"/>
                      </ns0:rPr>
                      <m:t>j</m:t>
                    </m:r>
                  </m:sub>
                </m:sSub>
                <m:r>
                  <m:rPr>
                    <m:sty m:val="p"/>
                  </m:rPr>
                  <ns0:rPr xmlns:ns0="http://schemas.openxmlformats.org/wordprocessingml/2006/main">
                    <ns0:sz ns0:val="40"/>
                    <ns0:szCs ns0:val="40"/>
                  </ns0:rPr>
                  <m:t>+</m:t>
                </m:r>
                <m:r>
                  <ns0:rPr xmlns:ns0="http://schemas.openxmlformats.org/wordprocessingml/2006/main">
                    <ns0:sz ns0:val="40"/>
                    <ns0:szCs ns0:val="40"/>
                  </ns0:rPr>
                  <m:t>j</m:t>
                </m:r>
                <m:sSub>
                  <m:e>
                    <m:r>
                      <ns0:rPr xmlns:ns0="http://schemas.openxmlformats.org/wordprocessingml/2006/main">
                        <ns0:sz ns0:val="40"/>
                        <ns0:szCs ns0:val="40"/>
                      </ns0:rPr>
                      <m:t>B</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7" name="TextBox 6"/>
          <p:cNvSpPr txBox="1"/>
          <p:nvPr/>
        </p:nvSpPr>
        <p:spPr>
          <a:xfrm>
            <a:off x="4267047" y="2911348"/>
            <a:ext cx="5669280" cy="457200"/>
          </a:xfrm>
          <a:prstGeom prst="rect">
            <a:avLst/>
          </a:prstGeom>
          <a:noFill/>
        </p:spPr>
        <p:txBody>
          <a:bodyPr wrap="square" lIns="0" rIns="0" tIns="0" bIns="0" anchor="ctr">
            <a:noAutofit/>
          </a:bodyPr>
          <a:lstStyle/>
          <a:p>
            <a:r>
              <a:rPr sz="1700">
                <a:solidFill>
                  <a:srgbClr val="33221E"/>
                </a:solidFill>
                <a:latin typeface="Avenir Next"/>
                <a:ea typeface="Hiragino Sans"/>
                <a:cs typeface="Hiragino Sans"/>
              </a:rPr>
              <a:t>Y_bus の要素。配線の情報はここに全部入っている</a:t>
            </a:r>
          </a:p>
        </p:txBody>
      </p:sp>
      <p:sp>
        <p:nvSpPr>
          <p:cNvPr id="8" name="TextBox 7"/>
          <p:cNvSpPr txBox="1"/>
          <p:nvPr/>
        </p:nvSpPr>
        <p:spPr>
          <a:xfrm>
            <a:off x="2255367" y="33685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θ</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9" name="TextBox 8"/>
          <p:cNvSpPr txBox="1"/>
          <p:nvPr/>
        </p:nvSpPr>
        <p:spPr>
          <a:xfrm>
            <a:off x="4267047" y="3368548"/>
            <a:ext cx="5669280" cy="457200"/>
          </a:xfrm>
          <a:prstGeom prst="rect">
            <a:avLst/>
          </a:prstGeom>
          <a:noFill/>
        </p:spPr>
        <p:txBody>
          <a:bodyPr wrap="square" lIns="0" rIns="0" tIns="0" bIns="0" anchor="ctr">
            <a:noAutofit/>
          </a:bodyPr>
          <a:lstStyle/>
          <a:p>
            <a:r>
              <a:rPr sz="1700">
                <a:solidFill>
                  <a:srgbClr val="33221E"/>
                </a:solidFill>
                <a:latin typeface="Avenir Next"/>
                <a:ea typeface="Hiragino Sans"/>
                <a:cs typeface="Hiragino Sans"/>
              </a:rPr>
              <a:t>θ_i − θ_j。母線間の位相差。P を運ぶのはこれ（第3回）</a:t>
            </a:r>
          </a:p>
        </p:txBody>
      </p:sp>
      <p:sp>
        <p:nvSpPr>
          <p:cNvPr id="10" name="TextBox 9"/>
          <p:cNvSpPr txBox="1"/>
          <p:nvPr/>
        </p:nvSpPr>
        <p:spPr>
          <a:xfrm>
            <a:off x="2255367" y="38257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V</m:t>
                    </m:r>
                  </m:e>
                  <m:sub>
                    <m:r>
                      <ns0:rPr xmlns:ns0="http://schemas.openxmlformats.org/wordprocessingml/2006/main">
                        <ns0:sz ns0:val="40"/>
                        <ns0:szCs ns0:val="40"/>
                      </ns0:rPr>
                      <m:t>i</m:t>
                    </m:r>
                  </m:sub>
                </m:sSub>
                <m:sSub>
                  <m:e>
                    <m:r>
                      <ns0:rPr xmlns:ns0="http://schemas.openxmlformats.org/wordprocessingml/2006/main">
                        <ns0:sz ns0:val="40"/>
                        <ns0:szCs ns0:val="40"/>
                      </ns0:rPr>
                      <m:t>V</m:t>
                    </m:r>
                  </m:e>
                  <m:sub>
                    <m:r>
                      <ns0:rPr xmlns:ns0="http://schemas.openxmlformats.org/wordprocessingml/2006/main">
                        <ns0:sz ns0:val="40"/>
                        <ns0:szCs ns0:val="40"/>
                      </ns0:rPr>
                      <m:t>j</m:t>
                    </m:r>
                  </m:sub>
                </m:sSub>
              </m:oMath>
            </a14:m>
          </a:p>
        </p:txBody>
      </p:sp>
      <p:sp>
        <p:nvSpPr>
          <p:cNvPr id="11" name="TextBox 10"/>
          <p:cNvSpPr txBox="1"/>
          <p:nvPr/>
        </p:nvSpPr>
        <p:spPr>
          <a:xfrm>
            <a:off x="4267047" y="3825748"/>
            <a:ext cx="5669280" cy="457200"/>
          </a:xfrm>
          <a:prstGeom prst="rect">
            <a:avLst/>
          </a:prstGeom>
          <a:noFill/>
        </p:spPr>
        <p:txBody>
          <a:bodyPr wrap="square" lIns="0" rIns="0" tIns="0" bIns="0" anchor="ctr">
            <a:noAutofit/>
          </a:bodyPr>
          <a:lstStyle/>
          <a:p>
            <a:r>
              <a:rPr sz="1700">
                <a:solidFill>
                  <a:srgbClr val="33221E"/>
                </a:solidFill>
                <a:latin typeface="Avenir Next"/>
                <a:ea typeface="Hiragino Sans"/>
                <a:cs typeface="Hiragino Sans"/>
              </a:rPr>
              <a:t>電圧の積。ここと cos/sin が非線形の正体</a:t>
            </a:r>
          </a:p>
        </p:txBody>
      </p:sp>
      <p:sp>
        <p:nvSpPr>
          <p:cNvPr id="12" name="TextBox 11"/>
          <p:cNvSpPr txBox="1"/>
          <p:nvPr/>
        </p:nvSpPr>
        <p:spPr>
          <a:xfrm>
            <a:off x="2255367" y="4282948"/>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P</m:t>
                    </m:r>
                  </m:e>
                  <m:sub>
                    <m:r>
                      <ns0:rPr xmlns:ns0="http://schemas.openxmlformats.org/wordprocessingml/2006/main">
                        <ns0:sz ns0:val="40"/>
                        <ns0:szCs ns0:val="40"/>
                      </ns0:rPr>
                      <m:t>i</m:t>
                    </m:r>
                  </m:sub>
                </m:sSub>
                <m:r>
                  <m:rPr>
                    <m:sty m:val="p"/>
                  </m:rPr>
                  <ns0:rPr xmlns:ns0="http://schemas.openxmlformats.org/wordprocessingml/2006/main">
                    <ns0:sz ns0:val="40"/>
                    <ns0:szCs ns0:val="40"/>
                  </ns0:rPr>
                  <m:t>,</m:t>
                </m:r>
                <m:sSub>
                  <m:e>
                    <m:r>
                      <ns0:rPr xmlns:ns0="http://schemas.openxmlformats.org/wordprocessingml/2006/main">
                        <ns0:sz ns0:val="40"/>
                        <ns0:szCs ns0:val="40"/>
                      </ns0:rPr>
                      <m:t>Q</m:t>
                    </m:r>
                  </m:e>
                  <m:sub>
                    <m:r>
                      <ns0:rPr xmlns:ns0="http://schemas.openxmlformats.org/wordprocessingml/2006/main">
                        <ns0:sz ns0:val="40"/>
                        <ns0:szCs ns0:val="40"/>
                      </ns0:rPr>
                      <m:t>i</m:t>
                    </m:r>
                  </m:sub>
                </m:sSub>
              </m:oMath>
            </a14:m>
          </a:p>
        </p:txBody>
      </p:sp>
      <p:sp>
        <p:nvSpPr>
          <p:cNvPr id="13" name="TextBox 12"/>
          <p:cNvSpPr txBox="1"/>
          <p:nvPr/>
        </p:nvSpPr>
        <p:spPr>
          <a:xfrm>
            <a:off x="4267047" y="4282948"/>
            <a:ext cx="5669280" cy="457200"/>
          </a:xfrm>
          <a:prstGeom prst="rect">
            <a:avLst/>
          </a:prstGeom>
          <a:noFill/>
        </p:spPr>
        <p:txBody>
          <a:bodyPr wrap="square" lIns="0" rIns="0" tIns="0" bIns="0" anchor="ctr">
            <a:noAutofit/>
          </a:bodyPr>
          <a:lstStyle/>
          <a:p>
            <a:r>
              <a:rPr sz="1500">
                <a:solidFill>
                  <a:srgbClr val="33221E"/>
                </a:solidFill>
                <a:latin typeface="Avenir Next"/>
                <a:ea typeface="Hiragino Sans"/>
                <a:cs typeface="Hiragino Sans"/>
              </a:rPr>
              <a:t>左辺は与えられる注入電力（発電 − 負荷）。式の数は母線数 × 2</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20 /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なぜ非線形か — sin と積</a:t>
            </a:r>
          </a:p>
        </p:txBody>
      </p:sp>
      <p:pic>
        <p:nvPicPr>
          <p:cNvPr id="3" name="Picture 2" descr="ch04_nonlinear.png"/>
          <p:cNvPicPr>
            <a:picLocks noChangeAspect="1"/>
          </p:cNvPicPr>
          <p:nvPr/>
        </p:nvPicPr>
        <p:blipFill>
          <a:blip r:embed="rId2"/>
          <a:stretch>
            <a:fillRect/>
          </a:stretch>
        </p:blipFill>
        <p:spPr>
          <a:xfrm>
            <a:off x="228600" y="882002"/>
            <a:ext cx="11734495" cy="4984775"/>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電流を未知数にすれば I = Y_bus V は線形だが、現場で与えられるのは「この工場は 50 MW」という電力。S = VI* の形が非線形を持ち込む。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21 / 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電圧を与えれば P, Q は計算できる（順問題）</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読み方｜V と θ を仮に与えて式に入れた結果。和が 0 にならない分が損失</a:t>
            </a:r>
          </a:p>
        </p:txBody>
      </p:sp>
      <p:pic>
        <p:nvPicPr>
          <p:cNvPr id="4" name="Picture 3" descr="ch04_injection.png"/>
          <p:cNvPicPr>
            <a:picLocks noChangeAspect="1"/>
          </p:cNvPicPr>
          <p:nvPr/>
        </p:nvPicPr>
        <p:blipFill>
          <a:blip r:embed="rId2"/>
          <a:stretch>
            <a:fillRect/>
          </a:stretch>
        </p:blipFill>
        <p:spPr>
          <a:xfrm>
            <a:off x="566928" y="1683512"/>
            <a:ext cx="5448300" cy="2933700"/>
          </a:xfrm>
          <a:prstGeom prst="rect">
            <a:avLst/>
          </a:prstGeom>
        </p:spPr>
      </p:pic>
      <p:sp>
        <p:nvSpPr>
          <p:cNvPr id="5" name="TextBox 4"/>
          <p:cNvSpPr txBox="1"/>
          <p:nvPr/>
        </p:nvSpPr>
        <p:spPr>
          <a:xfrm>
            <a:off x="566928" y="4672076"/>
            <a:ext cx="5448300"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出典｜コード/fig_ch04.py</a:t>
            </a:r>
          </a:p>
        </p:txBody>
      </p:sp>
      <p:sp>
        <p:nvSpPr>
          <p:cNvPr id="6" name="TextBox 5"/>
          <p:cNvSpPr txBox="1"/>
          <p:nvPr/>
        </p:nvSpPr>
        <p:spPr>
          <a:xfrm>
            <a:off x="6399276" y="2510663"/>
            <a:ext cx="5225491"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母線 1：P = +1.303（発電）</a:t>
            </a:r>
          </a:p>
          <a:p>
            <a:pPr>
              <a:spcBef>
                <a:spcPts val="400"/>
              </a:spcBef>
              <a:buChar char="•"/>
            </a:pPr>
            <a:r>
              <a:rPr sz="2000">
                <a:solidFill>
                  <a:srgbClr val="33221E"/>
                </a:solidFill>
                <a:latin typeface="Avenir Next"/>
                <a:ea typeface="Hiragino Sans"/>
                <a:cs typeface="Hiragino Sans"/>
              </a:rPr>
              <a:t>母線 2, 3：P = −0.552、−0.714（負荷）</a:t>
            </a:r>
          </a:p>
          <a:p>
            <a:pPr>
              <a:spcBef>
                <a:spcPts val="400"/>
              </a:spcBef>
              <a:buChar char="•"/>
            </a:pPr>
            <a:r>
              <a:rPr sz="2000">
                <a:solidFill>
                  <a:srgbClr val="33221E"/>
                </a:solidFill>
                <a:latin typeface="Avenir Next"/>
                <a:ea typeface="Hiragino Sans"/>
                <a:cs typeface="Hiragino Sans"/>
              </a:rPr>
              <a:t>Σ P_i = </a:t>
            </a:r>
            <a:r>
              <a:rPr sz="2000" b="1">
                <a:solidFill>
                  <a:srgbClr val="33221E"/>
                </a:solidFill>
                <a:latin typeface="Avenir Next"/>
                <a:ea typeface="Hiragino Sans"/>
                <a:cs typeface="Hiragino Sans"/>
              </a:rPr>
              <a:t>+0.0371 p.u. = 3.71 MW</a:t>
            </a:r>
          </a:p>
          <a:p>
            <a:pPr>
              <a:spcBef>
                <a:spcPts val="400"/>
              </a:spcBef>
              <a:buChar char="•"/>
            </a:pPr>
            <a:r>
              <a:rPr sz="2000">
                <a:solidFill>
                  <a:srgbClr val="33221E"/>
                </a:solidFill>
                <a:latin typeface="Avenir Next"/>
                <a:ea typeface="Hiragino Sans"/>
                <a:cs typeface="Hiragino Sans"/>
              </a:rPr>
              <a:t>これが線路の有効損失</a:t>
            </a:r>
          </a:p>
        </p:txBody>
      </p:sp>
      <p:sp>
        <p:nvSpPr>
          <p:cNvPr id="7" name="Rounded Rectangle 6"/>
          <p:cNvSpPr/>
          <p:nvPr/>
        </p:nvSpPr>
        <p:spPr>
          <a:xfrm>
            <a:off x="566928" y="5244846"/>
            <a:ext cx="11057839" cy="863346"/>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4846"/>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371846"/>
            <a:ext cx="10600639" cy="609346"/>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潮流計算はこの逆問題。P, Q を与えて V, θ を探す。損失は解くまで分からないから、誰かが帳尻を引き受ける必要がある（Ⅲ章のスラック）。</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22 / 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2 — 3 母線で P_2 を手計算する</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条件</a:t>
            </a:r>
          </a:p>
          <a:p>
            <a:pPr>
              <a:spcBef>
                <a:spcPts val="600"/>
              </a:spcBef>
            </a:pPr>
            <a:r>
              <a:rPr sz="1500">
                <a:solidFill>
                  <a:srgbClr val="33221E"/>
                </a:solidFill>
                <a:latin typeface="Avenir Next"/>
                <a:ea typeface="Hiragino Sans"/>
                <a:cs typeface="Hiragino Sans"/>
              </a:rPr>
              <a:t>例題 1 の系統（G = 0）。V1 = 1.00∠0°、V2 = 0.98∠−3°、V3 = 0.96∠−5°</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残る項</a:t>
            </a:r>
          </a:p>
          <a:p>
            <a:pPr>
              <a:spcBef>
                <a:spcPts val="600"/>
              </a:spcBef>
            </a:pPr>
            <a:r>
              <a:rPr sz="1500">
                <a:solidFill>
                  <a:srgbClr val="33221E"/>
                </a:solidFill>
                <a:latin typeface="Avenir Next"/>
                <a:ea typeface="Hiragino Sans"/>
                <a:cs typeface="Hiragino Sans"/>
              </a:rPr>
              <a:t>G = 0 なので P2 = V2 Σ_j V_j B_2j sin θ_2j。j = 2 は sin 0 = 0 で消える</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代入</a:t>
            </a:r>
          </a:p>
          <a:p>
            <a:pPr>
              <a:spcBef>
                <a:spcPts val="600"/>
              </a:spcBef>
            </a:pPr>
            <a:r>
              <a:rPr sz="1500">
                <a:solidFill>
                  <a:srgbClr val="33221E"/>
                </a:solidFill>
                <a:latin typeface="Avenir Next"/>
                <a:ea typeface="Hiragino Sans"/>
                <a:cs typeface="Hiragino Sans"/>
              </a:rPr>
              <a:t>B21 = 5、B23 = 10。P2 = 0.98 [1.00 × 5 × sin(−3°) + 0.96 × 10 × sin(2°)]</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結果</a:t>
            </a:r>
          </a:p>
          <a:p>
            <a:pPr>
              <a:spcBef>
                <a:spcPts val="600"/>
              </a:spcBef>
            </a:pPr>
            <a:r>
              <a:rPr sz="1500">
                <a:solidFill>
                  <a:srgbClr val="33221E"/>
                </a:solidFill>
                <a:latin typeface="Avenir Next"/>
                <a:ea typeface="Hiragino Sans"/>
                <a:cs typeface="Hiragino Sans"/>
              </a:rPr>
              <a:t>= −0.256 + 0.328 = </a:t>
            </a:r>
            <a:r>
              <a:rPr sz="1500" b="1">
                <a:solidFill>
                  <a:srgbClr val="33221E"/>
                </a:solidFill>
                <a:latin typeface="Avenir Next"/>
                <a:ea typeface="Hiragino Sans"/>
                <a:cs typeface="Hiragino Sans"/>
              </a:rPr>
              <a:t>+0.072 p.u. = 7.2 MW</a:t>
            </a:r>
            <a:r>
              <a:rPr sz="1500">
                <a:solidFill>
                  <a:srgbClr val="33221E"/>
                </a:solidFill>
                <a:latin typeface="Avenir Next"/>
                <a:ea typeface="Hiragino Sans"/>
                <a:cs typeface="Hiragino Sans"/>
              </a:rPr>
              <a:t>（100 MVA 基準）。母線 2 はわずかに発電側</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04</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04</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Ⅲ. 母線種別と未知数の数</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24 /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母線種別 — 4 量のうち 2 つを与える</a:t>
            </a:r>
          </a:p>
        </p:txBody>
      </p:sp>
      <p:pic>
        <p:nvPicPr>
          <p:cNvPr id="3" name="Picture 2" descr="ch04_bus_types.png"/>
          <p:cNvPicPr>
            <a:picLocks noChangeAspect="1"/>
          </p:cNvPicPr>
          <p:nvPr/>
        </p:nvPicPr>
        <p:blipFill>
          <a:blip r:embed="rId2"/>
          <a:stretch>
            <a:fillRect/>
          </a:stretch>
        </p:blipFill>
        <p:spPr>
          <a:xfrm>
            <a:off x="228600" y="1433475"/>
            <a:ext cx="11734495" cy="4091633"/>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PV 母線では Q の式は求解には使わず、θ と V が求まった後に Q を計算するために使う。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25 / 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なぜスラックは 1 つ必要で、1 つで足りるのか</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理由 1｜損失は解くまで分からない</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全母線で P を指定すると Σ P_i = 損失 を事前に満たさなければならないが、損失は解いて初めて出る（前の図の 3.71 MW）。1 つの母線だけ P を自由にして </a:t>
            </a:r>
            <a:r>
              <a:rPr sz="1500" b="1">
                <a:solidFill>
                  <a:srgbClr val="33221E"/>
                </a:solidFill>
                <a:latin typeface="Avenir Next"/>
                <a:ea typeface="Hiragino Sans"/>
                <a:cs typeface="Hiragino Sans"/>
              </a:rPr>
              <a:t>帳尻（slack = たるみ）</a:t>
            </a:r>
            <a:r>
              <a:rPr sz="1500">
                <a:solidFill>
                  <a:srgbClr val="33221E"/>
                </a:solidFill>
                <a:latin typeface="Avenir Next"/>
                <a:ea typeface="Hiragino Sans"/>
                <a:cs typeface="Hiragino Sans"/>
              </a:rPr>
              <a:t> を吸わせる。</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理由 2｜位相の基準が要る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式には θ_i − θ_j の </a:t>
            </a:r>
            <a:r>
              <a:rPr sz="1500" b="1">
                <a:solidFill>
                  <a:srgbClr val="33221E"/>
                </a:solidFill>
                <a:latin typeface="Avenir Next"/>
                <a:ea typeface="Hiragino Sans"/>
                <a:cs typeface="Hiragino Sans"/>
              </a:rPr>
              <a:t>差</a:t>
            </a:r>
            <a:r>
              <a:rPr sz="1500">
                <a:solidFill>
                  <a:srgbClr val="33221E"/>
                </a:solidFill>
                <a:latin typeface="Avenir Next"/>
                <a:ea typeface="Hiragino Sans"/>
                <a:cs typeface="Hiragino Sans"/>
              </a:rPr>
              <a:t> しか現れない。全部に同じ定数を足しても式は変わらず、解が定まらない。1 つの母線で θ = 0 と決める。本講義ではスラックを母線 1 に取る。</a:t>
            </a:r>
          </a:p>
        </p:txBody>
      </p:sp>
      <p:sp>
        <p:nvSpPr>
          <p:cNvPr id="8" name="Rectangle 7"/>
          <p:cNvSpPr/>
          <p:nvPr/>
        </p:nvSpPr>
        <p:spPr>
          <a:xfrm>
            <a:off x="566928" y="4376356"/>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PV → PQ の切り替え｜Q の限界に当たったとき</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AVR には無効電力の限界 Q_min ≤ Q ≤ Q_max がある。超えたら Q を限界値に固定して </a:t>
            </a:r>
            <a:r>
              <a:rPr sz="1500" b="1">
                <a:solidFill>
                  <a:srgbClr val="33221E"/>
                </a:solidFill>
                <a:latin typeface="Avenir Next"/>
                <a:ea typeface="Hiragino Sans"/>
                <a:cs typeface="Hiragino Sans"/>
              </a:rPr>
              <a:t>PQ 母線に変える</a:t>
            </a:r>
            <a:r>
              <a:rPr sz="1500">
                <a:solidFill>
                  <a:srgbClr val="33221E"/>
                </a:solidFill>
                <a:latin typeface="Avenir Next"/>
                <a:ea typeface="Hiragino Sans"/>
                <a:cs typeface="Hiragino Sans"/>
              </a:rPr>
              <a:t>（第5回）。だから N_PV は反復の途中で減ることがある。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26 / 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3 — 未知数を数える</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12 母線系統</a:t>
            </a:r>
          </a:p>
          <a:p>
            <a:pPr>
              <a:spcBef>
                <a:spcPts val="600"/>
              </a:spcBef>
            </a:pPr>
            <a:r>
              <a:rPr sz="1500">
                <a:solidFill>
                  <a:srgbClr val="33221E"/>
                </a:solidFill>
                <a:latin typeface="Avenir Next"/>
                <a:ea typeface="Hiragino Sans"/>
                <a:cs typeface="Hiragino Sans"/>
              </a:rPr>
              <a:t>スラック 1、PV 3、PQ 8。未知数 = 3 × 1 + 8 × 2 = </a:t>
            </a:r>
            <a:r>
              <a:rPr sz="1500" b="1">
                <a:solidFill>
                  <a:srgbClr val="33221E"/>
                </a:solidFill>
                <a:latin typeface="Avenir Next"/>
                <a:ea typeface="Hiragino Sans"/>
                <a:cs typeface="Hiragino Sans"/>
              </a:rPr>
              <a:t>19</a:t>
            </a:r>
            <a:r>
              <a:rPr sz="1500">
                <a:solidFill>
                  <a:srgbClr val="33221E"/>
                </a:solidFill>
                <a:latin typeface="Avenir Next"/>
                <a:ea typeface="Hiragino Sans"/>
                <a:cs typeface="Hiragino Sans"/>
              </a:rPr>
              <a:t>。ヤコビアンは 19 × 19</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5 母線（判定つき）</a:t>
            </a:r>
          </a:p>
          <a:p>
            <a:pPr>
              <a:spcBef>
                <a:spcPts val="600"/>
              </a:spcBef>
            </a:pPr>
            <a:r>
              <a:rPr sz="1500">
                <a:solidFill>
                  <a:srgbClr val="33221E"/>
                </a:solidFill>
                <a:latin typeface="Avenir Next"/>
                <a:ea typeface="Hiragino Sans"/>
                <a:cs typeface="Hiragino Sans"/>
              </a:rPr>
              <a:t>大型火力＝スラック、AVR 付き水力＝PV、負荷 2 母線＝PQ、力率 1 固定の太陽光＝</a:t>
            </a:r>
            <a:r>
              <a:rPr sz="1500" b="1">
                <a:solidFill>
                  <a:srgbClr val="33221E"/>
                </a:solidFill>
                <a:latin typeface="Avenir Next"/>
                <a:ea typeface="Hiragino Sans"/>
                <a:cs typeface="Hiragino Sans"/>
              </a:rPr>
              <a:t>PQ</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数える</a:t>
            </a:r>
          </a:p>
          <a:p>
            <a:pPr>
              <a:spcBef>
                <a:spcPts val="600"/>
              </a:spcBef>
            </a:pPr>
            <a:r>
              <a:rPr sz="1500">
                <a:solidFill>
                  <a:srgbClr val="33221E"/>
                </a:solidFill>
                <a:latin typeface="Avenir Next"/>
                <a:ea typeface="Hiragino Sans"/>
                <a:cs typeface="Hiragino Sans"/>
              </a:rPr>
              <a:t>N_PV = 1、N_PQ = 3。未知数 = 1 + 2 × 3 = </a:t>
            </a:r>
            <a:r>
              <a:rPr sz="1500" b="1">
                <a:solidFill>
                  <a:srgbClr val="33221E"/>
                </a:solidFill>
                <a:latin typeface="Avenir Next"/>
                <a:ea typeface="Hiragino Sans"/>
                <a:cs typeface="Hiragino Sans"/>
              </a:rPr>
              <a:t>7</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120">
                <a:ea typeface="Hiragino Sans"/>
                <a:cs typeface="Hiragino Sans"/>
              </a:rPr>
              <a:t>IEEE 14 / 118</a:t>
            </a:r>
          </a:p>
          <a:p>
            <a:pPr>
              <a:spcBef>
                <a:spcPts val="600"/>
              </a:spcBef>
            </a:pPr>
            <a:r>
              <a:rPr sz="1500">
                <a:solidFill>
                  <a:srgbClr val="33221E"/>
                </a:solidFill>
                <a:latin typeface="Avenir Next"/>
                <a:ea typeface="Hiragino Sans"/>
                <a:cs typeface="Hiragino Sans"/>
              </a:rPr>
              <a:t>14 母線：PV 4、PQ 9 → 22。118 母線：PV 53、PQ 64 → 181（pandapower で確認）</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27 / 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未知数は母線数のほぼ 2 倍で増える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読み方｜横軸が母線数、縦軸が未知数。PV の割合が高いほど傾きは 2 から下がる</a:t>
            </a:r>
          </a:p>
        </p:txBody>
      </p:sp>
      <p:pic>
        <p:nvPicPr>
          <p:cNvPr id="4" name="Picture 3" descr="ch04_unknowns.png"/>
          <p:cNvPicPr>
            <a:picLocks noChangeAspect="1"/>
          </p:cNvPicPr>
          <p:nvPr/>
        </p:nvPicPr>
        <p:blipFill>
          <a:blip r:embed="rId2"/>
          <a:stretch>
            <a:fillRect/>
          </a:stretch>
        </p:blipFill>
        <p:spPr>
          <a:xfrm>
            <a:off x="566928" y="1683512"/>
            <a:ext cx="5724653" cy="3171825"/>
          </a:xfrm>
          <a:prstGeom prst="rect">
            <a:avLst/>
          </a:prstGeom>
        </p:spPr>
      </p:pic>
      <p:sp>
        <p:nvSpPr>
          <p:cNvPr id="5" name="TextBox 4"/>
          <p:cNvSpPr txBox="1"/>
          <p:nvPr/>
        </p:nvSpPr>
        <p:spPr>
          <a:xfrm>
            <a:off x="566928" y="4910201"/>
            <a:ext cx="5724653"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出典｜コード/fig_ch04.py</a:t>
            </a:r>
          </a:p>
        </p:txBody>
      </p:sp>
      <p:sp>
        <p:nvSpPr>
          <p:cNvPr id="6" name="TextBox 5"/>
          <p:cNvSpPr txBox="1"/>
          <p:nvPr/>
        </p:nvSpPr>
        <p:spPr>
          <a:xfrm>
            <a:off x="6675629" y="2629725"/>
            <a:ext cx="4949138"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12 母線（PV 3, PQ 8）：</a:t>
            </a:r>
            <a:r>
              <a:rPr sz="2000" b="1">
                <a:solidFill>
                  <a:srgbClr val="33221E"/>
                </a:solidFill>
                <a:latin typeface="Avenir Next"/>
                <a:ea typeface="Hiragino Sans"/>
                <a:cs typeface="Hiragino Sans"/>
              </a:rPr>
              <a:t>19</a:t>
            </a:r>
          </a:p>
          <a:p>
            <a:pPr>
              <a:spcBef>
                <a:spcPts val="400"/>
              </a:spcBef>
              <a:buChar char="•"/>
            </a:pPr>
            <a:r>
              <a:rPr sz="2000">
                <a:solidFill>
                  <a:srgbClr val="33221E"/>
                </a:solidFill>
                <a:latin typeface="Avenir Next"/>
                <a:ea typeface="Hiragino Sans"/>
                <a:cs typeface="Hiragino Sans"/>
              </a:rPr>
              <a:t>IEEE 14（PV 4, PQ 9）：</a:t>
            </a:r>
            <a:r>
              <a:rPr sz="2000" b="1">
                <a:solidFill>
                  <a:srgbClr val="33221E"/>
                </a:solidFill>
                <a:latin typeface="Avenir Next"/>
                <a:ea typeface="Hiragino Sans"/>
                <a:cs typeface="Hiragino Sans"/>
              </a:rPr>
              <a:t>22</a:t>
            </a:r>
          </a:p>
          <a:p>
            <a:pPr>
              <a:spcBef>
                <a:spcPts val="400"/>
              </a:spcBef>
              <a:buChar char="•"/>
            </a:pPr>
            <a:r>
              <a:rPr sz="2000">
                <a:solidFill>
                  <a:srgbClr val="33221E"/>
                </a:solidFill>
                <a:latin typeface="Avenir Next"/>
                <a:ea typeface="Hiragino Sans"/>
                <a:cs typeface="Hiragino Sans"/>
              </a:rPr>
              <a:t>IEEE 118（PV 53, PQ 64）：</a:t>
            </a:r>
            <a:r>
              <a:rPr sz="2000" b="1">
                <a:solidFill>
                  <a:srgbClr val="33221E"/>
                </a:solidFill>
                <a:latin typeface="Avenir Next"/>
                <a:ea typeface="Hiragino Sans"/>
                <a:cs typeface="Hiragino Sans"/>
              </a:rPr>
              <a:t>181</a:t>
            </a:r>
          </a:p>
          <a:p>
            <a:pPr>
              <a:spcBef>
                <a:spcPts val="400"/>
              </a:spcBef>
              <a:buChar char="•"/>
            </a:pPr>
            <a:r>
              <a:rPr sz="2000">
                <a:solidFill>
                  <a:srgbClr val="33221E"/>
                </a:solidFill>
                <a:latin typeface="Avenir Next"/>
                <a:ea typeface="Hiragino Sans"/>
                <a:cs typeface="Hiragino Sans"/>
              </a:rPr>
              <a:t>上限は 2(n − 1)（全部 PQ）</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この数がヤコビアン行列の 1 辺。1 万母線なら 2 万近い未知数を反復ごとに解く。疎性（Ⅰ章）がなければ不可能。</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結果 — 未知数 = N_PV + 2N_PQ</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19</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12 母線（PV 3、PQ 8）</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22</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IEEE 14 母線（PV 4、PQ 9）</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181</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IEEE 118 母線（PV 53、PQ 64）</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29 /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03</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03</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Ⅳ. 直流法潮流</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30 / 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3 つの近似で P = B′θ</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1｜R ≈ 0、対地アドミタンスも無視 → G = 0</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架空送電線は X/R ≈ 5〜15（第3回）。Y_bus = jB となり、P_i = V_i Σ_j V_j B_ij sin θ_ij。</a:t>
            </a:r>
            <a:r>
              <a:rPr sz="1500" b="1">
                <a:solidFill>
                  <a:srgbClr val="33221E"/>
                </a:solidFill>
                <a:latin typeface="Avenir Next"/>
                <a:ea typeface="Hiragino Sans"/>
                <a:cs typeface="Hiragino Sans"/>
              </a:rPr>
              <a:t>cos の項（Q 側）が消える</a:t>
            </a:r>
            <a:r>
              <a:rPr sz="1500">
                <a:solidFill>
                  <a:srgbClr val="33221E"/>
                </a:solidFill>
                <a:latin typeface="Avenir Next"/>
                <a:ea typeface="Hiragino Sans"/>
                <a:cs typeface="Hiragino Sans"/>
              </a:rPr>
              <a:t>。</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近似 2｜V_i ≈ 1.0 p.u.（正常時は 0.95〜1.05）</a:t>
            </a:r>
          </a:p>
        </p:txBody>
      </p:sp>
      <p:sp>
        <p:nvSpPr>
          <p:cNvPr id="7" name="build:ghost"/>
          <p:cNvSpPr txBox="1"/>
          <p:nvPr/>
        </p:nvSpPr>
        <p:spPr>
          <a:xfrm>
            <a:off x="822960" y="3529139"/>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電圧の積 V_i V_j が 1 になり、P_i = Σ_j B_ij sin θ_ij。</a:t>
            </a:r>
            <a:r>
              <a:rPr sz="1500" b="1">
                <a:solidFill>
                  <a:srgbClr val="C1BCBB"/>
                </a:solidFill>
                <a:latin typeface="Avenir Next"/>
                <a:ea typeface="Hiragino Sans"/>
                <a:cs typeface="Hiragino Sans"/>
              </a:rPr>
              <a:t>未知数は θ だけ</a:t>
            </a:r>
            <a:r>
              <a:rPr sz="1500">
                <a:solidFill>
                  <a:srgbClr val="C1BCBB"/>
                </a:solidFill>
                <a:latin typeface="Avenir Next"/>
                <a:ea typeface="Hiragino Sans"/>
                <a:cs typeface="Hiragino Sans"/>
              </a:rPr>
              <a:t>になる。</a:t>
            </a:r>
          </a:p>
        </p:txBody>
      </p:sp>
      <p:sp>
        <p:nvSpPr>
          <p:cNvPr id="8" name="Rectangle 7"/>
          <p:cNvSpPr/>
          <p:nvPr/>
        </p:nvSpPr>
        <p:spPr>
          <a:xfrm>
            <a:off x="566928" y="4066793"/>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244085"/>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近似 3｜sin θ_ij ≈ θ_ij（位相差が小さい、30° で誤差 4.7%）</a:t>
            </a:r>
          </a:p>
        </p:txBody>
      </p:sp>
      <p:sp>
        <p:nvSpPr>
          <p:cNvPr id="10" name="build:ghost"/>
          <p:cNvSpPr txBox="1"/>
          <p:nvPr/>
        </p:nvSpPr>
        <p:spPr>
          <a:xfrm>
            <a:off x="822960" y="4536185"/>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P_i = Σ_j (θ_i − θ_j)/x_ij、つまり </a:t>
            </a:r>
            <a:r>
              <a:rPr sz="1500" b="1">
                <a:solidFill>
                  <a:srgbClr val="C1BCBB"/>
                </a:solidFill>
                <a:latin typeface="Avenir Next"/>
                <a:ea typeface="Hiragino Sans"/>
                <a:cs typeface="Hiragino Sans"/>
              </a:rPr>
              <a:t>P = B′θ</a:t>
            </a:r>
            <a:r>
              <a:rPr sz="1500">
                <a:solidFill>
                  <a:srgbClr val="C1BCBB"/>
                </a:solidFill>
                <a:latin typeface="Avenir Next"/>
                <a:ea typeface="Hiragino Sans"/>
                <a:cs typeface="Hiragino Sans"/>
              </a:rPr>
              <a:t>（B′_ii = Σ 1/x_ij、B′_ij = −1/x_ij）。線形なので反復不要。直流回路の I = V/R と同じ形。</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31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3 つの近似で P = B′θ</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1｜R ≈ 0、対地アドミタンスも無視 → G = 0</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架空送電線は X/R ≈ 5〜15（第3回）。Y_bus = jB となり、P_i = V_i Σ_j V_j B_ij sin θ_ij。</a:t>
            </a:r>
            <a:r>
              <a:rPr sz="1500" b="1">
                <a:solidFill>
                  <a:srgbClr val="33221E"/>
                </a:solidFill>
                <a:latin typeface="Avenir Next"/>
                <a:ea typeface="Hiragino Sans"/>
                <a:cs typeface="Hiragino Sans"/>
              </a:rPr>
              <a:t>cos の項（Q 側）が消える</a:t>
            </a:r>
            <a:r>
              <a:rPr sz="1500">
                <a:solidFill>
                  <a:srgbClr val="33221E"/>
                </a:solidFill>
                <a:latin typeface="Avenir Next"/>
                <a:ea typeface="Hiragino Sans"/>
                <a:cs typeface="Hiragino Sans"/>
              </a:rPr>
              <a:t>。</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2｜V_i ≈ 1.0 p.u.（正常時は 0.95〜1.05）</a:t>
            </a:r>
          </a:p>
        </p:txBody>
      </p:sp>
      <p:sp>
        <p:nvSpPr>
          <p:cNvPr id="7" name="TextBox 6"/>
          <p:cNvSpPr txBox="1"/>
          <p:nvPr/>
        </p:nvSpPr>
        <p:spPr>
          <a:xfrm>
            <a:off x="822960" y="3529139"/>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電圧の積 V_i V_j が 1 になり、P_i = Σ_j B_ij sin θ_ij。</a:t>
            </a:r>
            <a:r>
              <a:rPr sz="1500" b="1">
                <a:solidFill>
                  <a:srgbClr val="33221E"/>
                </a:solidFill>
                <a:latin typeface="Avenir Next"/>
                <a:ea typeface="Hiragino Sans"/>
                <a:cs typeface="Hiragino Sans"/>
              </a:rPr>
              <a:t>未知数は θ だけ</a:t>
            </a:r>
            <a:r>
              <a:rPr sz="1500">
                <a:solidFill>
                  <a:srgbClr val="33221E"/>
                </a:solidFill>
                <a:latin typeface="Avenir Next"/>
                <a:ea typeface="Hiragino Sans"/>
                <a:cs typeface="Hiragino Sans"/>
              </a:rPr>
              <a:t>になる。</a:t>
            </a:r>
          </a:p>
        </p:txBody>
      </p:sp>
      <p:sp>
        <p:nvSpPr>
          <p:cNvPr id="8" name="Rectangle 7"/>
          <p:cNvSpPr/>
          <p:nvPr/>
        </p:nvSpPr>
        <p:spPr>
          <a:xfrm>
            <a:off x="566928" y="4066793"/>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244085"/>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近似 3｜sin θ_ij ≈ θ_ij（位相差が小さい、30° で誤差 4.7%）</a:t>
            </a:r>
          </a:p>
        </p:txBody>
      </p:sp>
      <p:sp>
        <p:nvSpPr>
          <p:cNvPr id="10" name="build:ghost"/>
          <p:cNvSpPr txBox="1"/>
          <p:nvPr/>
        </p:nvSpPr>
        <p:spPr>
          <a:xfrm>
            <a:off x="822960" y="4536185"/>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P_i = Σ_j (θ_i − θ_j)/x_ij、つまり </a:t>
            </a:r>
            <a:r>
              <a:rPr sz="1500" b="1">
                <a:solidFill>
                  <a:srgbClr val="C1BCBB"/>
                </a:solidFill>
                <a:latin typeface="Avenir Next"/>
                <a:ea typeface="Hiragino Sans"/>
                <a:cs typeface="Hiragino Sans"/>
              </a:rPr>
              <a:t>P = B′θ</a:t>
            </a:r>
            <a:r>
              <a:rPr sz="1500">
                <a:solidFill>
                  <a:srgbClr val="C1BCBB"/>
                </a:solidFill>
                <a:latin typeface="Avenir Next"/>
                <a:ea typeface="Hiragino Sans"/>
                <a:cs typeface="Hiragino Sans"/>
              </a:rPr>
              <a:t>（B′_ii = Σ 1/x_ij、B′_ij = −1/x_ij）。線形なので反復不要。直流回路の I = V/R と同じ形。</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3 つの近似で P = B′θ</a:t>
            </a:r>
          </a:p>
        </p:txBody>
      </p:sp>
      <p:sp>
        <p:nvSpPr>
          <p:cNvPr id="3" name="TextBox 2"/>
          <p:cNvSpPr txBox="1"/>
          <p:nvPr/>
        </p:nvSpPr>
        <p:spPr>
          <a:xfrm>
            <a:off x="566928" y="2229993"/>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1｜R ≈ 0、対地アドミタンスも無視 → G = 0</a:t>
            </a:r>
          </a:p>
        </p:txBody>
      </p:sp>
      <p:sp>
        <p:nvSpPr>
          <p:cNvPr id="4" name="TextBox 3"/>
          <p:cNvSpPr txBox="1"/>
          <p:nvPr/>
        </p:nvSpPr>
        <p:spPr>
          <a:xfrm>
            <a:off x="822960" y="2522093"/>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架空送電線は X/R ≈ 5〜15（第3回）。Y_bus = jB となり、P_i = V_i Σ_j V_j B_ij sin θ_ij。</a:t>
            </a:r>
            <a:r>
              <a:rPr sz="1500" b="1">
                <a:solidFill>
                  <a:srgbClr val="33221E"/>
                </a:solidFill>
                <a:latin typeface="Avenir Next"/>
                <a:ea typeface="Hiragino Sans"/>
                <a:cs typeface="Hiragino Sans"/>
              </a:rPr>
              <a:t>cos の項（Q 側）が消える</a:t>
            </a:r>
            <a:r>
              <a:rPr sz="1500">
                <a:solidFill>
                  <a:srgbClr val="33221E"/>
                </a:solidFill>
                <a:latin typeface="Avenir Next"/>
                <a:ea typeface="Hiragino Sans"/>
                <a:cs typeface="Hiragino Sans"/>
              </a:rPr>
              <a:t>。</a:t>
            </a:r>
          </a:p>
        </p:txBody>
      </p:sp>
      <p:sp>
        <p:nvSpPr>
          <p:cNvPr id="5" name="Rectangle 4"/>
          <p:cNvSpPr/>
          <p:nvPr/>
        </p:nvSpPr>
        <p:spPr>
          <a:xfrm>
            <a:off x="566928" y="3059747"/>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2｜V_i ≈ 1.0 p.u.（正常時は 0.95〜1.05）</a:t>
            </a:r>
          </a:p>
        </p:txBody>
      </p:sp>
      <p:sp>
        <p:nvSpPr>
          <p:cNvPr id="7" name="TextBox 6"/>
          <p:cNvSpPr txBox="1"/>
          <p:nvPr/>
        </p:nvSpPr>
        <p:spPr>
          <a:xfrm>
            <a:off x="822960" y="3529139"/>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電圧の積 V_i V_j が 1 になり、P_i = Σ_j B_ij sin θ_ij。</a:t>
            </a:r>
            <a:r>
              <a:rPr sz="1500" b="1">
                <a:solidFill>
                  <a:srgbClr val="33221E"/>
                </a:solidFill>
                <a:latin typeface="Avenir Next"/>
                <a:ea typeface="Hiragino Sans"/>
                <a:cs typeface="Hiragino Sans"/>
              </a:rPr>
              <a:t>未知数は θ だけ</a:t>
            </a:r>
            <a:r>
              <a:rPr sz="1500">
                <a:solidFill>
                  <a:srgbClr val="33221E"/>
                </a:solidFill>
                <a:latin typeface="Avenir Next"/>
                <a:ea typeface="Hiragino Sans"/>
                <a:cs typeface="Hiragino Sans"/>
              </a:rPr>
              <a:t>になる。</a:t>
            </a:r>
          </a:p>
        </p:txBody>
      </p:sp>
      <p:sp>
        <p:nvSpPr>
          <p:cNvPr id="8" name="Rectangle 7"/>
          <p:cNvSpPr/>
          <p:nvPr/>
        </p:nvSpPr>
        <p:spPr>
          <a:xfrm>
            <a:off x="566928" y="4066793"/>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244085"/>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近似 3｜sin θ_ij ≈ θ_ij（位相差が小さい、30° で誤差 4.7%）</a:t>
            </a:r>
          </a:p>
        </p:txBody>
      </p:sp>
      <p:sp>
        <p:nvSpPr>
          <p:cNvPr id="10" name="TextBox 9"/>
          <p:cNvSpPr txBox="1"/>
          <p:nvPr/>
        </p:nvSpPr>
        <p:spPr>
          <a:xfrm>
            <a:off x="822960" y="4536185"/>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P_i = Σ_j (θ_i − θ_j)/x_ij、つまり </a:t>
            </a:r>
            <a:r>
              <a:rPr sz="1500" b="1">
                <a:solidFill>
                  <a:srgbClr val="33221E"/>
                </a:solidFill>
                <a:latin typeface="Avenir Next"/>
                <a:ea typeface="Hiragino Sans"/>
                <a:cs typeface="Hiragino Sans"/>
              </a:rPr>
              <a:t>P = B′θ</a:t>
            </a:r>
            <a:r>
              <a:rPr sz="1500">
                <a:solidFill>
                  <a:srgbClr val="33221E"/>
                </a:solidFill>
                <a:latin typeface="Avenir Next"/>
                <a:ea typeface="Hiragino Sans"/>
                <a:cs typeface="Hiragino Sans"/>
              </a:rPr>
              <a:t>（B′_ii = Σ 1/x_ij、B′_ij = −1/x_ij）。線形なので反復不要。直流回路の I = V/R と同じ形。</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33 /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直流法の 3 母線例 — δ を解けば潮流が出る</a:t>
            </a:r>
          </a:p>
        </p:txBody>
      </p:sp>
      <p:pic>
        <p:nvPicPr>
          <p:cNvPr id="3" name="Picture 2" descr="ch04_dcpf3.png"/>
          <p:cNvPicPr>
            <a:picLocks noChangeAspect="1"/>
          </p:cNvPicPr>
          <p:nvPr/>
        </p:nvPicPr>
        <p:blipFill>
          <a:blip r:embed="rId2"/>
          <a:stretch>
            <a:fillRect/>
          </a:stretch>
        </p:blipFill>
        <p:spPr>
          <a:xfrm>
            <a:off x="228600" y="1250676"/>
            <a:ext cx="11734495" cy="4457232"/>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P_ij = (δ_i − δ_j)/x_ij は、位相が進んでいる母線から遅れている母線へ電力が流れることを表している。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34 /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4 — 直流法を手で解く</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条件</a:t>
            </a:r>
          </a:p>
          <a:p>
            <a:pPr>
              <a:spcBef>
                <a:spcPts val="600"/>
              </a:spcBef>
            </a:pPr>
            <a:r>
              <a:rPr sz="1500">
                <a:solidFill>
                  <a:srgbClr val="33221E"/>
                </a:solidFill>
                <a:latin typeface="Avenir Next"/>
                <a:ea typeface="Hiragino Sans"/>
                <a:cs typeface="Hiragino Sans"/>
              </a:rPr>
              <a:t>x12 = 0.8、x13 = 0.5、x23 = 1.0。注入 P1 = 1.0、P2 = 0.8、P3 = −1.8。δ1 = 0</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母線 2, 3 の収支</a:t>
            </a:r>
          </a:p>
          <a:p>
            <a:pPr>
              <a:spcBef>
                <a:spcPts val="600"/>
              </a:spcBef>
            </a:pPr>
            <a:r>
              <a:rPr sz="1500">
                <a:solidFill>
                  <a:srgbClr val="33221E"/>
                </a:solidFill>
                <a:latin typeface="Avenir Next"/>
                <a:ea typeface="Hiragino Sans"/>
                <a:cs typeface="Hiragino Sans"/>
              </a:rPr>
              <a:t>0.8 = δ2/0.8 + (δ2 − δ3)/1.0、−1.8 = δ3/0.5 + (δ3 − δ2)/1.0</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解く</a:t>
            </a:r>
          </a:p>
          <a:p>
            <a:pPr>
              <a:spcBef>
                <a:spcPts val="600"/>
              </a:spcBef>
            </a:pPr>
            <a:r>
              <a:rPr sz="1500">
                <a:solidFill>
                  <a:srgbClr val="33221E"/>
                </a:solidFill>
                <a:latin typeface="Avenir Next"/>
                <a:ea typeface="Hiragino Sans"/>
                <a:cs typeface="Hiragino Sans"/>
              </a:rPr>
              <a:t>2.25δ2 − δ3 = 0.8、−δ2 + 3δ3 = −1.8 → δ2 = 0.104、δ3 = −0.565 rad</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潮流と検算</a:t>
            </a:r>
          </a:p>
          <a:p>
            <a:pPr>
              <a:spcBef>
                <a:spcPts val="600"/>
              </a:spcBef>
            </a:pPr>
            <a:r>
              <a:rPr sz="1500">
                <a:solidFill>
                  <a:srgbClr val="33221E"/>
                </a:solidFill>
                <a:latin typeface="Avenir Next"/>
                <a:ea typeface="Hiragino Sans"/>
                <a:cs typeface="Hiragino Sans"/>
              </a:rPr>
              <a:t>P12 = −0.104/0.8 = −0.130、P13 = 0.565/0.5 = 1.130、P23 = 0.670。母線 2：0.130 + 0.670 = 0.800 ✓</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35 / 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IEEE 14 母線 — 直流法は交流法とどれだけ違うか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読み方｜横軸が交流法、縦軸が直流法の線路潮流。点線の上に乗れば一致</a:t>
            </a:r>
          </a:p>
        </p:txBody>
      </p:sp>
      <p:pic>
        <p:nvPicPr>
          <p:cNvPr id="4" name="Picture 3" descr="ch04_ac_vs_dc.png"/>
          <p:cNvPicPr>
            <a:picLocks noChangeAspect="1"/>
          </p:cNvPicPr>
          <p:nvPr/>
        </p:nvPicPr>
        <p:blipFill>
          <a:blip r:embed="rId2"/>
          <a:stretch>
            <a:fillRect/>
          </a:stretch>
        </p:blipFill>
        <p:spPr>
          <a:xfrm>
            <a:off x="566928" y="1683512"/>
            <a:ext cx="4392635" cy="3171825"/>
          </a:xfrm>
          <a:prstGeom prst="rect">
            <a:avLst/>
          </a:prstGeom>
        </p:spPr>
      </p:pic>
      <p:sp>
        <p:nvSpPr>
          <p:cNvPr id="5" name="TextBox 4"/>
          <p:cNvSpPr txBox="1"/>
          <p:nvPr/>
        </p:nvSpPr>
        <p:spPr>
          <a:xfrm>
            <a:off x="566928" y="4910201"/>
            <a:ext cx="4392635"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出典｜コード/fig_ch04.py</a:t>
            </a:r>
          </a:p>
        </p:txBody>
      </p:sp>
      <p:sp>
        <p:nvSpPr>
          <p:cNvPr id="6" name="TextBox 5"/>
          <p:cNvSpPr txBox="1"/>
          <p:nvPr/>
        </p:nvSpPr>
        <p:spPr>
          <a:xfrm>
            <a:off x="5343611" y="2629725"/>
            <a:ext cx="6281156"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20 ブランチの |ずれ| 平均 </a:t>
            </a:r>
            <a:r>
              <a:rPr sz="2000" b="1">
                <a:solidFill>
                  <a:srgbClr val="33221E"/>
                </a:solidFill>
                <a:latin typeface="Avenir Next"/>
                <a:ea typeface="Hiragino Sans"/>
                <a:cs typeface="Hiragino Sans"/>
              </a:rPr>
              <a:t>1.3 MW</a:t>
            </a:r>
          </a:p>
          <a:p>
            <a:pPr>
              <a:spcBef>
                <a:spcPts val="400"/>
              </a:spcBef>
              <a:buChar char="•"/>
            </a:pPr>
            <a:r>
              <a:rPr sz="2000">
                <a:solidFill>
                  <a:srgbClr val="33221E"/>
                </a:solidFill>
                <a:latin typeface="Avenir Next"/>
                <a:ea typeface="Hiragino Sans"/>
                <a:cs typeface="Hiragino Sans"/>
              </a:rPr>
              <a:t>最大 9.0 MW（線路 1–2、157 → 148）</a:t>
            </a:r>
          </a:p>
          <a:p>
            <a:pPr>
              <a:spcBef>
                <a:spcPts val="400"/>
              </a:spcBef>
              <a:buChar char="•"/>
            </a:pPr>
            <a:r>
              <a:rPr sz="2000">
                <a:solidFill>
                  <a:srgbClr val="33221E"/>
                </a:solidFill>
                <a:latin typeface="Avenir Next"/>
                <a:ea typeface="Hiragino Sans"/>
                <a:cs typeface="Hiragino Sans"/>
              </a:rPr>
              <a:t>交流法の総損失 13.4 MW は直流法で 0</a:t>
            </a:r>
          </a:p>
          <a:p>
            <a:pPr>
              <a:spcBef>
                <a:spcPts val="400"/>
              </a:spcBef>
              <a:buChar char="•"/>
            </a:pPr>
            <a:r>
              <a:rPr sz="2000">
                <a:solidFill>
                  <a:srgbClr val="33221E"/>
                </a:solidFill>
                <a:latin typeface="Avenir Next"/>
                <a:ea typeface="Hiragino Sans"/>
                <a:cs typeface="Hiragino Sans"/>
              </a:rPr>
              <a:t>V は 1.01〜1.09、θ の最小 −16°</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概略の分布は直流法で十分読める。ずれるのは損失を運ぶ重い線路。電圧・無効電力・損失が要るなら交流法（第5回）。</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36 / 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結果 — 直流法は 1 回で解け、ずれは数 MW</a:t>
            </a:r>
          </a:p>
        </p:txBody>
      </p:sp>
      <p:sp>
        <p:nvSpPr>
          <p:cNvPr id="3" name="Rounded Rectangle 2"/>
          <p:cNvSpPr/>
          <p:nvPr/>
        </p:nvSpPr>
        <p:spPr>
          <a:xfrm>
            <a:off x="566928" y="2746502"/>
            <a:ext cx="3503066" cy="196850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746502"/>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3202"/>
            <a:ext cx="3045866" cy="147320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 回</a:t>
            </a:r>
          </a:p>
          <a:p>
            <a:pPr algn="ctr">
              <a:spcBef>
                <a:spcPts val="600"/>
              </a:spcBef>
              <a:defRPr sz="1150" b="1">
                <a:solidFill>
                  <a:srgbClr val="71635B"/>
                </a:solidFill>
                <a:latin typeface="Avenir Next"/>
                <a:ea typeface="Hiragino Sans"/>
                <a:cs typeface="Hiragino Sans"/>
              </a:defRPr>
            </a:pPr>
            <a:r>
              <a:rPr spc="40">
                <a:ea typeface="Hiragino Sans"/>
                <a:cs typeface="Hiragino Sans"/>
              </a:rPr>
              <a:t>線形なので反復不要（交流法は数回の反復）</a:t>
            </a:r>
          </a:p>
        </p:txBody>
      </p:sp>
      <p:sp>
        <p:nvSpPr>
          <p:cNvPr id="6" name="Rounded Rectangle 5"/>
          <p:cNvSpPr/>
          <p:nvPr/>
        </p:nvSpPr>
        <p:spPr>
          <a:xfrm>
            <a:off x="4344314" y="2746502"/>
            <a:ext cx="3503066" cy="196850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746502"/>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013202"/>
            <a:ext cx="3045866" cy="147320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9 MW</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IEEE 14 母線の線路潮流の最大ずれ</a:t>
            </a:r>
          </a:p>
        </p:txBody>
      </p:sp>
      <p:sp>
        <p:nvSpPr>
          <p:cNvPr id="9" name="Rounded Rectangle 8"/>
          <p:cNvSpPr/>
          <p:nvPr/>
        </p:nvSpPr>
        <p:spPr>
          <a:xfrm>
            <a:off x="8121700" y="2746502"/>
            <a:ext cx="3503066" cy="196850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746502"/>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013202"/>
            <a:ext cx="3045866" cy="147320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13 MW</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直流法では見えない総損失</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動く図で試す — viz/ybus.html</a:t>
            </a:r>
          </a:p>
        </p:txBody>
      </p:sp>
      <p:pic>
        <p:nvPicPr>
          <p:cNvPr id="3" name="Picture 2" descr="ch04_viz.png"/>
          <p:cNvPicPr>
            <a:picLocks noChangeAspect="1"/>
          </p:cNvPicPr>
          <p:nvPr/>
        </p:nvPicPr>
        <p:blipFill>
          <a:blip r:embed="rId2"/>
          <a:stretch>
            <a:fillRect/>
          </a:stretch>
        </p:blipFill>
        <p:spPr>
          <a:xfrm>
            <a:off x="3682217" y="1353312"/>
            <a:ext cx="4827260" cy="3242310"/>
          </a:xfrm>
          <a:prstGeom prst="rect">
            <a:avLst/>
          </a:prstGeom>
        </p:spPr>
      </p:pic>
      <p:sp>
        <p:nvSpPr>
          <p:cNvPr id="4" name="TextBox 3"/>
          <p:cNvSpPr txBox="1"/>
          <p:nvPr/>
        </p:nvSpPr>
        <p:spPr>
          <a:xfrm>
            <a:off x="566928" y="4732782"/>
            <a:ext cx="11057839" cy="29845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動く図 Y 行列の構築と直流法潮流（教科書 例題 4.4）をブラウザ内で実計算する。</a:t>
            </a:r>
          </a:p>
        </p:txBody>
      </p:sp>
      <p:sp>
        <p:nvSpPr>
          <p:cNvPr id="5" name="TextBox 4"/>
          <p:cNvSpPr txBox="1"/>
          <p:nvPr/>
        </p:nvSpPr>
        <p:spPr>
          <a:xfrm>
            <a:off x="566928" y="5214112"/>
            <a:ext cx="11057839" cy="939800"/>
          </a:xfrm>
          <a:prstGeom prst="rect">
            <a:avLst/>
          </a:prstGeom>
          <a:noFill/>
        </p:spPr>
        <p:txBody>
          <a:bodyPr wrap="square" lIns="0" rIns="0" tIns="0" bIns="0">
            <a:spAutoFit/>
          </a:bodyPr>
          <a:lstStyle/>
          <a:p>
            <a:pPr>
              <a:spcBef>
                <a:spcPts val="400"/>
              </a:spcBef>
              <a:buChar char="•"/>
            </a:pPr>
            <a:r>
              <a:rPr sz="1600">
                <a:solidFill>
                  <a:srgbClr val="33221E"/>
                </a:solidFill>
                <a:latin typeface="Avenir Next"/>
                <a:ea typeface="Hiragino Sans"/>
                <a:cs typeface="Hiragino Sans"/>
              </a:rPr>
              <a:t>線路を 1 本切って、Y_bus の 4 か所だけが変わり、対角が「つながる線路の和」のまま保たれるのを見る</a:t>
            </a:r>
          </a:p>
          <a:p>
            <a:pPr>
              <a:spcBef>
                <a:spcPts val="400"/>
              </a:spcBef>
              <a:buChar char="•"/>
            </a:pPr>
            <a:r>
              <a:rPr sz="1600">
                <a:solidFill>
                  <a:srgbClr val="33221E"/>
                </a:solidFill>
                <a:latin typeface="Avenir Next"/>
                <a:ea typeface="Hiragino Sans"/>
                <a:cs typeface="Hiragino Sans"/>
              </a:rPr>
              <a:t>発電 P1 のスライダを動かし、δ2, δ3 と 3 本の線路潮流がどう配分されるかを読む</a:t>
            </a:r>
          </a:p>
          <a:p>
            <a:pPr>
              <a:spcBef>
                <a:spcPts val="400"/>
              </a:spcBef>
              <a:buChar char="•"/>
            </a:pPr>
            <a:r>
              <a:rPr sz="1600">
                <a:solidFill>
                  <a:srgbClr val="33221E"/>
                </a:solidFill>
                <a:latin typeface="Avenir Next"/>
                <a:ea typeface="Hiragino Sans"/>
                <a:cs typeface="Hiragino Sans"/>
              </a:rPr>
              <a:t>対角要素の虚部が充電容量の分だけ行和に残ることを検算する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38 / 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なぜそう考えるか — 非線形・3 種類・スラック</a:t>
            </a:r>
          </a:p>
        </p:txBody>
      </p:sp>
      <p:sp>
        <p:nvSpPr>
          <p:cNvPr id="3" name="Rectangle 2"/>
          <p:cNvSpPr/>
          <p:nvPr/>
        </p:nvSpPr>
        <p:spPr>
          <a:xfrm>
            <a:off x="566928" y="1994916"/>
            <a:ext cx="11057839" cy="310896"/>
          </a:xfrm>
          <a:prstGeom prst="rect">
            <a:avLst/>
          </a:prstGeom>
          <a:solidFill>
            <a:srgbClr val="5C72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9491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なぜ非線形なのか</a:t>
            </a:r>
          </a:p>
        </p:txBody>
      </p:sp>
      <p:sp>
        <p:nvSpPr>
          <p:cNvPr id="5" name="Rectangle 4"/>
          <p:cNvSpPr/>
          <p:nvPr/>
        </p:nvSpPr>
        <p:spPr>
          <a:xfrm>
            <a:off x="566928" y="2305812"/>
            <a:ext cx="11057839" cy="712216"/>
          </a:xfrm>
          <a:prstGeom prst="rect">
            <a:avLst/>
          </a:prstGeom>
          <a:solidFill>
            <a:srgbClr val="F3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35153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与えられるのが電流ではなく電力だから。S = VI* に I = Y_bus V を入れると V の積と cos/sin が入り、連立一次方程式にならない。電流で指定できるなら潮流計算は要らない。</a:t>
            </a:r>
          </a:p>
        </p:txBody>
      </p:sp>
      <p:sp>
        <p:nvSpPr>
          <p:cNvPr id="7" name="Rectangle 6"/>
          <p:cNvSpPr/>
          <p:nvPr/>
        </p:nvSpPr>
        <p:spPr>
          <a:xfrm>
            <a:off x="566928" y="3219196"/>
            <a:ext cx="11057839" cy="310896"/>
          </a:xfrm>
          <a:prstGeom prst="rect">
            <a:avLst/>
          </a:prstGeom>
          <a:solidFill>
            <a:srgbClr val="146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1919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なぜ母線は 3 種類なのか</a:t>
            </a:r>
          </a:p>
        </p:txBody>
      </p:sp>
      <p:sp>
        <p:nvSpPr>
          <p:cNvPr id="9" name="Rectangle 8"/>
          <p:cNvSpPr/>
          <p:nvPr/>
        </p:nvSpPr>
        <p:spPr>
          <a:xfrm>
            <a:off x="566928" y="3530092"/>
            <a:ext cx="11057839" cy="712216"/>
          </a:xfrm>
          <a:prstGeom prst="rect">
            <a:avLst/>
          </a:prstGeom>
          <a:solidFill>
            <a:srgbClr val="E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57581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各母線は P, Q, V, θ の 4 量のうち 2 つを与える。負荷は P, Q（PQ）、AVR 付き発電機は P と V（PV）。損失は解くまで分からないので、誰かが帳尻を引き受ける（スラック：V, θ）。</a:t>
            </a:r>
          </a:p>
        </p:txBody>
      </p:sp>
      <p:sp>
        <p:nvSpPr>
          <p:cNvPr id="11" name="Rectangle 10"/>
          <p:cNvSpPr/>
          <p:nvPr/>
        </p:nvSpPr>
        <p:spPr>
          <a:xfrm>
            <a:off x="566928" y="4443476"/>
            <a:ext cx="11057839" cy="310896"/>
          </a:xfrm>
          <a:prstGeom prst="rect">
            <a:avLst/>
          </a:prstGeom>
          <a:solidFill>
            <a:srgbClr val="9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4347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落とし穴</a:t>
            </a:r>
          </a:p>
        </p:txBody>
      </p:sp>
      <p:sp>
        <p:nvSpPr>
          <p:cNvPr id="13" name="Rectangle 12"/>
          <p:cNvSpPr/>
          <p:nvPr/>
        </p:nvSpPr>
        <p:spPr>
          <a:xfrm>
            <a:off x="566928" y="4754372"/>
            <a:ext cx="11057839" cy="712216"/>
          </a:xfrm>
          <a:prstGeom prst="rect">
            <a:avLst/>
          </a:prstGeom>
          <a:solidFill>
            <a:srgbClr val="F8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80009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スラック母線は 1 つだけ。2 つ置くと損失の分担が決まらず解が定まらない。位相の基準もスラックが担う。発電機があっても電圧を制御しなければ PV ではない。</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39 / 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よくある誤解</a:t>
            </a:r>
          </a:p>
        </p:txBody>
      </p:sp>
      <p:pic>
        <p:nvPicPr>
          <p:cNvPr id="3" name="Picture 2" descr="ch04_myth.png"/>
          <p:cNvPicPr>
            <a:picLocks noChangeAspect="1"/>
          </p:cNvPicPr>
          <p:nvPr/>
        </p:nvPicPr>
        <p:blipFill>
          <a:blip r:embed="rId2"/>
          <a:stretch>
            <a:fillRect/>
          </a:stretch>
        </p:blipFill>
        <p:spPr>
          <a:xfrm>
            <a:off x="287121" y="713232"/>
            <a:ext cx="11617452" cy="5532119"/>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3 つ目の誤解は名前のせい。V と δ、I と P、R と X が対応することを板書で示す。　出典｜コード/fig_ch04.py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40 /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持ち帰る 3 点</a:t>
            </a:r>
          </a:p>
        </p:txBody>
      </p:sp>
      <p:sp>
        <p:nvSpPr>
          <p:cNvPr id="3" name="Rectangle 2"/>
          <p:cNvSpPr/>
          <p:nvPr/>
        </p:nvSpPr>
        <p:spPr>
          <a:xfrm>
            <a:off x="5547207" y="2267204"/>
            <a:ext cx="10972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468372"/>
            <a:ext cx="10143439" cy="96520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配線は Y_bus、需給は電力方程式。未知数 N_PV + 2N_PQ を反復で解くのが潮流計算</a:t>
            </a:r>
          </a:p>
        </p:txBody>
      </p:sp>
      <p:sp>
        <p:nvSpPr>
          <p:cNvPr id="5" name="TextBox 4"/>
          <p:cNvSpPr txBox="1"/>
          <p:nvPr/>
        </p:nvSpPr>
        <p:spPr>
          <a:xfrm>
            <a:off x="1847088" y="3799332"/>
            <a:ext cx="8497519" cy="1193800"/>
          </a:xfrm>
          <a:prstGeom prst="rect">
            <a:avLst/>
          </a:prstGeom>
          <a:noFill/>
        </p:spPr>
        <p:txBody>
          <a:bodyPr wrap="square" lIns="0" rIns="0" tIns="0" bIns="0">
            <a:noAutofit/>
          </a:bodyPr>
          <a:lstStyle/>
          <a:p>
            <a:pPr>
              <a:spcBef>
                <a:spcPts val="800"/>
              </a:spcBef>
            </a:pPr>
            <a:r>
              <a:rPr sz="1600">
                <a:solidFill>
                  <a:srgbClr val="33221E"/>
                </a:solidFill>
                <a:latin typeface="Avenir Next"/>
                <a:ea typeface="Hiragino Sans"/>
                <a:cs typeface="Hiragino Sans"/>
              </a:rPr>
              <a:t>•  Y_ii = Σ y_ij、Y_ij = −y_ij。対称で疎（IEEE 118 で 3.4%）。線路 1 本で 4 か所更新</a:t>
            </a:r>
          </a:p>
          <a:p>
            <a:pPr>
              <a:spcBef>
                <a:spcPts val="800"/>
              </a:spcBef>
            </a:pPr>
            <a:r>
              <a:rPr sz="1600">
                <a:solidFill>
                  <a:srgbClr val="33221E"/>
                </a:solidFill>
                <a:latin typeface="Avenir Next"/>
                <a:ea typeface="Hiragino Sans"/>
                <a:cs typeface="Hiragino Sans"/>
              </a:rPr>
              <a:t>•  母線は 4 量のうち 2 つを与える。スラックは 1 つだけで損失と位相基準を引き受ける</a:t>
            </a:r>
          </a:p>
          <a:p>
            <a:pPr>
              <a:spcBef>
                <a:spcPts val="800"/>
              </a:spcBef>
            </a:pPr>
            <a:r>
              <a:rPr sz="1600">
                <a:solidFill>
                  <a:srgbClr val="33221E"/>
                </a:solidFill>
                <a:latin typeface="Avenir Next"/>
                <a:ea typeface="Hiragino Sans"/>
                <a:cs typeface="Hiragino Sans"/>
              </a:rPr>
              <a:t>•  直流法：G = 0、V = 1、sin θ ≈ θ。P = B′θ を 1 回解く。ずれは数 MW、Q と損失は出ない</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41 / 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次回：第5回 潮流計算の理論（2）</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EBE0DF"/>
                </a:solidFill>
                <a:latin typeface="Avenir Next"/>
                <a:ea typeface="Hiragino Sans"/>
                <a:cs typeface="Hiragino Sans"/>
              </a:defRPr>
            </a:pPr>
            <a:r>
              <a:rPr>
                <a:ea typeface="Hiragino Sans"/>
                <a:cs typeface="Hiragino Sans"/>
              </a:rPr>
              <a:t>演習 ex/ch04.html で数値を変えて確かめる</a:t>
            </a:r>
          </a:p>
          <a:p>
            <a:pPr algn="ctr">
              <a:spcBef>
                <a:spcPts val="400"/>
              </a:spcBef>
              <a:defRPr sz="1800">
                <a:solidFill>
                  <a:srgbClr val="EBE0DF"/>
                </a:solidFill>
                <a:latin typeface="Avenir Next"/>
                <a:ea typeface="Hiragino Sans"/>
                <a:cs typeface="Hiragino Sans"/>
              </a:defRPr>
            </a:pPr>
            <a:r>
              <a:rPr>
                <a:ea typeface="Hiragino Sans"/>
                <a:cs typeface="Hiragino Sans"/>
              </a:rPr>
              <a:t>非線形をどう解くか — ニュートン・ラフソン法とヤコビアン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